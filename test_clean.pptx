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280" r:id="rId3"/>
    <p:sldId id="282" r:id="rId4"/>
    <p:sldId id="283" r:id="rId5"/>
    <p:sldId id="285" r:id="rId6"/>
    <p:sldId id="289" r:id="rId7"/>
    <p:sldId id="295" r:id="rId8"/>
    <p:sldId id="296" r:id="rId9"/>
    <p:sldId id="297" r:id="rId10"/>
    <p:sldId id="298" r:id="rId11"/>
    <p:sldId id="299" r:id="rId12"/>
    <p:sldId id="300" r:id="rId19"/>
    <p:sldId id="301" r:id="rId20"/>
    <p:sldId id="302" r:id="rId21"/>
    <p:sldId id="303" r:id="rId22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17" y="58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4EC7-7601-4F68-A8EC-54ED437252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4666-2651-43F6-89CB-4C4836357CA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F943-CC0B-4D10-B7F2-A2346C953E75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DAC3-4491-456F-9669-15697E9FCBF4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8DED-F98C-4547-BE53-A568C2D0BD45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2BD8-32B1-42B2-B194-6B1CEB7AB54F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9E95-6775-4490-A6A8-263D7920387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D541-A15D-4CBC-BE1F-09CD6E2EDD8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EC6A-F2F1-4D97-82B7-24A02815775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96C5-D592-47B8-AD47-A446A445F71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4E35-73DB-4B1B-9E61-20382281569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9222F-15A4-4443-95DB-C6CCCF4CA2D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End to End Pipeline Overview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1600" b="1" dirty="0"/>
              <a:t>Step 1: Data Ingestion, Filtering, &amp; Splitting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2: Adversarial Poisoning Simulation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3: Warm-Start Backbone Representation Learning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4: RRFN Anchor Selection &amp; Noise Transition Matrix Estimation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5: Multi-View Reliability Signal Extraction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6: Multi-View Reliability Fusion &amp; Sample Reweighting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7: Reliability-Weighted Pareto </a:t>
            </a:r>
            <a:r>
              <a:rPr lang="en-IN" sz="1600" b="1" dirty="0" err="1"/>
              <a:t>Catalog</a:t>
            </a:r>
            <a:r>
              <a:rPr lang="en-IN" sz="1600" b="1" dirty="0"/>
              <a:t> Partitioning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8: Decoupled Dual Training with Risk-Consistent Loss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9: Robust Popularity Inclination &amp; Blueprint Denoising</a:t>
            </a:r>
          </a:p>
          <a:p>
            <a:pPr marL="0" indent="0" algn="just">
              <a:buNone/>
            </a:pPr>
            <a:endParaRPr lang="en-IN" sz="1600" b="1" dirty="0"/>
          </a:p>
          <a:p>
            <a:pPr marL="0" indent="0" algn="just">
              <a:buNone/>
            </a:pPr>
            <a:r>
              <a:rPr lang="en-IN" sz="1600" b="1" dirty="0"/>
              <a:t>Step 10: Calibrated Top-N Merging &amp; Evaluation</a:t>
            </a:r>
            <a:endParaRPr sz="1600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3DFDF3A3-3552-4785-BF17-13676EEC7A2E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Ingestion, Filtering &amp; Splitting</a:t>
            </a:r>
            <a:br>
              <a:rPr lang="en-IN" b="1" dirty="0"/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029200"/>
          </a:xfrm>
          <a:ln w="28575">
            <a:solidFill>
              <a:srgbClr val="000066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IN" b="1" dirty="0"/>
              <a:t>Core Goal</a:t>
            </a:r>
            <a:r>
              <a:rPr lang="en-IN" dirty="0"/>
              <a:t>: Ingest MovieLens-1M data, prevent cold-start sparsity, remap ID spaces, and ensure zero look ahead data leakage.</a:t>
            </a:r>
          </a:p>
          <a:p>
            <a:pPr lvl="0"/>
            <a:r>
              <a:rPr lang="en-IN" b="1" dirty="0"/>
              <a:t>Key Pillars</a:t>
            </a:r>
            <a:r>
              <a:rPr lang="en-IN" dirty="0"/>
              <a:t>:</a:t>
            </a:r>
          </a:p>
          <a:p>
            <a:pPr lvl="1"/>
            <a:r>
              <a:rPr lang="en-IN" sz="3200" dirty="0"/>
              <a:t>Iterative k-Core Filtering:</a:t>
            </a:r>
          </a:p>
          <a:p>
            <a:pPr lvl="2"/>
            <a:r>
              <a:rPr lang="en-IN" sz="3200" dirty="0"/>
              <a:t>Prunes users and items with &lt; 5 interactions until convergence (</a:t>
            </a:r>
            <a:r>
              <a:rPr lang="en-IN" sz="3200" dirty="0" err="1"/>
              <a:t>k_u</a:t>
            </a:r>
            <a:r>
              <a:rPr lang="en-IN" sz="3200" dirty="0"/>
              <a:t> &gt;= 5, </a:t>
            </a:r>
            <a:r>
              <a:rPr lang="en-IN" sz="3200" dirty="0" err="1"/>
              <a:t>k_i</a:t>
            </a:r>
            <a:r>
              <a:rPr lang="en-IN" sz="3200" dirty="0"/>
              <a:t> &gt;= 5).</a:t>
            </a:r>
          </a:p>
          <a:p>
            <a:pPr lvl="1"/>
            <a:r>
              <a:rPr lang="en-IN" sz="3200" dirty="0"/>
              <a:t>Contiguous 0-Indexed Remapping:</a:t>
            </a:r>
          </a:p>
          <a:p>
            <a:pPr lvl="2"/>
            <a:r>
              <a:rPr lang="en-IN" sz="3200" dirty="0"/>
              <a:t>Maps arbitrary </a:t>
            </a:r>
            <a:r>
              <a:rPr lang="en-IN" sz="3200" dirty="0" err="1"/>
              <a:t>MovieLens</a:t>
            </a:r>
            <a:r>
              <a:rPr lang="en-IN" sz="3200" dirty="0"/>
              <a:t> IDs into dense tensors.</a:t>
            </a:r>
          </a:p>
          <a:p>
            <a:pPr lvl="1"/>
            <a:r>
              <a:rPr lang="en-IN" sz="3200" dirty="0"/>
              <a:t>Temporal Leave-One-Out (LOO) Partitioning:</a:t>
            </a:r>
          </a:p>
          <a:p>
            <a:pPr lvl="2"/>
            <a:r>
              <a:rPr lang="en-IN" sz="3200" dirty="0"/>
              <a:t>Test Set: Chronological last interaction per user (N).</a:t>
            </a:r>
          </a:p>
          <a:p>
            <a:pPr lvl="2"/>
            <a:r>
              <a:rPr lang="en-IN" sz="3200" dirty="0"/>
              <a:t>Validation Set: Second-to-last interaction (N-1).</a:t>
            </a:r>
          </a:p>
          <a:p>
            <a:pPr lvl="2"/>
            <a:r>
              <a:rPr lang="en-IN" sz="3200" dirty="0"/>
              <a:t>Training Set: All preceding interactions (1…N-2).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F57490A-7740-4DD6-97A7-D477C43A08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indent="-1588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Adversarial Attack &amp;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Poisoning Simulation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Stress-test the recommender by injecting realistic adversarial corruption into the training partition (budget in [5%, 20%]).</a:t>
            </a:r>
          </a:p>
          <a:p>
            <a:pPr lvl="0"/>
            <a:r>
              <a:rPr lang="en-IN" b="1" dirty="0"/>
              <a:t>The 4 Attack Vectors Simulated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Random Flip Noise</a:t>
            </a:r>
            <a:r>
              <a:rPr lang="en-IN" dirty="0"/>
              <a:t>: Simulates accidental user error or transmission noise by randomly altering rating values.</a:t>
            </a:r>
          </a:p>
          <a:p>
            <a:pPr lvl="1"/>
            <a:r>
              <a:rPr lang="en-IN" b="1" dirty="0"/>
              <a:t>Bandwagon Shilling</a:t>
            </a:r>
            <a:r>
              <a:rPr lang="en-IN" dirty="0"/>
              <a:t>: Fake bots rate popular blockbusters high (to build false credibility) while pushing an unknown tail movie with 5 ★.</a:t>
            </a:r>
          </a:p>
          <a:p>
            <a:pPr lvl="1"/>
            <a:r>
              <a:rPr lang="en-IN" b="1" dirty="0"/>
              <a:t>Nuke / Review-Bombing</a:t>
            </a:r>
            <a:r>
              <a:rPr lang="en-IN" dirty="0"/>
              <a:t>: Coordinated bot surge dropping 1★ ratings on popular head items within a 24-hour temporal window.</a:t>
            </a:r>
          </a:p>
          <a:p>
            <a:pPr lvl="1"/>
            <a:r>
              <a:rPr lang="en-IN" b="1" dirty="0"/>
              <a:t>AGAS (Agentic Group Shilling)</a:t>
            </a:r>
            <a:r>
              <a:rPr lang="en-IN" dirty="0"/>
              <a:t>: Multi-team bot coordination (mainstream team + niche team) with staggered multi-round activation.</a:t>
            </a:r>
          </a:p>
          <a:p>
            <a:pPr lvl="0"/>
            <a:r>
              <a:rPr lang="en-IN" dirty="0"/>
              <a:t>Only the Training Set is poisoned. The Validation and Test Sets remain 100% clean ground truth.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7B04BC2-CFCF-4941-8C8E-92CB6E747779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Warm-Start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Representation Learning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Give the neural recommender an initial representation baseline so it can output 5-class rating probability distributions.</a:t>
            </a:r>
          </a:p>
          <a:p>
            <a:pPr lvl="0"/>
            <a:r>
              <a:rPr lang="en-IN" b="1" dirty="0"/>
              <a:t>Key Concepts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Backbone Architecture</a:t>
            </a:r>
            <a:r>
              <a:rPr lang="en-IN" dirty="0"/>
              <a:t>: Uses </a:t>
            </a:r>
            <a:r>
              <a:rPr lang="en-IN" dirty="0" err="1"/>
              <a:t>NeuMF</a:t>
            </a:r>
            <a:r>
              <a:rPr lang="en-IN" dirty="0"/>
              <a:t> (Neural Matrix Factorization):</a:t>
            </a:r>
          </a:p>
          <a:p>
            <a:pPr lvl="2"/>
            <a:r>
              <a:rPr lang="en-IN" dirty="0"/>
              <a:t>GMF Branch: Captures linear user-item dot-product interactions.</a:t>
            </a:r>
          </a:p>
          <a:p>
            <a:pPr lvl="2"/>
            <a:r>
              <a:rPr lang="en-IN" dirty="0"/>
              <a:t>MLP Branch: Captures non-linear relationships across hidden layers (128 to 64 to 32).</a:t>
            </a:r>
          </a:p>
          <a:p>
            <a:pPr lvl="1"/>
            <a:r>
              <a:rPr lang="en-IN" b="1" dirty="0"/>
              <a:t>5-Class </a:t>
            </a:r>
            <a:r>
              <a:rPr lang="en-IN" b="1" dirty="0" err="1"/>
              <a:t>Softmax</a:t>
            </a:r>
            <a:r>
              <a:rPr lang="en-IN" b="1" dirty="0"/>
              <a:t> Output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Instead of a single regression number, the network outputs: </a:t>
            </a:r>
            <a:r>
              <a:rPr lang="en-IN" dirty="0" err="1"/>
              <a:t>Softmax</a:t>
            </a:r>
            <a:r>
              <a:rPr lang="en-IN" dirty="0"/>
              <a:t> in [0, 1],  {1, 2, 3, 4, 5} ★</a:t>
            </a:r>
          </a:p>
          <a:p>
            <a:pPr lvl="1"/>
            <a:r>
              <a:rPr lang="en-IN" b="1" dirty="0"/>
              <a:t>Warm Training</a:t>
            </a:r>
            <a:r>
              <a:rPr lang="en-IN" dirty="0"/>
              <a:t>: Fast 2–5 epochs of standard unweighted cross-entropy to initialize latent embedding spaces.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5A2D3ED4-F728-45D5-BCA4-FA2DD0E6351B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RRFN Anchor Selection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&amp; Noise Transition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Core Goal</a:t>
            </a:r>
            <a:r>
              <a:rPr lang="en-IN" dirty="0"/>
              <a:t>: Discover high-confidence interaction anchors and estimate the </a:t>
            </a:r>
            <a:r>
              <a:rPr lang="en-IN" b="1" dirty="0"/>
              <a:t>5 by 5 noise transition matrix</a:t>
            </a:r>
            <a:r>
              <a:rPr lang="en-IN" dirty="0"/>
              <a:t> that maps true ratings to corrupted ratings.</a:t>
            </a:r>
          </a:p>
          <a:p>
            <a:pPr lvl="0"/>
            <a:r>
              <a:rPr lang="en-IN" b="1" dirty="0"/>
              <a:t>Two-Step Mechanism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Anchor Point Selection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Identifies instances where the model's posterior confidence is &gt;= 90% for true class k.</a:t>
            </a:r>
          </a:p>
          <a:p>
            <a:pPr lvl="1"/>
            <a:r>
              <a:rPr lang="en-IN" b="1" dirty="0"/>
              <a:t>Transition Matrix Estimation (T)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Computes the empirical conditional probability of corruption: 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b="1" dirty="0"/>
              <a:t>Learnable Regularized Slack (Delta T)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Dynamically tuned during risk-consistent training.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F9147FE-6ED7-4F0C-8E2D-72F2AD5337DA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DF1FB2-C185-C017-A5B7-13BF095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01" y="4514512"/>
            <a:ext cx="3977985" cy="87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1103CB-D771-2B33-9AED-D1ABAE3F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183" y="5590399"/>
            <a:ext cx="3254022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Multi-View Reliability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Signal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b="1" dirty="0"/>
              <a:t>Core Goal</a:t>
            </a:r>
            <a:r>
              <a:rPr lang="en-IN" dirty="0"/>
              <a:t>: Gather three orthogonal, complementary trust signals for every interaction (u, </a:t>
            </a:r>
            <a:r>
              <a:rPr lang="en-IN" dirty="0" err="1"/>
              <a:t>i</a:t>
            </a:r>
            <a:r>
              <a:rPr lang="en-IN" dirty="0"/>
              <a:t>) before fusing them into a final sample weight.</a:t>
            </a:r>
          </a:p>
          <a:p>
            <a:pPr lvl="0"/>
            <a:r>
              <a:rPr lang="en-IN" b="1" dirty="0"/>
              <a:t>The 3 Signals Explained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RRFN (Statistical)</a:t>
            </a:r>
            <a:r>
              <a:rPr lang="en-IN" dirty="0"/>
              <a:t>: Ratio of observed rating probability vs. maximum predicted class probability.</a:t>
            </a:r>
          </a:p>
          <a:p>
            <a:pPr lvl="1"/>
            <a:r>
              <a:rPr lang="en-IN" b="1" dirty="0"/>
              <a:t>LLM (Semantic Profile Auditor)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Pre-filter sends only suspicious ratings (RRFN &lt; 0.60$) to Gemini 2.5 Flash / LLM auditor to conserve compute.</a:t>
            </a:r>
          </a:p>
          <a:p>
            <a:pPr lvl="2"/>
            <a:r>
              <a:rPr lang="en-IN" dirty="0"/>
              <a:t>Evaluates user genre history vs. evaluated title to cached in SQLite (</a:t>
            </a:r>
            <a:r>
              <a:rPr lang="en-IN" dirty="0" err="1"/>
              <a:t>llm_cache.db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Bomb (Review-Bombing)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Detects temporal burst acceleration A(</a:t>
            </a:r>
            <a:r>
              <a:rPr lang="en-IN" dirty="0" err="1"/>
              <a:t>i</a:t>
            </a:r>
            <a:r>
              <a:rPr lang="en-IN" dirty="0"/>
              <a:t>, t) and rating polarity skew S(</a:t>
            </a:r>
            <a:r>
              <a:rPr lang="en-IN" dirty="0" err="1"/>
              <a:t>i</a:t>
            </a:r>
            <a:r>
              <a:rPr lang="en-IN" dirty="0"/>
              <a:t>, t) within sliding time windows.</a:t>
            </a:r>
          </a:p>
          <a:p>
            <a:pPr marL="228600" lvl="0" indent="-228600">
              <a:buFont typeface="+mj-lt"/>
              <a:buAutoNum type="arabicPeriod"/>
            </a:pPr>
            <a:endParaRPr lang="en-IN"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77D2-F07B-69E0-94B1-EF027DB0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0DFC-8877-ABC8-5AA2-7F0CAB5F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B92E6-2370-B6D6-C392-C21102625E0D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7CECD-4EA2-6727-205A-76EE6A9B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Multi-View Reliability Fusion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&amp;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 </a:t>
            </a:r>
            <a:r>
              <a:rPr b="1" dirty="0">
                <a:solidFill>
                  <a:schemeClr val="bg1"/>
                </a:solidFill>
                <a:latin typeface="Times New Roman"/>
              </a:rPr>
              <a:t>Sample Reweighting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93C8-526B-5326-7D7B-358C48C1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Core Goal</a:t>
            </a:r>
            <a:r>
              <a:rPr lang="en-IN" dirty="0"/>
              <a:t>: Synthesize the 3 orthogonal trust signals into a continuous, sample-level reliability weight w(u, </a:t>
            </a:r>
            <a:r>
              <a:rPr lang="en-IN" dirty="0" err="1"/>
              <a:t>i</a:t>
            </a:r>
            <a:r>
              <a:rPr lang="en-IN" dirty="0"/>
              <a:t>) in [0.02, 1.0] for every interaction.</a:t>
            </a:r>
          </a:p>
          <a:p>
            <a:r>
              <a:rPr lang="en-IN" b="1" dirty="0"/>
              <a:t>Key Formulation &amp;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Convex Linear Combination Formulation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= </a:t>
            </a:r>
            <a:r>
              <a:rPr lang="el-GR" b="1" dirty="0"/>
              <a:t>α · </a:t>
            </a:r>
            <a:r>
              <a:rPr lang="en-IN" b="1" dirty="0"/>
              <a:t>R_RRFN(u,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β · </a:t>
            </a:r>
            <a:r>
              <a:rPr lang="en-IN" b="1" dirty="0"/>
              <a:t>R_LLM(u,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γ · </a:t>
            </a:r>
            <a:r>
              <a:rPr lang="en-IN" b="1" dirty="0" err="1"/>
              <a:t>R_bomb</a:t>
            </a:r>
            <a:r>
              <a:rPr lang="en-IN" b="1" dirty="0"/>
              <a:t>(</a:t>
            </a:r>
            <a:r>
              <a:rPr lang="en-IN" b="1" dirty="0" err="1"/>
              <a:t>i</a:t>
            </a:r>
            <a:r>
              <a:rPr lang="en-IN" b="1" dirty="0"/>
              <a:t>, t)</a:t>
            </a:r>
          </a:p>
          <a:p>
            <a:pPr lvl="2"/>
            <a:r>
              <a:rPr lang="en-IN" b="1" dirty="0"/>
              <a:t>Normalized constraints: </a:t>
            </a:r>
            <a:r>
              <a:rPr lang="el-GR" b="1" dirty="0"/>
              <a:t>α + β + γ = 1.0 (</a:t>
            </a:r>
            <a:r>
              <a:rPr lang="en-IN" b="1" dirty="0"/>
              <a:t>Default config: </a:t>
            </a:r>
            <a:r>
              <a:rPr lang="el-GR" b="1" dirty="0"/>
              <a:t>α = 0.50, β = 0.30, γ = 0.20).</a:t>
            </a:r>
          </a:p>
          <a:p>
            <a:pPr lvl="1"/>
            <a:r>
              <a:rPr lang="en-IN" b="1" dirty="0"/>
              <a:t>Non-Zero Reliability Floor (</a:t>
            </a:r>
            <a:r>
              <a:rPr lang="el-GR" b="1" dirty="0"/>
              <a:t>ε_</a:t>
            </a:r>
            <a:r>
              <a:rPr lang="en-IN" b="1" dirty="0"/>
              <a:t>min = 0.02)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Suspicious interactions are softly </a:t>
            </a:r>
            <a:r>
              <a:rPr lang="en-IN" b="1" dirty="0" err="1"/>
              <a:t>downweighted</a:t>
            </a:r>
            <a:r>
              <a:rPr lang="en-IN" b="1" dirty="0"/>
              <a:t> rather than hard-dropped to preserve gradient stability and graph connectivity.</a:t>
            </a:r>
          </a:p>
          <a:p>
            <a:pPr lvl="1"/>
            <a:r>
              <a:rPr lang="en-IN" b="1" dirty="0"/>
              <a:t>Downstream Integration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w(u, </a:t>
            </a:r>
            <a:r>
              <a:rPr lang="en-IN" b="1" dirty="0" err="1"/>
              <a:t>i</a:t>
            </a:r>
            <a:r>
              <a:rPr lang="en-IN" b="1" dirty="0"/>
              <a:t>) serves as the unified confidence weight across Pareto partitioning, neural loss functions, and blueprint merging.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71E33-0623-22B6-F0D9-8D49BF20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F2A2B-DD93-5045-021A-1C8110EC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D6FD4-74E1-D664-4FA8-A8AECAF21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0EE8-32E2-3019-2A99-5C1F9AC0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9F0E-C54F-C228-E2D0-151F1C4C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E2F09D-39D8-CBDF-DD92-D39BD909B993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16FEF-C93A-FD99-8400-48F1A01D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sz="4000" b="1" dirty="0">
                <a:solidFill>
                  <a:schemeClr val="bg1"/>
                </a:solidFill>
                <a:latin typeface="Times New Roman"/>
              </a:rPr>
              <a:t>Reliability-Weighted Pareto </a:t>
            </a:r>
            <a:br>
              <a:rPr lang="en-US" sz="4000" b="1" dirty="0">
                <a:solidFill>
                  <a:schemeClr val="bg1"/>
                </a:solidFill>
                <a:latin typeface="Times New Roman"/>
              </a:rPr>
            </a:br>
            <a:r>
              <a:rPr sz="4000" b="1" dirty="0">
                <a:solidFill>
                  <a:schemeClr val="bg1"/>
                </a:solidFill>
                <a:latin typeface="Times New Roman"/>
              </a:rPr>
              <a:t>Catalog Partitioning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5EB4-F8FB-C0EE-F5E7-73EF51C9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Core Goal</a:t>
            </a:r>
            <a:r>
              <a:rPr lang="en-US" dirty="0"/>
              <a:t>: Mitigate popularity bias by segmenting items into Head (H) and Tail (T) using attack-invariant effective interaction volume.</a:t>
            </a:r>
          </a:p>
          <a:p>
            <a:r>
              <a:rPr lang="en-US" b="1" dirty="0"/>
              <a:t>Key Principles &amp; Partitioning Logic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Reliability-Weighted Effective Volume (</a:t>
            </a:r>
            <a:r>
              <a:rPr lang="en-US" b="1" dirty="0" err="1"/>
              <a:t>V_eff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= ∑_{u ∈ </a:t>
            </a:r>
            <a:r>
              <a:rPr lang="en-US" b="1" dirty="0" err="1"/>
              <a:t>U_i</a:t>
            </a:r>
            <a:r>
              <a:rPr lang="en-US" b="1" dirty="0"/>
              <a:t>} w(u, </a:t>
            </a:r>
            <a:r>
              <a:rPr lang="en-US" b="1" dirty="0" err="1"/>
              <a:t>i</a:t>
            </a:r>
            <a:r>
              <a:rPr lang="en-US" b="1" dirty="0"/>
              <a:t>) (Weighted sum instead of raw interaction counts ∑ 1).</a:t>
            </a:r>
          </a:p>
          <a:p>
            <a:pPr lvl="2"/>
            <a:r>
              <a:rPr lang="en-US" b="1" dirty="0"/>
              <a:t>Prevents sybil botnets and bandwagon shilling from falsely inflating obscure tail items into head status.</a:t>
            </a:r>
          </a:p>
          <a:p>
            <a:pPr lvl="1"/>
            <a:r>
              <a:rPr lang="en-US" b="1" dirty="0"/>
              <a:t>Pareto Volume Boundary (α = 0.20)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Items sorted in descending order of </a:t>
            </a:r>
            <a:r>
              <a:rPr lang="en-US" b="1" dirty="0" err="1"/>
              <a:t>V_eff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).</a:t>
            </a:r>
          </a:p>
          <a:p>
            <a:pPr lvl="2"/>
            <a:r>
              <a:rPr lang="en-US" b="1" dirty="0"/>
              <a:t>Head Set (H): Top items accumulating α · ∑ </a:t>
            </a:r>
            <a:r>
              <a:rPr lang="en-US" b="1" dirty="0" err="1"/>
              <a:t>V_eff</a:t>
            </a:r>
            <a:r>
              <a:rPr lang="en-US" b="1" dirty="0"/>
              <a:t> (the top ~20% of total volume).</a:t>
            </a:r>
          </a:p>
          <a:p>
            <a:pPr lvl="2"/>
            <a:r>
              <a:rPr lang="en-US" b="1" dirty="0"/>
              <a:t>Tail Set (T): Remaining long-tail items (T = I \ H).</a:t>
            </a:r>
          </a:p>
          <a:p>
            <a:pPr lvl="1"/>
            <a:r>
              <a:rPr lang="en-US" b="1" dirty="0"/>
              <a:t>Decoupled Specialization</a:t>
            </a:r>
            <a:r>
              <a:rPr lang="en-US" dirty="0"/>
              <a:t>: Segregates item spaces so head gradients do not dominate tail item representations.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8EEDC-0C9D-8540-4341-83AEECAD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C896C-489E-9420-5534-0CC57D74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09470-56CC-4712-8084-446137FDE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7EC68-A7FA-3665-58C0-893DEF0A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2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2233-A30A-4E33-F097-9E4FA585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886F5-E32D-D94C-A80E-E6C8F652F0A5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88EB4-2CEE-6E54-BC4F-480727B4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Decoupled Dual Training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with Risk-Consistent Loss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AC5A-986B-45D3-BA2B-57F0448E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Core Goal</a:t>
            </a:r>
            <a:r>
              <a:rPr lang="en-IN" dirty="0"/>
              <a:t>: Train two specialized neural expert models (</a:t>
            </a:r>
            <a:r>
              <a:rPr lang="en-IN" dirty="0" err="1"/>
              <a:t>M_pop</a:t>
            </a:r>
            <a:r>
              <a:rPr lang="en-IN" dirty="0"/>
              <a:t> on Head, </a:t>
            </a:r>
            <a:r>
              <a:rPr lang="en-IN" dirty="0" err="1"/>
              <a:t>M_tail</a:t>
            </a:r>
            <a:r>
              <a:rPr lang="en-IN" dirty="0"/>
              <a:t> on Tail) with forward-corrected risk-consistent loss.</a:t>
            </a:r>
          </a:p>
          <a:p>
            <a:r>
              <a:rPr lang="en-IN" b="1" dirty="0"/>
              <a:t>Dual Architecture &amp; Risk Loss Mechanics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Decoupled Dual Expert Models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M_pop</a:t>
            </a:r>
            <a:r>
              <a:rPr lang="en-IN" b="1" dirty="0"/>
              <a:t> (Popularity Specialist): Trained exclusively on Head interactions (u, </a:t>
            </a:r>
            <a:r>
              <a:rPr lang="en-IN" b="1" dirty="0" err="1"/>
              <a:t>i</a:t>
            </a:r>
            <a:r>
              <a:rPr lang="en-IN" b="1" dirty="0"/>
              <a:t>) ∈ H.</a:t>
            </a:r>
          </a:p>
          <a:p>
            <a:pPr lvl="2"/>
            <a:r>
              <a:rPr lang="en-IN" b="1" dirty="0" err="1"/>
              <a:t>M_tail</a:t>
            </a:r>
            <a:r>
              <a:rPr lang="en-IN" b="1" dirty="0"/>
              <a:t> (Niche Specialist): Trained exclusively on Tail interactions (u, </a:t>
            </a:r>
            <a:r>
              <a:rPr lang="en-IN" b="1" dirty="0" err="1"/>
              <a:t>i</a:t>
            </a:r>
            <a:r>
              <a:rPr lang="en-IN" b="1" dirty="0"/>
              <a:t>) ∈ T.</a:t>
            </a:r>
          </a:p>
          <a:p>
            <a:pPr lvl="1"/>
            <a:r>
              <a:rPr lang="en-IN" b="1" dirty="0"/>
              <a:t>Risk-Consistent Loss with Slack Regularization</a:t>
            </a:r>
            <a:r>
              <a:rPr lang="en-IN" dirty="0"/>
              <a:t>:</a:t>
            </a:r>
          </a:p>
          <a:p>
            <a:pPr lvl="2"/>
            <a:r>
              <a:rPr lang="en-IN" b="1" dirty="0" err="1"/>
              <a:t>L_risk</a:t>
            </a:r>
            <a:r>
              <a:rPr lang="en-IN" b="1" dirty="0"/>
              <a:t> = - 1/|B| ∑_{(</a:t>
            </a:r>
            <a:r>
              <a:rPr lang="en-IN" b="1" dirty="0" err="1"/>
              <a:t>u,i</a:t>
            </a:r>
            <a:r>
              <a:rPr lang="en-IN" b="1" dirty="0"/>
              <a:t>) ∈ B} w(u, </a:t>
            </a:r>
            <a:r>
              <a:rPr lang="en-IN" b="1" dirty="0" err="1"/>
              <a:t>i</a:t>
            </a:r>
            <a:r>
              <a:rPr lang="en-IN" b="1" dirty="0"/>
              <a:t>) · log([ p(u,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T_final</a:t>
            </a:r>
            <a:r>
              <a:rPr lang="en-IN" b="1" dirty="0"/>
              <a:t> ]_{</a:t>
            </a:r>
            <a:r>
              <a:rPr lang="en-IN" b="1" dirty="0" err="1"/>
              <a:t>y_tilde</a:t>
            </a:r>
            <a:r>
              <a:rPr lang="en-IN" b="1" dirty="0"/>
              <a:t>}) + </a:t>
            </a:r>
            <a:r>
              <a:rPr lang="el-GR" b="1" dirty="0"/>
              <a:t>λ_Δ ||Δ</a:t>
            </a:r>
            <a:r>
              <a:rPr lang="en-IN" b="1" dirty="0"/>
              <a:t>T||_F^2</a:t>
            </a:r>
          </a:p>
          <a:p>
            <a:pPr lvl="2"/>
            <a:r>
              <a:rPr lang="en-IN" b="1" dirty="0"/>
              <a:t>Forward correction with </a:t>
            </a:r>
            <a:r>
              <a:rPr lang="en-IN" b="1" dirty="0" err="1"/>
              <a:t>T_final</a:t>
            </a:r>
            <a:r>
              <a:rPr lang="en-IN" b="1" dirty="0"/>
              <a:t> = </a:t>
            </a:r>
            <a:r>
              <a:rPr lang="en-IN" b="1" dirty="0" err="1"/>
              <a:t>Softmax</a:t>
            </a:r>
            <a:r>
              <a:rPr lang="en-IN" b="1" dirty="0"/>
              <a:t>(T_hat + </a:t>
            </a:r>
            <a:r>
              <a:rPr lang="el-GR" b="1" dirty="0"/>
              <a:t>Δ</a:t>
            </a:r>
            <a:r>
              <a:rPr lang="en-IN" b="1" dirty="0"/>
              <a:t>T) mathematically un-distorts noisy labels.</a:t>
            </a:r>
          </a:p>
          <a:p>
            <a:pPr lvl="1"/>
            <a:r>
              <a:rPr lang="en-IN" b="1" dirty="0"/>
              <a:t>Optimization &amp; Stability</a:t>
            </a:r>
            <a:r>
              <a:rPr lang="en-IN" dirty="0"/>
              <a:t>: Cosine annealing scheduler with early stopping based on clean validation accuracy (patience = 3).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53A8C-C778-4D83-A9A5-DF77A8E8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7EC27-E808-C2D4-34DF-EF3A36A4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A2672-BC14-0762-0285-6DA7D5E83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08A8-B669-2D5B-0192-CA4A0F89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075F-30D1-B8D2-9572-4103E53A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6B377-3FCA-4CD3-1D7C-CB8FB266337E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A123D-A330-2D6F-31D2-4BDD24CD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b="1" dirty="0">
                <a:solidFill>
                  <a:schemeClr val="bg1"/>
                </a:solidFill>
                <a:latin typeface="Times New Roman"/>
              </a:rPr>
              <a:t>Robust Popularity Inclination </a:t>
            </a:r>
            <a:br>
              <a:rPr lang="en-US" b="1" dirty="0">
                <a:solidFill>
                  <a:schemeClr val="bg1"/>
                </a:solidFill>
                <a:latin typeface="Times New Roman"/>
              </a:rPr>
            </a:br>
            <a:r>
              <a:rPr b="1" dirty="0">
                <a:solidFill>
                  <a:schemeClr val="bg1"/>
                </a:solidFill>
                <a:latin typeface="Times New Roman"/>
              </a:rPr>
              <a:t>&amp; Blueprint Denoising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450-1CC4-A3BB-91B3-97A879BD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Goal</a:t>
            </a:r>
            <a:r>
              <a:rPr lang="en-IN" dirty="0"/>
              <a:t>: Personalize each user's popularity inclination C̃(u) and construct a clean integer consumption blueprint b(u) that resists adversarial distortion.</a:t>
            </a:r>
          </a:p>
          <a:p>
            <a:r>
              <a:rPr lang="en-IN" b="1" dirty="0"/>
              <a:t>Formulation &amp; Bayesian Smoothing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Reliability-Weighted Popularity Ratio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Raw head affinity: </a:t>
            </a:r>
            <a:r>
              <a:rPr lang="en-IN" b="1" dirty="0" err="1"/>
              <a:t>C_raw</a:t>
            </a:r>
            <a:r>
              <a:rPr lang="en-IN" b="1" dirty="0"/>
              <a:t>(u) = (∑_{</a:t>
            </a:r>
            <a:r>
              <a:rPr lang="en-IN" b="1" dirty="0" err="1"/>
              <a:t>i</a:t>
            </a:r>
            <a:r>
              <a:rPr lang="en-IN" b="1" dirty="0"/>
              <a:t> ∈ H ∩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 / (∑_{</a:t>
            </a:r>
            <a:r>
              <a:rPr lang="en-IN" b="1" dirty="0" err="1"/>
              <a:t>i</a:t>
            </a:r>
            <a:r>
              <a:rPr lang="en-IN" b="1" dirty="0"/>
              <a:t> ∈ </a:t>
            </a:r>
            <a:r>
              <a:rPr lang="en-IN" b="1" dirty="0" err="1"/>
              <a:t>I_u</a:t>
            </a:r>
            <a:r>
              <a:rPr lang="en-IN" b="1" dirty="0"/>
              <a:t>} w(u, </a:t>
            </a:r>
            <a:r>
              <a:rPr lang="en-IN" b="1" dirty="0" err="1"/>
              <a:t>i</a:t>
            </a:r>
            <a:r>
              <a:rPr lang="en-IN" b="1" dirty="0"/>
              <a:t>)).</a:t>
            </a:r>
          </a:p>
          <a:p>
            <a:pPr lvl="1"/>
            <a:r>
              <a:rPr lang="en-IN" b="1" dirty="0"/>
              <a:t>Empirical Bayes Shrinkage Smoothing (</a:t>
            </a:r>
            <a:r>
              <a:rPr lang="el-GR" b="1" dirty="0"/>
              <a:t>τ = 5.0)</a:t>
            </a:r>
            <a:r>
              <a:rPr lang="el-GR" dirty="0"/>
              <a:t>:</a:t>
            </a:r>
          </a:p>
          <a:p>
            <a:pPr lvl="2"/>
            <a:r>
              <a:rPr lang="en-IN" b="1" dirty="0"/>
              <a:t>C̃(u) = ( ∑ w(u, </a:t>
            </a:r>
            <a:r>
              <a:rPr lang="en-IN" b="1" dirty="0" err="1"/>
              <a:t>i</a:t>
            </a:r>
            <a:r>
              <a:rPr lang="en-IN" b="1" dirty="0"/>
              <a:t>) · </a:t>
            </a:r>
            <a:r>
              <a:rPr lang="en-IN" b="1" dirty="0" err="1"/>
              <a:t>C_raw</a:t>
            </a:r>
            <a:r>
              <a:rPr lang="en-IN" b="1" dirty="0"/>
              <a:t>(u) + </a:t>
            </a:r>
            <a:r>
              <a:rPr lang="el-GR" b="1" dirty="0"/>
              <a:t>τ · μ_</a:t>
            </a:r>
            <a:r>
              <a:rPr lang="en-IN" b="1" dirty="0"/>
              <a:t>pop ) / ( ∑ w(u, </a:t>
            </a:r>
            <a:r>
              <a:rPr lang="en-IN" b="1" dirty="0" err="1"/>
              <a:t>i</a:t>
            </a:r>
            <a:r>
              <a:rPr lang="en-IN" b="1" dirty="0"/>
              <a:t>) + </a:t>
            </a:r>
            <a:r>
              <a:rPr lang="el-GR" b="1" dirty="0"/>
              <a:t>τ ).</a:t>
            </a:r>
          </a:p>
          <a:p>
            <a:pPr lvl="2"/>
            <a:r>
              <a:rPr lang="en-IN" b="1" dirty="0"/>
              <a:t>Smooths sparse users toward the global prior </a:t>
            </a:r>
            <a:r>
              <a:rPr lang="el-GR" b="1" dirty="0"/>
              <a:t>μ_</a:t>
            </a:r>
            <a:r>
              <a:rPr lang="en-IN" b="1" dirty="0"/>
              <a:t>pop while allowing dense profiles to express genuine niche taste.</a:t>
            </a:r>
          </a:p>
          <a:p>
            <a:pPr lvl="1"/>
            <a:r>
              <a:rPr lang="en-IN" b="1" dirty="0"/>
              <a:t>Denoised Integer Blueprint (b(u) ∈ {0, 1}^K)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 slot allocation (</a:t>
            </a:r>
            <a:r>
              <a:rPr lang="en-IN" b="1" dirty="0" err="1"/>
              <a:t>k_head</a:t>
            </a:r>
            <a:r>
              <a:rPr lang="en-IN" b="1" dirty="0"/>
              <a:t> = round(K · C̃(u))), filtering noisy items (w(u, </a:t>
            </a:r>
            <a:r>
              <a:rPr lang="en-IN" b="1" dirty="0" err="1"/>
              <a:t>i</a:t>
            </a:r>
            <a:r>
              <a:rPr lang="en-IN" b="1" dirty="0"/>
              <a:t>) &lt; 0.30) from candidate generation.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83321-28F5-2436-41A1-5E3C8B51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C9B9E-21A0-1DCE-07A1-50B38908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47DAF-282B-8C23-3C0E-CD49A0A9A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A7C8-C087-8B2F-5CCE-975BDBB8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8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37E0-D292-78BF-56A6-6CAAF077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631C2-E855-70E0-B0E2-E0D781E603B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0AE26-93CD-15D4-68A8-65923F16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algn="l"/>
            <a:r>
              <a:rPr sz="4000" b="1" dirty="0">
                <a:solidFill>
                  <a:schemeClr val="bg1"/>
                </a:solidFill>
                <a:latin typeface="Times New Roman"/>
              </a:rPr>
              <a:t>Calibrated Top-N Merging</a:t>
            </a:r>
            <a:br>
              <a:rPr lang="en-US" sz="4000" b="1" dirty="0">
                <a:solidFill>
                  <a:schemeClr val="bg1"/>
                </a:solidFill>
                <a:latin typeface="Times New Roman"/>
              </a:rPr>
            </a:br>
            <a:r>
              <a:rPr sz="4000" b="1" dirty="0">
                <a:solidFill>
                  <a:schemeClr val="bg1"/>
                </a:solidFill>
                <a:latin typeface="Times New Roman"/>
              </a:rPr>
              <a:t>&amp;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63D2-0D91-E53A-6B8F-77A071CF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Goal</a:t>
            </a:r>
            <a:r>
              <a:rPr lang="en-IN" dirty="0"/>
              <a:t>: Interleave predictions from </a:t>
            </a:r>
            <a:r>
              <a:rPr lang="en-IN" dirty="0" err="1"/>
              <a:t>M_pop</a:t>
            </a:r>
            <a:r>
              <a:rPr lang="en-IN" dirty="0"/>
              <a:t> and </a:t>
            </a:r>
            <a:r>
              <a:rPr lang="en-IN" dirty="0" err="1"/>
              <a:t>M_tail</a:t>
            </a:r>
            <a:r>
              <a:rPr lang="en-IN" dirty="0"/>
              <a:t> via soft blueprint merging and evaluate across the full IEEE Access base paper metric suite.</a:t>
            </a:r>
          </a:p>
          <a:p>
            <a:r>
              <a:rPr lang="en-IN" b="1" dirty="0"/>
              <a:t>Merging Strategy &amp; Metric Suite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Soft Blueprint Pareto Top-N Merging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Dynamically merges ranked candidate pools from </a:t>
            </a:r>
            <a:r>
              <a:rPr lang="en-IN" b="1" dirty="0" err="1"/>
              <a:t>M_pop</a:t>
            </a:r>
            <a:r>
              <a:rPr lang="en-IN" b="1" dirty="0"/>
              <a:t> and </a:t>
            </a:r>
            <a:r>
              <a:rPr lang="en-IN" b="1" dirty="0" err="1"/>
              <a:t>M_tail</a:t>
            </a:r>
            <a:r>
              <a:rPr lang="en-IN" b="1" dirty="0"/>
              <a:t> following blueprint sequence b(u) to achieve multi-objective Pareto efficiency.</a:t>
            </a:r>
          </a:p>
          <a:p>
            <a:pPr lvl="1"/>
            <a:r>
              <a:rPr lang="en-IN" b="1" dirty="0"/>
              <a:t>13-Metric Holistic Evaluation Suite</a:t>
            </a:r>
            <a:r>
              <a:rPr lang="en-IN" dirty="0"/>
              <a:t>:</a:t>
            </a:r>
          </a:p>
          <a:p>
            <a:pPr lvl="2"/>
            <a:r>
              <a:rPr lang="en-IN" b="1" dirty="0"/>
              <a:t>Ranking Accuracy: Recall@10, nDCG@10.</a:t>
            </a:r>
          </a:p>
          <a:p>
            <a:pPr lvl="2"/>
            <a:r>
              <a:rPr lang="en-IN" b="1" dirty="0"/>
              <a:t>Calibration &amp; Fairness: RMSE-PC (Popularity Error), MRMC (Rank Miscalibration), APLT@10, LTC@10 (Long-Tail Coverage), Entropy, Novelty.</a:t>
            </a:r>
          </a:p>
          <a:p>
            <a:pPr lvl="2"/>
            <a:r>
              <a:rPr lang="en-IN" b="1" dirty="0"/>
              <a:t>Holistic Performance: GKPI (Global Key Performance Indicator).</a:t>
            </a:r>
          </a:p>
          <a:p>
            <a:pPr lvl="1"/>
            <a:r>
              <a:rPr lang="en-IN" b="1" dirty="0"/>
              <a:t>Adversarial Robustness Suite</a:t>
            </a:r>
            <a:r>
              <a:rPr lang="en-IN" dirty="0"/>
              <a:t>: Degradation </a:t>
            </a:r>
            <a:r>
              <a:rPr lang="el-GR" dirty="0"/>
              <a:t>Δ</a:t>
            </a:r>
            <a:r>
              <a:rPr lang="en-IN" dirty="0"/>
              <a:t>GKPI, Calibration Stability Score (CSS), Denoising F1 &amp; ROC-AUC.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01DDC-083A-4E3A-0441-13CCCAD9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0D0CEE8-6DCD-4241-B5DA-807216EA45F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9/15/2026</a:t>
            </a:fld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0331-C915-EA8B-A705-1E84B69F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3D3A2F-F00B-6AEB-7009-30EF4C148F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3491-8254-52C3-8810-2EEC1088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450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1624</Words>
  <Application>Microsoft Office PowerPoint</Application>
  <PresentationFormat>Custom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End to End Pipeline Overview </vt:lpstr>
      <vt:lpstr> Data Ingestion, Filtering &amp; Splitting </vt:lpstr>
      <vt:lpstr> Adversarial Attack &amp; Poisoning Simulation </vt:lpstr>
      <vt:lpstr> Warm-Start Representation Learning </vt:lpstr>
      <vt:lpstr>RRFN Anchor Selection &amp; Noise Transition Matrix</vt:lpstr>
      <vt:lpstr>Multi-View Reliability Signal Extraction</vt:lpstr>
      <vt:lpstr>Multi-View Reliability Fusion  &amp; Sample Reweighting </vt:lpstr>
      <vt:lpstr>Reliability-Weighted Pareto  Catalog Partitioning </vt:lpstr>
      <vt:lpstr>Decoupled Dual Training  with Risk-Consistent Loss </vt:lpstr>
      <vt:lpstr>Robust Popularity Inclination  &amp; Blueprint Denoising </vt:lpstr>
      <vt:lpstr>Calibrated Top-N Merging &amp;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102</cp:revision>
  <dcterms:created xsi:type="dcterms:W3CDTF">2006-08-16T00:00:00Z</dcterms:created>
  <dcterms:modified xsi:type="dcterms:W3CDTF">2026-09-15T04:06:12Z</dcterms:modified>
</cp:coreProperties>
</file>