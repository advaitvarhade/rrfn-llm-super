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79" r:id="rId2"/>
    <p:sldId id="280" r:id="rId3"/>
    <p:sldId id="282" r:id="rId4"/>
    <p:sldId id="283" r:id="rId5"/>
    <p:sldId id="285" r:id="rId6"/>
    <p:sldId id="289" r:id="rId7"/>
    <p:sldId id="295" r:id="rId8"/>
    <p:sldId id="296" r:id="rId9"/>
    <p:sldId id="297" r:id="rId10"/>
    <p:sldId id="298" r:id="rId11"/>
    <p:sldId id="299" r:id="rId12"/>
    <p:sldId id="300" r:id="rId19"/>
    <p:sldId id="301" r:id="rId20"/>
    <p:sldId id="302" r:id="rId21"/>
    <p:sldId id="303" r:id="rId22"/>
  </p:sldIdLst>
  <p:sldSz cx="12599988" cy="7199313"/>
  <p:notesSz cx="6858000" cy="9144000"/>
  <p:defaultTextStyle>
    <a:defPPr>
      <a:defRPr lang="en-US"/>
    </a:defPPr>
    <a:lvl1pPr marL="0" algn="l" defTabSz="950336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1pPr>
    <a:lvl2pPr marL="475168" algn="l" defTabSz="950336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2pPr>
    <a:lvl3pPr marL="950336" algn="l" defTabSz="950336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3pPr>
    <a:lvl4pPr marL="1425504" algn="l" defTabSz="950336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4pPr>
    <a:lvl5pPr marL="1900672" algn="l" defTabSz="950336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5pPr>
    <a:lvl6pPr marL="2375840" algn="l" defTabSz="950336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6pPr>
    <a:lvl7pPr marL="2851008" algn="l" defTabSz="950336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7pPr>
    <a:lvl8pPr marL="3326176" algn="l" defTabSz="950336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8pPr>
    <a:lvl9pPr marL="3801344" algn="l" defTabSz="950336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39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6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917" y="58"/>
      </p:cViewPr>
      <p:guideLst>
        <p:guide orient="horz" pos="2268"/>
        <p:guide pos="3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CLE4099 Capstone Project - Review I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4CE199-CF63-4126-8EAC-DF9585B05CFF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8A492C-0CFA-4D0D-9B0F-E9580A0C5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830726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CLE4099 Capstone Project - Review I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B241D8-138F-4AF4-8791-3BF99F2798DE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8625" y="685800"/>
            <a:ext cx="6000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5F6096-DC6B-4A7C-A8A3-80B9480DA8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84470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50336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1pPr>
    <a:lvl2pPr marL="475168" algn="l" defTabSz="950336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2pPr>
    <a:lvl3pPr marL="950336" algn="l" defTabSz="950336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3pPr>
    <a:lvl4pPr marL="1425504" algn="l" defTabSz="950336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4pPr>
    <a:lvl5pPr marL="1900672" algn="l" defTabSz="950336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5pPr>
    <a:lvl6pPr marL="2375840" algn="l" defTabSz="950336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6pPr>
    <a:lvl7pPr marL="2851008" algn="l" defTabSz="950336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7pPr>
    <a:lvl8pPr marL="3326176" algn="l" defTabSz="950336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8pPr>
    <a:lvl9pPr marL="3801344" algn="l" defTabSz="950336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4999" y="2236455"/>
            <a:ext cx="10709990" cy="154318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98" y="4079611"/>
            <a:ext cx="8819992" cy="183982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34EC7-7601-4F68-A8EC-54ED437252CB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BCSE497J Project I - Review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A4666-2651-43F6-89CB-4C4836357CA6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BCSE497J Project I - Review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5312" y="4626227"/>
            <a:ext cx="10709990" cy="142986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5312" y="3051377"/>
            <a:ext cx="10709990" cy="15748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AF943-CC0B-4D10-B7F2-A2346C953E75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BCSE497J Project I - Review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9999" y="1679841"/>
            <a:ext cx="5564995" cy="475121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4994" y="1679841"/>
            <a:ext cx="5564995" cy="475121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BDAC3-4491-456F-9669-15697E9FCBF4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BCSE497J Project I - Review II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000" y="1611513"/>
            <a:ext cx="5567183" cy="67160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000" y="2283115"/>
            <a:ext cx="5567183" cy="41479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621" y="1611513"/>
            <a:ext cx="5569369" cy="67160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00621" y="2283115"/>
            <a:ext cx="5569369" cy="41479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68DED-F98C-4547-BE53-A568C2D0BD45}" type="datetime1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BCSE497J Project I - Review II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42BD8-32B1-42B2-B194-6B1CEB7AB54F}" type="datetime1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BCSE497J Project I - Review II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69E95-6775-4490-A6A8-263D7920387C}" type="datetime1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BCSE497J Project I - Review 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001" y="286639"/>
            <a:ext cx="4145309" cy="121988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26245" y="286641"/>
            <a:ext cx="7043744" cy="614441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001" y="1506524"/>
            <a:ext cx="4145309" cy="492453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7D541-A15D-4CBC-BE1F-09CD6E2EDD8A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BCSE497J Project I - Review II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9685" y="5039519"/>
            <a:ext cx="7559993" cy="59494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469685" y="643272"/>
            <a:ext cx="7559993" cy="431958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69685" y="5634463"/>
            <a:ext cx="7559993" cy="8449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9EC6A-F2F1-4D97-82B7-24A028157753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BCSE497J Project I - Review II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196C5-D592-47B8-AD47-A446A445F717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BCSE497J Project I - Review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34991" y="288308"/>
            <a:ext cx="2834997" cy="61427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9999" y="288308"/>
            <a:ext cx="8294992" cy="61427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24E35-73DB-4B1B-9E61-203822815698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BCSE497J Project I - Review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0000" y="288306"/>
            <a:ext cx="11339989" cy="11998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000" y="1679841"/>
            <a:ext cx="11339989" cy="47512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0000" y="6672698"/>
            <a:ext cx="2939997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E9222F-15A4-4443-95DB-C6CCCF4CA2D1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04996" y="6672698"/>
            <a:ext cx="3989996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BCSE497J Project I - Review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29992" y="6672698"/>
            <a:ext cx="2939997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0DF16-3DF1-7D2D-DFBF-29E500D65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C331186-E9EF-4BBD-E81B-7995A22DA428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57F051-838B-3CD9-5BF1-B6C6CB0E4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708000" cy="1260000"/>
          </a:xfrm>
          <a:solidFill>
            <a:srgbClr val="000066"/>
          </a:solidFill>
          <a:ln>
            <a:noFill/>
          </a:ln>
        </p:spPr>
        <p:txBody>
          <a:bodyPr wrap="square" lIns="365760" tIns="182880">
            <a:normAutofit fontScale="90000"/>
          </a:bodyPr>
          <a:lstStyle/>
          <a:p>
            <a:pPr marL="715963" algn="l">
              <a:defRPr b="1" sz="2200">
                <a:solidFill>
                  <a:srgbClr val="FFFFFF"/>
                </a:solidFill>
                <a:latin typeface="Calibri"/>
              </a:defRPr>
            </a:pPr>
            <a:r>
              <a:t> RRFN-LLM-SUPER: Robust &amp; Calibrated Recommendations </a:t>
            </a:r>
            <a:endParaRPr lang="en-IN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6E9C6-5C65-DEDF-60D3-3E48AC22AF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029200"/>
          </a:xfrm>
          <a:ln w="28575">
            <a:solidFill>
              <a:srgbClr val="000066"/>
            </a:solidFill>
          </a:ln>
        </p:spPr>
        <p:txBody>
          <a:bodyPr wrap="square" lIns="182880" tIns="73152">
            <a:normAutofit fontScale="92500" lnSpcReduction="10000"/>
          </a:bodyPr>
          <a:lstStyle/>
          <a:p>
            <a:pPr marL="0" indent="0" algn="just">
              <a:buNone/>
              <a:defRPr b="1" sz="2000">
                <a:solidFill>
                  <a:srgbClr val="000066"/>
                </a:solidFill>
                <a:latin typeface="Calibri"/>
              </a:defRPr>
            </a:pPr>
            <a:r>
              <a:t>Project-I Review Presentation II | Course Code: BCSE497J</a:t>
            </a:r>
          </a:p>
          <a:p>
            <a:pPr marL="0" indent="0" algn="just">
              <a:buNone/>
            </a:pPr>
            <a:endParaRPr lang="en-IN" sz="1600" b="1" dirty="0"/>
          </a:p>
          <a:p>
            <a:pPr marL="0" indent="0" algn="just">
              <a:buNone/>
            </a:pPr>
            <a:r>
              <a:rPr lang="en-IN" sz="1600" b="1" dirty="0"/>
              <a:t>Step 2: Adversarial Poisoning Simulation</a:t>
            </a:r>
          </a:p>
          <a:p>
            <a:pPr marL="0" indent="0" algn="just">
              <a:buNone/>
            </a:pPr>
            <a:endParaRPr lang="en-IN" sz="1600" b="1" dirty="0"/>
          </a:p>
          <a:p>
            <a:pPr marL="0" indent="0" algn="just">
              <a:buNone/>
            </a:pPr>
            <a:r>
              <a:rPr lang="en-IN" sz="1600" b="1" dirty="0"/>
              <a:t>Step 3: Warm-Start Backbone Representation Learning</a:t>
            </a:r>
          </a:p>
          <a:p>
            <a:pPr marL="0" indent="0" algn="just">
              <a:buNone/>
            </a:pPr>
            <a:endParaRPr lang="en-IN" sz="1600" b="1" dirty="0"/>
          </a:p>
          <a:p>
            <a:pPr marL="0" indent="0" algn="just">
              <a:buNone/>
            </a:pPr>
            <a:r>
              <a:rPr lang="en-IN" sz="1600" b="1" dirty="0"/>
              <a:t>Step 4: RRFN Anchor Selection &amp; Noise Transition Matrix Estimation</a:t>
            </a:r>
          </a:p>
          <a:p>
            <a:pPr marL="0" indent="0" algn="just">
              <a:buNone/>
            </a:pPr>
            <a:endParaRPr lang="en-IN" sz="1600" b="1" dirty="0"/>
          </a:p>
          <a:p>
            <a:pPr marL="0" indent="0" algn="just">
              <a:buNone/>
            </a:pPr>
            <a:r>
              <a:rPr lang="en-IN" sz="1600" b="1" dirty="0"/>
              <a:t>Step 5: Multi-View Reliability Signal Extraction</a:t>
            </a:r>
          </a:p>
          <a:p>
            <a:pPr marL="0" indent="0" algn="just">
              <a:buNone/>
            </a:pPr>
            <a:endParaRPr lang="en-IN" sz="1600" b="1" dirty="0"/>
          </a:p>
          <a:p>
            <a:pPr marL="0" indent="0" algn="just">
              <a:buNone/>
            </a:pPr>
            <a:r>
              <a:rPr lang="en-IN" sz="1600" b="1" dirty="0"/>
              <a:t>Step 6: Multi-View Reliability Fusion &amp; Sample Reweighting</a:t>
            </a:r>
          </a:p>
          <a:p>
            <a:pPr marL="0" indent="0" algn="just">
              <a:buNone/>
            </a:pPr>
            <a:endParaRPr lang="en-IN" sz="1600" b="1" dirty="0"/>
          </a:p>
          <a:p>
            <a:pPr marL="0" indent="0" algn="just">
              <a:buNone/>
            </a:pPr>
            <a:r>
              <a:rPr lang="en-IN" sz="1600" b="1" dirty="0"/>
              <a:t>Step 7: Reliability-Weighted Pareto </a:t>
            </a:r>
            <a:r>
              <a:rPr lang="en-IN" sz="1600" b="1" dirty="0" err="1"/>
              <a:t>Catalog</a:t>
            </a:r>
            <a:r>
              <a:rPr lang="en-IN" sz="1600" b="1" dirty="0"/>
              <a:t> Partitioning</a:t>
            </a:r>
          </a:p>
          <a:p>
            <a:pPr marL="0" indent="0" algn="just">
              <a:buNone/>
            </a:pPr>
            <a:endParaRPr lang="en-IN" sz="1600" b="1" dirty="0"/>
          </a:p>
          <a:p>
            <a:pPr marL="0" indent="0" algn="just">
              <a:buNone/>
            </a:pPr>
            <a:r>
              <a:rPr lang="en-IN" sz="1600" b="1" dirty="0"/>
              <a:t>Step 8: Decoupled Dual Training with Risk-Consistent Loss</a:t>
            </a:r>
          </a:p>
          <a:p>
            <a:pPr marL="0" indent="0" algn="just">
              <a:buNone/>
            </a:pPr>
            <a:endParaRPr lang="en-IN" sz="1600" b="1" dirty="0"/>
          </a:p>
          <a:p>
            <a:pPr marL="0" indent="0" algn="just">
              <a:buNone/>
            </a:pPr>
            <a:r>
              <a:rPr lang="en-IN" sz="1600" b="1" dirty="0"/>
              <a:t>Step 9: Robust Popularity Inclination &amp; Blueprint Denoising</a:t>
            </a:r>
          </a:p>
          <a:p>
            <a:pPr marL="0" indent="0" algn="just">
              <a:buNone/>
            </a:pPr>
            <a:endParaRPr lang="en-IN" sz="1600" b="1" dirty="0"/>
          </a:p>
          <a:p>
            <a:pPr marL="0" indent="0" algn="just">
              <a:buNone/>
            </a:pPr>
            <a:r>
              <a:rPr lang="en-IN" sz="1600" b="1" dirty="0"/>
              <a:t>Step 10: Calibrated Top-N Merging &amp; Evaluation</a:t>
            </a:r>
            <a:endParaRPr sz="1600" b="1" dirty="0"/>
          </a:p>
          <a:p>
            <a:pPr>
              <a:defRPr b="0" sz="1700">
                <a:solidFill>
                  <a:srgbClr val="1E293B"/>
                </a:solidFill>
                <a:latin typeface="Calibri"/>
              </a:defRPr>
            </a:pPr>
            <a:r>
              <a:t>Adversarially Robust, Popularity-Calibrated Neural Collaborative Filtering</a:t>
            </a:r>
          </a:p>
          <a:p>
            <a:pPr>
              <a:defRPr b="0" sz="1000">
                <a:solidFill>
                  <a:srgbClr val="334155"/>
                </a:solidFill>
                <a:latin typeface="Calibri"/>
              </a:defRPr>
            </a:pPr>
          </a:p>
          <a:p>
            <a:pPr>
              <a:defRPr b="1" sz="1700">
                <a:solidFill>
                  <a:srgbClr val="000066"/>
                </a:solidFill>
                <a:latin typeface="Calibri"/>
              </a:defRPr>
            </a:pPr>
            <a:r>
              <a:t>Core Research Motivation &amp; Problem Statement:</a:t>
            </a:r>
          </a:p>
          <a:p>
            <a:pPr lvl="1">
              <a:defRPr b="1" sz="1500">
                <a:solidFill>
                  <a:srgbClr val="1E293B"/>
                </a:solidFill>
                <a:latin typeface="Calibri"/>
              </a:defRPr>
            </a:pPr>
            <a:r>
              <a:t>The Dual Crisis in Modern Recommender Systems: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1. Catastrophic vulnerability to adversarial shilling (fake ratings) and coordinated review-bombing raids.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2. Pervasive popularity bias where superstar head items monopolize exposure and starve long-tail items.</a:t>
            </a:r>
          </a:p>
          <a:p>
            <a:pPr lvl="1">
              <a:defRPr b="1" sz="1500">
                <a:solidFill>
                  <a:srgbClr val="1E293B"/>
                </a:solidFill>
                <a:latin typeface="Calibri"/>
              </a:defRPr>
            </a:pPr>
            <a:r>
              <a:t>Proposed Solution Architecture: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A novel unified framework fusing Tri-Signal Multi-View Reliability Denoising (Statistical, Semantic LLM, and Spatiotemporal Anomaly Detection) with Decoupled Pareto Catalog Calibration.</a:t>
            </a:r>
          </a:p>
          <a:p>
            <a:pPr lvl="1">
              <a:defRPr b="1" sz="1500">
                <a:solidFill>
                  <a:srgbClr val="1E293B"/>
                </a:solidFill>
                <a:latin typeface="Calibri"/>
              </a:defRPr>
            </a:pPr>
            <a:r>
              <a:t>Project Engineering &amp; Evaluation Scope: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End-to-end implementation evaluated on MovieLens-1M benchmark with NeuMF/LightGCN/VaeCF backbones, Google Gemini 3.6 Flash LLM auditor, and interactive Streamlit telemetry dashboard.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930076-A6B5-D99E-F0FC-A16E0C77CA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 wrap="none"/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9/15/2026</a:t>
            </a:r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E6F4E1-FD6F-E78D-98A4-0BC8A3086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 wrap="none"/>
          <a:lstStyle/>
          <a:p>
            <a:pPr>
              <a:defRPr b="1" sz="1400">
                <a:solidFill>
                  <a:srgbClr val="FFFF00"/>
                </a:solidFill>
              </a:defRPr>
            </a:pPr>
            <a:r>
              <a:t>BCSE497J Project I - Review II</a:t>
            </a:r>
            <a:endParaRPr lang="en-US" sz="2000" b="1" dirty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D36137-D004-EC50-E057-4E90A4BFF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4194" y="6797759"/>
            <a:ext cx="2939997" cy="383297"/>
          </a:xfrm>
        </p:spPr>
        <p:txBody>
          <a:bodyPr wrap="none"/>
          <a:lstStyle/>
          <a:p>
            <a:pPr algn="r">
              <a:defRPr b="1" sz="1400">
                <a:solidFill>
                  <a:srgbClr val="FFFFFF"/>
                </a:solidFill>
              </a:defRPr>
            </a:pPr>
            <a:r>
              <a:t>1</a:t>
            </a:r>
            <a:endParaRPr lang="en-US" sz="20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5075FB-B3F1-136F-D1FE-D4432EF2CE7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37697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B6500-C7FA-1F8F-527C-D9C22A602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BB80BB5-F8FE-F4C5-7102-5D1D148C7220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A69EFF-7833-4507-2CF0-A3CBAFA5B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708000" cy="1260000"/>
          </a:xfrm>
          <a:solidFill>
            <a:srgbClr val="000066"/>
          </a:solidFill>
          <a:ln>
            <a:noFill/>
          </a:ln>
        </p:spPr>
        <p:txBody>
          <a:bodyPr wrap="square" lIns="365760" tIns="182880">
            <a:normAutofit fontScale="90000"/>
          </a:bodyPr>
          <a:lstStyle/>
          <a:p>
            <a:pPr marL="717550" algn="l">
              <a:defRPr b="1" sz="2200">
                <a:solidFill>
                  <a:srgbClr val="FFFFFF"/>
                </a:solidFill>
                <a:latin typeface="Calibri"/>
              </a:defRPr>
            </a:pPr>
            <a:r>
              <a:t> Foundations: What Are Recommenders &amp; Why Are They Vital? </a:t>
            </a:r>
            <a:endParaRPr lang="en-IN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5FE0D-2C3E-7F1A-6BC4-4420EA41F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029200"/>
          </a:xfrm>
          <a:ln w="28575">
            <a:solidFill>
              <a:srgbClr val="000066"/>
            </a:solidFill>
          </a:ln>
        </p:spPr>
        <p:txBody>
          <a:bodyPr wrap="square" lIns="182880" tIns="73152">
            <a:normAutofit fontScale="77500" lnSpcReduction="20000"/>
          </a:bodyPr>
          <a:lstStyle/>
          <a:p>
            <a:pPr>
              <a:defRPr b="1" sz="1800">
                <a:solidFill>
                  <a:srgbClr val="000066"/>
                </a:solidFill>
              </a:defRPr>
            </a:pPr>
            <a:r>
              <a:t>Core Role: The Primary Information Filtering Engine of the Modern Web</a:t>
            </a:r>
          </a:p>
          <a:p>
            <a:pPr lvl="1">
              <a:defRPr b="1" sz="1600">
                <a:solidFill>
                  <a:srgbClr val="1E293B"/>
                </a:solidFill>
              </a:defRPr>
            </a:pPr>
            <a:r>
              <a:t>The Information Overload Challenge:</a:t>
            </a:r>
          </a:p>
          <a:p>
            <a:pPr lvl="2">
              <a:defRPr b="0" sz="1450">
                <a:solidFill>
                  <a:srgbClr val="334155"/>
                </a:solidFill>
              </a:defRPr>
            </a:pPr>
            <a:r>
              <a:t>Modern catalogs contain millions of items far exceeding human evaluation capacity.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68D226-036B-5877-8EDD-E4DF504D137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 wrap="none"/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9/15/2026</a:t>
            </a:r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9A9CDD-6636-E1FB-E45B-05ED52DAC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 wrap="none"/>
          <a:lstStyle/>
          <a:p>
            <a:pPr>
              <a:defRPr b="1" sz="1400">
                <a:solidFill>
                  <a:srgbClr val="FFFF00"/>
                </a:solidFill>
              </a:defRPr>
            </a:pPr>
            <a:r>
              <a:t>BCSE497J Project I - Review II</a:t>
            </a:r>
            <a:endParaRPr lang="en-US" sz="2000" b="1" dirty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937FE6-212B-EBE6-4EDF-CB7EE43A3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4194" y="6797759"/>
            <a:ext cx="2939997" cy="383297"/>
          </a:xfrm>
        </p:spPr>
        <p:txBody>
          <a:bodyPr wrap="none"/>
          <a:lstStyle/>
          <a:p>
            <a:pPr algn="r">
              <a:defRPr b="1" sz="1400">
                <a:solidFill>
                  <a:srgbClr val="FFFFFF"/>
                </a:solidFill>
              </a:defRPr>
            </a:pPr>
            <a:r>
              <a:t>2</a:t>
            </a:r>
            <a:endParaRPr lang="en-US" sz="20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A4D8E68-B990-9DD1-69D4-B40928B7DF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91659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07B7A-03AC-E0B5-EAD1-8075BA343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3685DE8-387E-693A-53DA-FF4A8B34C100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0FF32F-5B13-9EFA-EC23-36CBD113F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708000" cy="1260000"/>
          </a:xfrm>
          <a:solidFill>
            <a:srgbClr val="000066"/>
          </a:solidFill>
          <a:ln>
            <a:noFill/>
          </a:ln>
        </p:spPr>
        <p:txBody>
          <a:bodyPr wrap="square" lIns="365760" tIns="182880">
            <a:normAutofit fontScale="90000"/>
          </a:bodyPr>
          <a:lstStyle/>
          <a:p>
            <a:pPr marL="717550" indent="-1588" algn="l">
              <a:defRPr b="1" sz="2200">
                <a:solidFill>
                  <a:srgbClr val="FFFFFF"/>
                </a:solidFill>
                <a:latin typeface="Calibri"/>
              </a:defRPr>
            </a:pPr>
            <a:r>
              <a:t> The Critical Flaws in Current Recommenders (The Dual Crisis) </a:t>
            </a:r>
            <a:endParaRPr lang="en-IN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2AC7-6722-4A3B-78A8-3BC4E369B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029200"/>
          </a:xfrm>
          <a:ln w="28575">
            <a:solidFill>
              <a:srgbClr val="000066"/>
            </a:solidFill>
          </a:ln>
        </p:spPr>
        <p:txBody>
          <a:bodyPr wrap="square" lIns="182880" tIns="73152">
            <a:normAutofit fontScale="92500" lnSpcReduction="20000"/>
          </a:bodyPr>
          <a:lstStyle/>
          <a:p>
            <a:pPr>
              <a:defRPr b="1" sz="1800">
                <a:solidFill>
                  <a:srgbClr val="000066"/>
                </a:solidFill>
                <a:latin typeface="Calibri"/>
              </a:defRPr>
            </a:pPr>
            <a:r>
              <a:t>Core Vulnerability: The Interconnected Systemic Failures of Modern Recommendation</a:t>
            </a:r>
          </a:p>
          <a:p>
            <a:pPr lvl="0"/>
            <a:r>
              <a:rPr lang="en-IN" b="1" dirty="0"/>
              <a:t>The 4 Attack Vectors Simulated</a:t>
            </a:r>
            <a:r>
              <a:rPr lang="en-IN" dirty="0"/>
              <a:t>:</a:t>
            </a:r>
          </a:p>
          <a:p>
            <a:pPr lvl="1"/>
            <a:r>
              <a:rPr lang="en-IN" b="1" dirty="0"/>
              <a:t>Random Flip Noise</a:t>
            </a:r>
            <a:r>
              <a:rPr lang="en-IN" dirty="0"/>
              <a:t>: Simulates accidental user error or transmission noise by randomly altering rating values.</a:t>
            </a:r>
          </a:p>
          <a:p>
            <a:pPr lvl="1"/>
            <a:r>
              <a:rPr lang="en-IN" b="1" dirty="0"/>
              <a:t>Bandwagon Shilling</a:t>
            </a:r>
            <a:r>
              <a:rPr lang="en-IN" dirty="0"/>
              <a:t>: Fake bots rate popular blockbusters high (to build false credibility) while pushing an unknown tail movie with 5 ★.</a:t>
            </a:r>
          </a:p>
          <a:p>
            <a:pPr lvl="1"/>
            <a:r>
              <a:rPr lang="en-IN" b="1" dirty="0"/>
              <a:t>Nuke / Review-Bombing</a:t>
            </a:r>
            <a:r>
              <a:rPr lang="en-IN" dirty="0"/>
              <a:t>: Coordinated bot surge dropping 1★ ratings on popular head items within a 24-hour temporal window.</a:t>
            </a:r>
          </a:p>
          <a:p>
            <a:pPr lvl="1"/>
            <a:r>
              <a:rPr lang="en-IN" b="1" dirty="0"/>
              <a:t>AGAS (Agentic Group Shilling)</a:t>
            </a:r>
            <a:r>
              <a:rPr lang="en-IN" dirty="0"/>
              <a:t>: Multi-team bot coordination (mainstream team + niche team) with staggered multi-round activation.</a:t>
            </a:r>
          </a:p>
          <a:p>
            <a:pPr lvl="0"/>
            <a:r>
              <a:rPr lang="en-IN" dirty="0"/>
              <a:t>Only the Training Set is poisoned. The Validation and Test Sets remain 100% clean ground truth.</a:t>
            </a:r>
          </a:p>
          <a:p>
            <a:pPr lvl="1">
              <a:defRPr b="1" sz="1500">
                <a:solidFill>
                  <a:srgbClr val="1E293B"/>
                </a:solidFill>
                <a:latin typeface="Calibri"/>
              </a:defRPr>
            </a:pPr>
            <a:r>
              <a:t>Crisis 1: Popularity Bias &amp; Long-Tail Starvation Trap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Superstar Economics: The top ~1% of head items receive &gt;80% of recommendations, creating severe echo chambers.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Miscalibration: Users who historically enjoy niche/indie movies are force-fed mainstream blockbusters.</a:t>
            </a:r>
          </a:p>
          <a:p>
            <a:pPr lvl="1">
              <a:defRPr b="1" sz="1500">
                <a:solidFill>
                  <a:srgbClr val="1E293B"/>
                </a:solidFill>
                <a:latin typeface="Calibri"/>
              </a:defRPr>
            </a:pPr>
            <a:r>
              <a:t>Crisis 2: Severe Adversarial Vulnerability (Shilling &amp; Review-Bombing)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Open Data Ingestion: Recommenders naively assume all rating data is genuine and submitted by honest users.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Exploited via Sybil botnets, 5-star Bandwagon shilling, coordinated 1-star Nuke raids, and Agentic Group Shilling (AGAS).</a:t>
            </a:r>
          </a:p>
          <a:p>
            <a:pPr lvl="1">
              <a:defRPr b="1" sz="1500">
                <a:solidFill>
                  <a:srgbClr val="1E293B"/>
                </a:solidFill>
                <a:latin typeface="Calibri"/>
              </a:defRPr>
            </a:pPr>
            <a:r>
              <a:t>The Fatal Dilemma of Existing Calibration (Vanilla SUPER Collapse):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Existing calibration methods (like Vanilla SUPER) naively trust raw interaction counts to compute popularity ratios.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Under attack, fake injected ratings distort volume counts and quotas, causing calibration to completely collapse!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8C4DF5-8F1D-9C06-B1CB-FF03B46A0F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 wrap="none"/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9/15/2026</a:t>
            </a:r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4AA943-6304-ECD4-00BA-A42F01CB2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 wrap="none"/>
          <a:lstStyle/>
          <a:p>
            <a:pPr>
              <a:defRPr b="1" sz="1400">
                <a:solidFill>
                  <a:srgbClr val="FFFF00"/>
                </a:solidFill>
              </a:defRPr>
            </a:pPr>
            <a:r>
              <a:t>BCSE497J Project I - Review II</a:t>
            </a:r>
            <a:endParaRPr lang="en-US" sz="2000" b="1" dirty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3EE615-3BC3-BC5E-FF65-98E57123F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4194" y="6797759"/>
            <a:ext cx="2939997" cy="383297"/>
          </a:xfrm>
        </p:spPr>
        <p:txBody>
          <a:bodyPr wrap="none"/>
          <a:lstStyle/>
          <a:p>
            <a:pPr algn="r">
              <a:defRPr b="1" sz="1400">
                <a:solidFill>
                  <a:srgbClr val="FFFFFF"/>
                </a:solidFill>
              </a:defRPr>
            </a:pPr>
            <a:r>
              <a:t>3</a:t>
            </a:r>
            <a:endParaRPr lang="en-US" sz="20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A0E9344-36AF-B2F5-1B2C-7EDCA2FCA2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6182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A8E65-9EB3-48F1-31EC-362CA4701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E92DB9C-F5F1-8946-3AE2-D5DDF2E21928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DEF0AE-4C93-E775-1BB9-F6F67EEE4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708000" cy="1260000"/>
          </a:xfrm>
          <a:solidFill>
            <a:srgbClr val="000066"/>
          </a:solidFill>
          <a:ln>
            <a:noFill/>
          </a:ln>
        </p:spPr>
        <p:txBody>
          <a:bodyPr wrap="square" lIns="365760" tIns="182880">
            <a:normAutofit fontScale="90000"/>
          </a:bodyPr>
          <a:lstStyle/>
          <a:p>
            <a:pPr marL="717550" algn="l">
              <a:defRPr b="1" sz="2200">
                <a:solidFill>
                  <a:srgbClr val="FFFFFF"/>
                </a:solidFill>
                <a:latin typeface="Calibri"/>
              </a:defRPr>
            </a:pPr>
            <a:r>
              <a:t> Our Solution: The RRFN-LLM-SUPER Architecture Flow </a:t>
            </a:r>
            <a:endParaRPr lang="en-IN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B5353-9DF6-75D6-CB50-8DF4959DA4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029200"/>
          </a:xfrm>
          <a:ln w="28575">
            <a:solidFill>
              <a:srgbClr val="000066"/>
            </a:solidFill>
          </a:ln>
        </p:spPr>
        <p:txBody>
          <a:bodyPr wrap="square" lIns="182880" tIns="73152">
            <a:normAutofit lnSpcReduction="10000"/>
          </a:bodyPr>
          <a:lstStyle/>
          <a:p>
            <a:pPr>
              <a:defRPr b="1" sz="1800">
                <a:solidFill>
                  <a:srgbClr val="000066"/>
                </a:solidFill>
                <a:latin typeface="Calibri"/>
              </a:defRPr>
            </a:pPr>
            <a:r>
              <a:t>Core Philosophy: Don't Just Calibrate -- Denoise, Decouple, and Calibrate Jointly</a:t>
            </a:r>
          </a:p>
          <a:p>
            <a:pPr lvl="0"/>
            <a:r>
              <a:rPr lang="en-IN" b="1" dirty="0"/>
              <a:t>Key Concepts</a:t>
            </a:r>
            <a:r>
              <a:rPr lang="en-IN" dirty="0"/>
              <a:t>:</a:t>
            </a:r>
          </a:p>
          <a:p>
            <a:pPr lvl="1"/>
            <a:r>
              <a:rPr lang="en-IN" b="1" dirty="0"/>
              <a:t>Backbone Architecture</a:t>
            </a:r>
            <a:r>
              <a:rPr lang="en-IN" dirty="0"/>
              <a:t>: Uses </a:t>
            </a:r>
            <a:r>
              <a:rPr lang="en-IN" dirty="0" err="1"/>
              <a:t>NeuMF</a:t>
            </a:r>
            <a:r>
              <a:rPr lang="en-IN" dirty="0"/>
              <a:t> (Neural Matrix Factorization):</a:t>
            </a:r>
          </a:p>
          <a:p>
            <a:pPr lvl="2"/>
            <a:r>
              <a:rPr lang="en-IN" dirty="0"/>
              <a:t>GMF Branch: Captures linear user-item dot-product interactions.</a:t>
            </a:r>
          </a:p>
          <a:p>
            <a:pPr lvl="2"/>
            <a:r>
              <a:rPr lang="en-IN" dirty="0"/>
              <a:t>MLP Branch: Captures non-linear relationships across hidden layers (128 to 64 to 32).</a:t>
            </a:r>
          </a:p>
          <a:p>
            <a:pPr lvl="1"/>
            <a:r>
              <a:rPr lang="en-IN" b="1" dirty="0"/>
              <a:t>5-Class </a:t>
            </a:r>
            <a:r>
              <a:rPr lang="en-IN" b="1" dirty="0" err="1"/>
              <a:t>Softmax</a:t>
            </a:r>
            <a:r>
              <a:rPr lang="en-IN" b="1" dirty="0"/>
              <a:t> Output</a:t>
            </a:r>
            <a:r>
              <a:rPr lang="en-IN" dirty="0"/>
              <a:t>:</a:t>
            </a:r>
          </a:p>
          <a:p>
            <a:pPr lvl="2"/>
            <a:r>
              <a:rPr lang="en-IN" dirty="0"/>
              <a:t>Instead of a single regression number, the network outputs: </a:t>
            </a:r>
            <a:r>
              <a:rPr lang="en-IN" dirty="0" err="1"/>
              <a:t>Softmax</a:t>
            </a:r>
            <a:r>
              <a:rPr lang="en-IN" dirty="0"/>
              <a:t> in [0, 1],  {1, 2, 3, 4, 5} ★</a:t>
            </a:r>
          </a:p>
          <a:p>
            <a:pPr lvl="1"/>
            <a:r>
              <a:rPr lang="en-IN" b="1" dirty="0"/>
              <a:t>Warm Training</a:t>
            </a:r>
            <a:r>
              <a:rPr lang="en-IN" dirty="0"/>
              <a:t>: Fast 2–5 epochs of standard unweighted cross-entropy to initialize latent embedding spaces.</a:t>
            </a:r>
          </a:p>
          <a:p>
            <a:pPr lvl="1">
              <a:defRPr b="1" sz="1500">
                <a:solidFill>
                  <a:srgbClr val="1E293B"/>
                </a:solidFill>
                <a:latin typeface="Calibri"/>
              </a:defRPr>
            </a:pPr>
            <a:r>
              <a:t>End-to-End Architectural Pipeline Flow: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Stage 1: Multi-View Tri-Signal Defense (Statistical RRFN + LLM Auditor + Spatiotemporal Bomb Scorer).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Stage 2: Convex Reliability Fusion generating continuous sample weights w(u, i) in [0.02, 1.0].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Stage 3: Reliability-Weighted Pareto Partitioning creating attack-invariant Head and Tail catalog sets.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Stage 4: Decoupled Dual Training (M_pop and M_tail experts) using Risk-Consistent Loss with Delta T slack.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Stage 5: Bayesian Popularity Inclination (C_tilde_u) &amp; Blueprint Denoising pruning poisoned history.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Stage 6: Calibrated Soft Top-N Merging producing multi-objective Pareto-optimal recommendation lists.</a:t>
            </a:r>
          </a:p>
          <a:p>
            <a:pPr lvl="1">
              <a:defRPr b="1" sz="1500">
                <a:solidFill>
                  <a:srgbClr val="1E293B"/>
                </a:solidFill>
                <a:latin typeface="Calibri"/>
              </a:defRPr>
            </a:pPr>
            <a:r>
              <a:t>Why This Architecture Succeeds: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Orthogonal defenses cover each other's blind spots; decoupled neural heads prevent gradient dominance.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5275D9-4BB1-3A67-6EB8-E349C5EF21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 wrap="none"/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9/15/2026</a:t>
            </a:r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52FE82-C1C8-97A8-583B-C0E5784EF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 wrap="none"/>
          <a:lstStyle/>
          <a:p>
            <a:pPr>
              <a:defRPr b="1" sz="1400">
                <a:solidFill>
                  <a:srgbClr val="FFFF00"/>
                </a:solidFill>
              </a:defRPr>
            </a:pPr>
            <a:r>
              <a:t>BCSE497J Project I - Review II</a:t>
            </a:r>
            <a:endParaRPr lang="en-US" sz="2000" b="1" dirty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AB508C-8B8F-C1DF-2866-5ACCB3EF0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4194" y="6797759"/>
            <a:ext cx="2939997" cy="383297"/>
          </a:xfrm>
        </p:spPr>
        <p:txBody>
          <a:bodyPr wrap="none"/>
          <a:lstStyle/>
          <a:p>
            <a:pPr algn="r">
              <a:defRPr b="1" sz="1400">
                <a:solidFill>
                  <a:srgbClr val="FFFFFF"/>
                </a:solidFill>
              </a:defRPr>
            </a:pPr>
            <a:r>
              <a:t>4</a:t>
            </a:r>
            <a:endParaRPr lang="en-US" sz="20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28BF39-B621-98B6-A6AF-4D38159CAC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81907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60490-6D01-55F2-76AF-8DDC063FF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D378F2D-095F-8ADF-9516-00239CD7E8E7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09D229-925D-895E-49B6-278456FDB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708000" cy="1260000"/>
          </a:xfrm>
          <a:solidFill>
            <a:srgbClr val="000066"/>
          </a:solidFill>
          <a:ln>
            <a:noFill/>
          </a:ln>
        </p:spPr>
        <p:txBody>
          <a:bodyPr wrap="square" lIns="365760" tIns="182880">
            <a:normAutofit fontScale="90000"/>
          </a:bodyPr>
          <a:lstStyle/>
          <a:p>
            <a:pPr marL="715963" algn="l">
              <a:defRPr b="1" sz="2200">
                <a:solidFill>
                  <a:srgbClr val="FFFFFF"/>
                </a:solidFill>
                <a:latin typeface="Calibri"/>
              </a:defRPr>
            </a:pPr>
            <a:r>
              <a:t> Step 1: Data Ingestion, Filtering &amp; Leakage-Free Temporal Split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65BC0-9FE8-88B6-163A-92B5859547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029200"/>
          </a:xfrm>
          <a:ln w="28575">
            <a:solidFill>
              <a:srgbClr val="000066"/>
            </a:solidFill>
          </a:ln>
        </p:spPr>
        <p:txBody>
          <a:bodyPr wrap="square" lIns="182880" tIns="73152">
            <a:normAutofit fontScale="92500" lnSpcReduction="20000"/>
          </a:bodyPr>
          <a:lstStyle/>
          <a:p>
            <a:pPr>
              <a:defRPr b="1" sz="1800">
                <a:solidFill>
                  <a:srgbClr val="000066"/>
                </a:solidFill>
                <a:latin typeface="Calibri"/>
              </a:defRPr>
            </a:pPr>
            <a:r>
              <a:t>Core Goal: Ingest MovieLens-1M data, prevent cold-start sparsity, and eliminate look-ahead leakage.</a:t>
            </a:r>
          </a:p>
          <a:p>
            <a:pPr lvl="0"/>
            <a:r>
              <a:rPr lang="en-IN" b="1" dirty="0"/>
              <a:t>Two-Step Mechanism</a:t>
            </a:r>
            <a:r>
              <a:rPr lang="en-IN" dirty="0"/>
              <a:t>:</a:t>
            </a:r>
          </a:p>
          <a:p>
            <a:pPr lvl="1"/>
            <a:r>
              <a:rPr lang="en-IN" b="1" dirty="0"/>
              <a:t>Anchor Point Selection</a:t>
            </a:r>
            <a:r>
              <a:rPr lang="en-IN" dirty="0"/>
              <a:t>:</a:t>
            </a:r>
          </a:p>
          <a:p>
            <a:pPr lvl="2"/>
            <a:r>
              <a:rPr lang="en-IN" dirty="0"/>
              <a:t>Identifies instances where the model's posterior confidence is &gt;= 90% for true class k.</a:t>
            </a:r>
          </a:p>
          <a:p>
            <a:pPr lvl="1"/>
            <a:r>
              <a:rPr lang="en-IN" b="1" dirty="0"/>
              <a:t>Transition Matrix Estimation (T)</a:t>
            </a:r>
            <a:r>
              <a:rPr lang="en-IN" dirty="0"/>
              <a:t>:</a:t>
            </a:r>
          </a:p>
          <a:p>
            <a:pPr lvl="2"/>
            <a:r>
              <a:rPr lang="en-IN" dirty="0"/>
              <a:t>Computes the empirical conditional probability of corruption: </a:t>
            </a:r>
          </a:p>
          <a:p>
            <a:pPr marL="914400" lvl="2" indent="0">
              <a:buNone/>
            </a:pPr>
            <a:endParaRPr lang="en-IN" dirty="0"/>
          </a:p>
          <a:p>
            <a:pPr marL="914400" lvl="2" indent="0">
              <a:buNone/>
            </a:pPr>
            <a:endParaRPr lang="en-IN" dirty="0"/>
          </a:p>
          <a:p>
            <a:pPr marL="914400" lvl="2" indent="0">
              <a:buNone/>
            </a:pPr>
            <a:endParaRPr lang="en-IN" dirty="0"/>
          </a:p>
          <a:p>
            <a:pPr lvl="1"/>
            <a:r>
              <a:rPr lang="en-IN" b="1" dirty="0"/>
              <a:t>Learnable Regularized Slack (Delta T)</a:t>
            </a:r>
            <a:r>
              <a:rPr lang="en-IN" dirty="0"/>
              <a:t>:</a:t>
            </a:r>
          </a:p>
          <a:p>
            <a:pPr lvl="2"/>
            <a:r>
              <a:rPr lang="en-IN" dirty="0"/>
              <a:t>Dynamically tuned during risk-consistent training.</a:t>
            </a:r>
          </a:p>
          <a:p>
            <a:pPr lvl="1">
              <a:defRPr b="1" sz="1500">
                <a:solidFill>
                  <a:srgbClr val="1E293B"/>
                </a:solidFill>
                <a:latin typeface="Calibri"/>
              </a:defRPr>
            </a:pPr>
            <a:r>
              <a:t>Iterative k-Core Graph Filtering (k &gt;= 5):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Prunes users and items with &lt; 5 interactions until convergence to eliminate trivial cold-start artifacts.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Preserves natural power-law catalog distributions, authentic community structure, and real graph connectivity.</a:t>
            </a:r>
          </a:p>
          <a:p>
            <a:pPr lvl="1">
              <a:defRPr b="1" sz="1500">
                <a:solidFill>
                  <a:srgbClr val="1E293B"/>
                </a:solidFill>
                <a:latin typeface="Calibri"/>
              </a:defRPr>
            </a:pPr>
            <a:r>
              <a:t>Contiguous 0-Indexed Remapping: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Maps arbitrary non-sequential MovieLens user and movie IDs into dense contiguous tensor spaces for neural embedding lookups.</a:t>
            </a:r>
          </a:p>
          <a:p>
            <a:pPr lvl="1">
              <a:defRPr b="1" sz="1500">
                <a:solidFill>
                  <a:srgbClr val="1E293B"/>
                </a:solidFill>
                <a:latin typeface="Calibri"/>
              </a:defRPr>
            </a:pPr>
            <a:r>
              <a:t>Strict Temporal Leave-One-Out (LOO) Partitioning: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Test Set: The chronological last interaction per user (timestamp N).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Validation Set: The second-to-last interaction per user (timestamp N-1).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Training Set: All preceding interactions (timestamps 1 to N-2).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Zero Look-Ahead Bias: Guarantees future interactions never contaminate training representations.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B32233-3B70-48E4-2B4E-9BFCA18252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 wrap="none"/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9/15/2026</a:t>
            </a:r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77F704-2200-8BC0-3E4B-4403BC90A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 wrap="none"/>
          <a:lstStyle/>
          <a:p>
            <a:pPr>
              <a:defRPr b="1" sz="1400">
                <a:solidFill>
                  <a:srgbClr val="FFFF00"/>
                </a:solidFill>
              </a:defRPr>
            </a:pPr>
            <a:r>
              <a:t>BCSE497J Project I - Review II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F53A96-AA65-A6FF-95A7-4B6537FF9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4194" y="6797759"/>
            <a:ext cx="2939997" cy="383297"/>
          </a:xfrm>
        </p:spPr>
        <p:txBody>
          <a:bodyPr wrap="none"/>
          <a:lstStyle/>
          <a:p>
            <a:pPr algn="r">
              <a:defRPr b="1" sz="1400">
                <a:solidFill>
                  <a:srgbClr val="FFFFFF"/>
                </a:solidFill>
              </a:defRPr>
            </a:pPr>
            <a:r>
              <a:t>5</a:t>
            </a:r>
            <a:endParaRPr lang="en-US" sz="20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C6DB7B8-CC6E-97E5-8AE7-E158FC0F328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8DF1FB2-C185-C017-A5B7-13BF0950B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0401" y="4514512"/>
            <a:ext cx="3977985" cy="87637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61103CB-D771-2B33-9AED-D1ABAE3F79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7183" y="5590399"/>
            <a:ext cx="3254022" cy="777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27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C1439-1DCD-DCAE-3D85-C1E0F96F8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9231FF-D4FA-7E93-D757-00CC294C9617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6F9090-A830-BB58-76E9-5CD5900E6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708000" cy="1260000"/>
          </a:xfrm>
          <a:solidFill>
            <a:srgbClr val="000066"/>
          </a:solidFill>
          <a:ln>
            <a:noFill/>
          </a:ln>
        </p:spPr>
        <p:txBody>
          <a:bodyPr wrap="square" lIns="365760" tIns="182880">
            <a:normAutofit fontScale="90000"/>
          </a:bodyPr>
          <a:lstStyle/>
          <a:p>
            <a:pPr marL="717550" algn="l">
              <a:defRPr b="1" sz="2200">
                <a:solidFill>
                  <a:srgbClr val="FFFFFF"/>
                </a:solidFill>
                <a:latin typeface="Calibri"/>
              </a:defRPr>
            </a:pPr>
            <a:r>
              <a:t> Step 2: Threat Modeling &amp; Adversarial Attack Simulation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C4ED7-8E2B-C6ED-44CC-8676C771F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029200"/>
          </a:xfrm>
          <a:ln w="28575">
            <a:solidFill>
              <a:srgbClr val="000066"/>
            </a:solidFill>
          </a:ln>
        </p:spPr>
        <p:txBody>
          <a:bodyPr wrap="square" lIns="182880" tIns="73152">
            <a:normAutofit fontScale="92500" lnSpcReduction="10000"/>
          </a:bodyPr>
          <a:lstStyle/>
          <a:p>
            <a:pPr marL="228600" indent="-228600">
              <a:buFont typeface="+mj-lt"/>
              <a:buAutoNum type="arabicPeriod"/>
              <a:defRPr b="1" sz="1800">
                <a:solidFill>
                  <a:srgbClr val="000066"/>
                </a:solidFill>
                <a:latin typeface="Calibri"/>
              </a:defRPr>
            </a:pPr>
            <a:r>
              <a:t>Core Goal: Rigorously stress-test the recommender under 4 realistic adversarial threat models.</a:t>
            </a:r>
          </a:p>
          <a:p>
            <a:pPr lvl="0"/>
            <a:r>
              <a:rPr lang="en-IN" b="1" dirty="0"/>
              <a:t>The 3 Signals Explained</a:t>
            </a:r>
            <a:r>
              <a:rPr lang="en-IN" dirty="0"/>
              <a:t>:</a:t>
            </a:r>
          </a:p>
          <a:p>
            <a:pPr lvl="1"/>
            <a:r>
              <a:rPr lang="en-IN" b="1" dirty="0"/>
              <a:t>RRFN (Statistical)</a:t>
            </a:r>
            <a:r>
              <a:rPr lang="en-IN" dirty="0"/>
              <a:t>: Ratio of observed rating probability vs. maximum predicted class probability.</a:t>
            </a:r>
          </a:p>
          <a:p>
            <a:pPr lvl="1"/>
            <a:r>
              <a:rPr lang="en-IN" b="1" dirty="0"/>
              <a:t>LLM (Semantic Profile Auditor)</a:t>
            </a:r>
            <a:r>
              <a:rPr lang="en-IN" dirty="0"/>
              <a:t>:</a:t>
            </a:r>
          </a:p>
          <a:p>
            <a:pPr lvl="2"/>
            <a:r>
              <a:rPr lang="en-IN" dirty="0"/>
              <a:t>Pre-filter sends only suspicious ratings (RRFN &lt; 0.60$) to Gemini 2.5 Flash / LLM auditor to conserve compute.</a:t>
            </a:r>
          </a:p>
          <a:p>
            <a:pPr lvl="2"/>
            <a:r>
              <a:rPr lang="en-IN" dirty="0"/>
              <a:t>Evaluates user genre history vs. evaluated title to cached in SQLite (</a:t>
            </a:r>
            <a:r>
              <a:rPr lang="en-IN" dirty="0" err="1"/>
              <a:t>llm_cache.db</a:t>
            </a:r>
            <a:r>
              <a:rPr lang="en-IN" dirty="0"/>
              <a:t>).</a:t>
            </a:r>
          </a:p>
          <a:p>
            <a:pPr lvl="1"/>
            <a:r>
              <a:rPr lang="en-IN" b="1" dirty="0"/>
              <a:t>Bomb (Review-Bombing)</a:t>
            </a:r>
            <a:r>
              <a:rPr lang="en-IN" dirty="0"/>
              <a:t>:</a:t>
            </a:r>
          </a:p>
          <a:p>
            <a:pPr lvl="2"/>
            <a:r>
              <a:rPr lang="en-IN" dirty="0"/>
              <a:t>Detects temporal burst acceleration A(</a:t>
            </a:r>
            <a:r>
              <a:rPr lang="en-IN" dirty="0" err="1"/>
              <a:t>i</a:t>
            </a:r>
            <a:r>
              <a:rPr lang="en-IN" dirty="0"/>
              <a:t>, t) and rating polarity skew S(</a:t>
            </a:r>
            <a:r>
              <a:rPr lang="en-IN" dirty="0" err="1"/>
              <a:t>i</a:t>
            </a:r>
            <a:r>
              <a:rPr lang="en-IN" dirty="0"/>
              <a:t>, t) within sliding time windows.</a:t>
            </a:r>
          </a:p>
          <a:p>
            <a:pPr marL="228600" lvl="0" indent="-228600">
              <a:buFont typeface="+mj-lt"/>
              <a:buAutoNum type="arabicPeriod"/>
            </a:pPr>
            <a:endParaRPr lang="en-IN" sz="1600" dirty="0"/>
          </a:p>
          <a:p>
            <a:pPr lvl="1">
              <a:defRPr b="1" sz="1500">
                <a:solidFill>
                  <a:srgbClr val="1E293B"/>
                </a:solidFill>
                <a:latin typeface="Calibri"/>
              </a:defRPr>
            </a:pPr>
            <a:r>
              <a:t>Adversarial Attack Simulation Suite (Noise Budget rho in [5%, 20%]):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1. Random Rating Flip Noise: Simulates noisy data transmission, accidental clicks, or stochastic user entry error.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2. Bandwagon Shilling: Sybil bot accounts rate popular blockbusters high to build false credibility, while pushing target long-tail items with 5-star ratings.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3. Nuke Review-Bombing: Coordinated bot flood dropping 1-star ratings on popular head items within sliding 24-hour temporal windows to artificially suppress competitor items.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4. AGAS (Agentic Group Shilling - ICDM 2026): Multi-agent bot coordination (mainstream team + niche team) with staggered multi-round profile activation to evade standard statistical filters.</a:t>
            </a:r>
          </a:p>
          <a:p>
            <a:pPr lvl="1">
              <a:defRPr b="1" sz="1500">
                <a:solidFill>
                  <a:srgbClr val="1E293B"/>
                </a:solidFill>
                <a:latin typeface="Calibri"/>
              </a:defRPr>
            </a:pPr>
            <a:r>
              <a:t>Strict Ground-Truth Integrity: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Only the Training partition is attacked; Validation and Test sets remain 100% clean ground truth.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E4FC16-836B-C02E-7652-0DFD859ED0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 wrap="none"/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9/15/2026</a:t>
            </a:r>
            <a:endParaRPr lang="en-US" sz="20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8F6E8A-E4C4-BBC3-295A-736F6E13D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 wrap="none"/>
          <a:lstStyle/>
          <a:p>
            <a:pPr>
              <a:defRPr b="1" sz="1400">
                <a:solidFill>
                  <a:srgbClr val="FFFF00"/>
                </a:solidFill>
              </a:defRPr>
            </a:pPr>
            <a:r>
              <a:t>BCSE497J Project I - Review II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E3249A-E045-C6C3-8196-096E20DE5A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2877D2-F07B-69E0-94B1-EF027DB06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none"/>
          <a:lstStyle/>
          <a:p>
            <a:pPr algn="r">
              <a:defRPr b="1" sz="1400">
                <a:solidFill>
                  <a:srgbClr val="FFFFFF"/>
                </a:solidFill>
              </a:defRPr>
            </a:pPr>
            <a:r>
              <a:t>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869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A0DFC-8877-ABC8-5AA2-7F0CAB5F2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CCB92E6-2370-B6D6-C392-C21102625E0D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07CECD-4EA2-6727-205A-76EE6A9BA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708000" cy="1260000"/>
          </a:xfrm>
          <a:solidFill>
            <a:srgbClr val="000066"/>
          </a:solidFill>
          <a:ln>
            <a:noFill/>
          </a:ln>
        </p:spPr>
        <p:txBody>
          <a:bodyPr wrap="square" lIns="365760" tIns="182880">
            <a:normAutofit fontScale="90000"/>
          </a:bodyPr>
          <a:lstStyle/>
          <a:p>
            <a:pPr marL="717550" algn="l">
              <a:defRPr b="1" sz="2200">
                <a:solidFill>
                  <a:srgbClr val="FFFFFF"/>
                </a:solidFill>
                <a:latin typeface="Calibri"/>
              </a:defRPr>
            </a:pPr>
            <a:r>
              <a:t> Step 3: Tri-Signal Multi-View Reliability Extraction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E93C8-526B-5326-7D7B-358C48C1C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029200"/>
          </a:xfrm>
          <a:ln w="28575">
            <a:solidFill>
              <a:srgbClr val="000066"/>
            </a:solidFill>
          </a:ln>
        </p:spPr>
        <p:txBody>
          <a:bodyPr wrap="square" lIns="182880" tIns="73152">
            <a:normAutofit fontScale="92500" lnSpcReduction="10000"/>
          </a:bodyPr>
          <a:lstStyle/>
          <a:p>
            <a:pPr>
              <a:defRPr b="1" sz="1800">
                <a:solidFill>
                  <a:srgbClr val="000066"/>
                </a:solidFill>
                <a:latin typeface="Calibri"/>
              </a:defRPr>
            </a:pPr>
            <a:r>
              <a:t>Core Goal: Extract 3 orthogonal trust signals for every interaction before sample fusion.</a:t>
            </a:r>
          </a:p>
          <a:p>
            <a:r>
              <a:rPr lang="en-IN" b="1" dirty="0"/>
              <a:t>Key Formulation &amp; Mechanics</a:t>
            </a:r>
            <a:r>
              <a:rPr lang="en-IN" dirty="0"/>
              <a:t>:</a:t>
            </a:r>
          </a:p>
          <a:p>
            <a:pPr lvl="1"/>
            <a:r>
              <a:rPr lang="en-IN" b="1" dirty="0"/>
              <a:t>Convex Linear Combination Formulation</a:t>
            </a:r>
            <a:r>
              <a:rPr lang="en-IN" dirty="0"/>
              <a:t>:</a:t>
            </a:r>
          </a:p>
          <a:p>
            <a:pPr lvl="2"/>
            <a:r>
              <a:rPr lang="en-IN" b="1" dirty="0"/>
              <a:t>w(u, </a:t>
            </a:r>
            <a:r>
              <a:rPr lang="en-IN" b="1" dirty="0" err="1"/>
              <a:t>i</a:t>
            </a:r>
            <a:r>
              <a:rPr lang="en-IN" b="1" dirty="0"/>
              <a:t>) = </a:t>
            </a:r>
            <a:r>
              <a:rPr lang="el-GR" b="1" dirty="0"/>
              <a:t>α · </a:t>
            </a:r>
            <a:r>
              <a:rPr lang="en-IN" b="1" dirty="0"/>
              <a:t>R_RRFN(u, </a:t>
            </a:r>
            <a:r>
              <a:rPr lang="en-IN" b="1" dirty="0" err="1"/>
              <a:t>i</a:t>
            </a:r>
            <a:r>
              <a:rPr lang="en-IN" b="1" dirty="0"/>
              <a:t>) + </a:t>
            </a:r>
            <a:r>
              <a:rPr lang="el-GR" b="1" dirty="0"/>
              <a:t>β · </a:t>
            </a:r>
            <a:r>
              <a:rPr lang="en-IN" b="1" dirty="0"/>
              <a:t>R_LLM(u, </a:t>
            </a:r>
            <a:r>
              <a:rPr lang="en-IN" b="1" dirty="0" err="1"/>
              <a:t>i</a:t>
            </a:r>
            <a:r>
              <a:rPr lang="en-IN" b="1" dirty="0"/>
              <a:t>) + </a:t>
            </a:r>
            <a:r>
              <a:rPr lang="el-GR" b="1" dirty="0"/>
              <a:t>γ · </a:t>
            </a:r>
            <a:r>
              <a:rPr lang="en-IN" b="1" dirty="0" err="1"/>
              <a:t>R_bomb</a:t>
            </a:r>
            <a:r>
              <a:rPr lang="en-IN" b="1" dirty="0"/>
              <a:t>(</a:t>
            </a:r>
            <a:r>
              <a:rPr lang="en-IN" b="1" dirty="0" err="1"/>
              <a:t>i</a:t>
            </a:r>
            <a:r>
              <a:rPr lang="en-IN" b="1" dirty="0"/>
              <a:t>, t)</a:t>
            </a:r>
          </a:p>
          <a:p>
            <a:pPr lvl="2"/>
            <a:r>
              <a:rPr lang="en-IN" b="1" dirty="0"/>
              <a:t>Normalized constraints: </a:t>
            </a:r>
            <a:r>
              <a:rPr lang="el-GR" b="1" dirty="0"/>
              <a:t>α + β + γ = 1.0 (</a:t>
            </a:r>
            <a:r>
              <a:rPr lang="en-IN" b="1" dirty="0"/>
              <a:t>Default config: </a:t>
            </a:r>
            <a:r>
              <a:rPr lang="el-GR" b="1" dirty="0"/>
              <a:t>α = 0.50, β = 0.30, γ = 0.20).</a:t>
            </a:r>
          </a:p>
          <a:p>
            <a:pPr lvl="1"/>
            <a:r>
              <a:rPr lang="en-IN" b="1" dirty="0"/>
              <a:t>Non-Zero Reliability Floor (</a:t>
            </a:r>
            <a:r>
              <a:rPr lang="el-GR" b="1" dirty="0"/>
              <a:t>ε_</a:t>
            </a:r>
            <a:r>
              <a:rPr lang="en-IN" b="1" dirty="0"/>
              <a:t>min = 0.02)</a:t>
            </a:r>
            <a:r>
              <a:rPr lang="en-IN" dirty="0"/>
              <a:t>:</a:t>
            </a:r>
          </a:p>
          <a:p>
            <a:pPr lvl="2"/>
            <a:r>
              <a:rPr lang="en-IN" b="1" dirty="0"/>
              <a:t>Suspicious interactions are softly </a:t>
            </a:r>
            <a:r>
              <a:rPr lang="en-IN" b="1" dirty="0" err="1"/>
              <a:t>downweighted</a:t>
            </a:r>
            <a:r>
              <a:rPr lang="en-IN" b="1" dirty="0"/>
              <a:t> rather than hard-dropped to preserve gradient stability and graph connectivity.</a:t>
            </a:r>
          </a:p>
          <a:p>
            <a:pPr lvl="1"/>
            <a:r>
              <a:rPr lang="en-IN" b="1" dirty="0"/>
              <a:t>Downstream Integration</a:t>
            </a:r>
            <a:r>
              <a:rPr lang="en-IN" dirty="0"/>
              <a:t>:</a:t>
            </a:r>
          </a:p>
          <a:p>
            <a:pPr lvl="2"/>
            <a:r>
              <a:rPr lang="en-IN" b="1" dirty="0"/>
              <a:t>w(u, </a:t>
            </a:r>
            <a:r>
              <a:rPr lang="en-IN" b="1" dirty="0" err="1"/>
              <a:t>i</a:t>
            </a:r>
            <a:r>
              <a:rPr lang="en-IN" b="1" dirty="0"/>
              <a:t>) serves as the unified confidence weight across Pareto partitioning, neural loss functions, and blueprint merging.</a:t>
            </a:r>
          </a:p>
          <a:p>
            <a:pPr lvl="1">
              <a:defRPr b="1" sz="1500">
                <a:solidFill>
                  <a:srgbClr val="1E293B"/>
                </a:solidFill>
                <a:latin typeface="Calibri"/>
              </a:defRPr>
            </a:pPr>
            <a:r>
              <a:t>Why Single Defenses Fail: Statistical tests miss semantic nuance; LLMs are costly; time filters miss slow attacks.</a:t>
            </a:r>
          </a:p>
          <a:p>
            <a:pPr lvl="1">
              <a:defRPr b="1" sz="1500">
                <a:solidFill>
                  <a:srgbClr val="1E293B"/>
                </a:solidFill>
                <a:latin typeface="Calibri"/>
              </a:defRPr>
            </a:pPr>
            <a:r>
              <a:t>The 3 Complementary Defense Pillars:</a:t>
            </a:r>
          </a:p>
          <a:p>
            <a:pPr lvl="2">
              <a:defRPr b="1" sz="1400">
                <a:solidFill>
                  <a:srgbClr val="1E293B"/>
                </a:solidFill>
                <a:latin typeface="Calibri"/>
              </a:defRPr>
            </a:pPr>
            <a:r>
              <a:t>1. Statistical Consistency Signal (R_RRFN):</a:t>
            </a:r>
          </a:p>
          <a:p>
            <a:pPr lvl="2">
              <a:defRPr b="0" sz="1350">
                <a:solidFill>
                  <a:srgbClr val="334155"/>
                </a:solidFill>
                <a:latin typeface="Calibri"/>
              </a:defRPr>
            </a:pPr>
            <a:r>
              <a:t>Calculated as posterior probability ratio: R_RRFN(u, i) = P(Y=y_obs | u, i) / (max_k P(Y=k | u, i) + epsilon) from warm NeuMF.</a:t>
            </a:r>
          </a:p>
          <a:p>
            <a:pPr lvl="2">
              <a:defRPr b="1" sz="1400">
                <a:solidFill>
                  <a:srgbClr val="1E293B"/>
                </a:solidFill>
                <a:latin typeface="Calibri"/>
              </a:defRPr>
            </a:pPr>
            <a:r>
              <a:t>2. Semantic Profile Auditor (R_LLM):</a:t>
            </a:r>
          </a:p>
          <a:p>
            <a:pPr lvl="2">
              <a:defRPr b="0" sz="1350">
                <a:solidFill>
                  <a:srgbClr val="334155"/>
                </a:solidFill>
                <a:latin typeface="Calibri"/>
              </a:defRPr>
            </a:pPr>
            <a:r>
              <a:t>Pre-filters to suspicious items (R_RRFN &lt; 0.60) to slash API latency/cost by &gt;95%; queries Gemini 3.6 Flash.</a:t>
            </a:r>
          </a:p>
          <a:p>
            <a:pPr lvl="2">
              <a:defRPr b="0" sz="1350">
                <a:solidFill>
                  <a:srgbClr val="334155"/>
                </a:solidFill>
                <a:latin typeface="Calibri"/>
              </a:defRPr>
            </a:pPr>
            <a:r>
              <a:t>Evaluates user taste coherence against target movie metadata with SQLite prompt caching (llm_cache.db).</a:t>
            </a:r>
          </a:p>
          <a:p>
            <a:pPr lvl="2">
              <a:defRPr b="1" sz="1400">
                <a:solidFill>
                  <a:srgbClr val="1E293B"/>
                </a:solidFill>
                <a:latin typeface="Calibri"/>
              </a:defRPr>
            </a:pPr>
            <a:r>
              <a:t>3. Spatiotemporal Anomaly Detector (R_bomb):</a:t>
            </a:r>
          </a:p>
          <a:p>
            <a:pPr lvl="2">
              <a:defRPr b="0" sz="1350">
                <a:solidFill>
                  <a:srgbClr val="334155"/>
                </a:solidFill>
                <a:latin typeface="Calibri"/>
              </a:defRPr>
            </a:pPr>
            <a:r>
              <a:t>Measures temporal burst acceleration A(i, t) via binary search and rating polarity skew S(i, t) via prefix sums.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E71E33-0623-22B6-F0D9-8D49BF20D8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 wrap="none"/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9/15/2026</a:t>
            </a:r>
            <a:endParaRPr lang="en-US" sz="20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7F2A2B-DD93-5045-021A-1C8110ECC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 wrap="none"/>
          <a:lstStyle/>
          <a:p>
            <a:pPr>
              <a:defRPr b="1" sz="1400">
                <a:solidFill>
                  <a:srgbClr val="FFFF00"/>
                </a:solidFill>
              </a:defRPr>
            </a:pPr>
            <a:r>
              <a:t>BCSE497J Project I - Review II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2D6FD4-74E1-D664-4FA8-A8AECAF215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000EE8-32E2-3019-2A99-5C1F9AC04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none"/>
          <a:lstStyle/>
          <a:p>
            <a:pPr algn="r">
              <a:defRPr b="1" sz="1400">
                <a:solidFill>
                  <a:srgbClr val="FFFFFF"/>
                </a:solidFill>
              </a:defRPr>
            </a:pPr>
            <a:r>
              <a:t>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833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69F0E-C54F-C228-E2D0-151F1C4C0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8E2F09D-39D8-CBDF-DD92-D39BD909B993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F16FEF-C93A-FD99-8400-48F1A01D5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708000" cy="1260000"/>
          </a:xfrm>
          <a:solidFill>
            <a:srgbClr val="000066"/>
          </a:solidFill>
          <a:ln>
            <a:noFill/>
          </a:ln>
        </p:spPr>
        <p:txBody>
          <a:bodyPr wrap="square" lIns="365760" tIns="182880">
            <a:normAutofit fontScale="90000"/>
          </a:bodyPr>
          <a:lstStyle/>
          <a:p>
            <a:pPr marL="717550" algn="l">
              <a:defRPr b="1" sz="2200">
                <a:solidFill>
                  <a:srgbClr val="FFFFFF"/>
                </a:solidFill>
                <a:latin typeface="Calibri"/>
              </a:defRPr>
            </a:pPr>
            <a:r>
              <a:t> Step 4: Convex Reliability Fusion &amp; Sample Reweighting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E5EB4-F8FB-C0EE-F5E7-73EF51C9D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029200"/>
          </a:xfrm>
          <a:ln w="28575">
            <a:solidFill>
              <a:srgbClr val="000066"/>
            </a:solidFill>
          </a:ln>
        </p:spPr>
        <p:txBody>
          <a:bodyPr wrap="square" lIns="182880" tIns="73152">
            <a:normAutofit fontScale="92500" lnSpcReduction="20000"/>
          </a:bodyPr>
          <a:lstStyle/>
          <a:p>
            <a:pPr>
              <a:defRPr b="1" sz="1800">
                <a:solidFill>
                  <a:srgbClr val="000066"/>
                </a:solidFill>
                <a:latin typeface="Calibri"/>
              </a:defRPr>
            </a:pPr>
            <a:r>
              <a:t>Core Goal: Synthesize the 3 orthogonal signals into continuous sample reliability weights w(u, i).</a:t>
            </a:r>
          </a:p>
          <a:p>
            <a:r>
              <a:rPr lang="en-US" b="1" dirty="0"/>
              <a:t>Key Principles &amp; Partitioning Logic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Reliability-Weighted Effective Volume (</a:t>
            </a:r>
            <a:r>
              <a:rPr lang="en-US" b="1" dirty="0" err="1"/>
              <a:t>V_eff</a:t>
            </a:r>
            <a:r>
              <a:rPr lang="en-US" b="1" dirty="0"/>
              <a:t>)</a:t>
            </a:r>
            <a:r>
              <a:rPr lang="en-US" dirty="0"/>
              <a:t>:</a:t>
            </a:r>
          </a:p>
          <a:p>
            <a:pPr lvl="2"/>
            <a:r>
              <a:rPr lang="en-US" b="1" dirty="0" err="1"/>
              <a:t>V_eff</a:t>
            </a:r>
            <a:r>
              <a:rPr lang="en-US" b="1" dirty="0"/>
              <a:t>(</a:t>
            </a:r>
            <a:r>
              <a:rPr lang="en-US" b="1" dirty="0" err="1"/>
              <a:t>i</a:t>
            </a:r>
            <a:r>
              <a:rPr lang="en-US" b="1" dirty="0"/>
              <a:t>) = ∑_{u ∈ </a:t>
            </a:r>
            <a:r>
              <a:rPr lang="en-US" b="1" dirty="0" err="1"/>
              <a:t>U_i</a:t>
            </a:r>
            <a:r>
              <a:rPr lang="en-US" b="1" dirty="0"/>
              <a:t>} w(u, </a:t>
            </a:r>
            <a:r>
              <a:rPr lang="en-US" b="1" dirty="0" err="1"/>
              <a:t>i</a:t>
            </a:r>
            <a:r>
              <a:rPr lang="en-US" b="1" dirty="0"/>
              <a:t>) (Weighted sum instead of raw interaction counts ∑ 1).</a:t>
            </a:r>
          </a:p>
          <a:p>
            <a:pPr lvl="2"/>
            <a:r>
              <a:rPr lang="en-US" b="1" dirty="0"/>
              <a:t>Prevents sybil botnets and bandwagon shilling from falsely inflating obscure tail items into head status.</a:t>
            </a:r>
          </a:p>
          <a:p>
            <a:pPr lvl="1"/>
            <a:r>
              <a:rPr lang="en-US" b="1" dirty="0"/>
              <a:t>Pareto Volume Boundary (α = 0.20)</a:t>
            </a:r>
            <a:r>
              <a:rPr lang="en-US" dirty="0"/>
              <a:t>:</a:t>
            </a:r>
          </a:p>
          <a:p>
            <a:pPr lvl="2"/>
            <a:r>
              <a:rPr lang="en-US" b="1" dirty="0"/>
              <a:t>Items sorted in descending order of </a:t>
            </a:r>
            <a:r>
              <a:rPr lang="en-US" b="1" dirty="0" err="1"/>
              <a:t>V_eff</a:t>
            </a:r>
            <a:r>
              <a:rPr lang="en-US" b="1" dirty="0"/>
              <a:t>(</a:t>
            </a:r>
            <a:r>
              <a:rPr lang="en-US" b="1" dirty="0" err="1"/>
              <a:t>i</a:t>
            </a:r>
            <a:r>
              <a:rPr lang="en-US" b="1" dirty="0"/>
              <a:t>).</a:t>
            </a:r>
          </a:p>
          <a:p>
            <a:pPr lvl="2"/>
            <a:r>
              <a:rPr lang="en-US" b="1" dirty="0"/>
              <a:t>Head Set (H): Top items accumulating α · ∑ </a:t>
            </a:r>
            <a:r>
              <a:rPr lang="en-US" b="1" dirty="0" err="1"/>
              <a:t>V_eff</a:t>
            </a:r>
            <a:r>
              <a:rPr lang="en-US" b="1" dirty="0"/>
              <a:t> (the top ~20% of total volume).</a:t>
            </a:r>
          </a:p>
          <a:p>
            <a:pPr lvl="2"/>
            <a:r>
              <a:rPr lang="en-US" b="1" dirty="0"/>
              <a:t>Tail Set (T): Remaining long-tail items (T = I \ H).</a:t>
            </a:r>
          </a:p>
          <a:p>
            <a:pPr lvl="1"/>
            <a:r>
              <a:rPr lang="en-US" b="1" dirty="0"/>
              <a:t>Decoupled Specialization</a:t>
            </a:r>
            <a:r>
              <a:rPr lang="en-US" dirty="0"/>
              <a:t>: Segregates item spaces so head gradients do not dominate tail item representations.</a:t>
            </a:r>
          </a:p>
          <a:p>
            <a:pPr lvl="1">
              <a:defRPr b="1" sz="1500">
                <a:solidFill>
                  <a:srgbClr val="1E293B"/>
                </a:solidFill>
                <a:latin typeface="Calibri"/>
              </a:defRPr>
            </a:pPr>
            <a:r>
              <a:t>Mathematical Formulation (Convex Combination):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w(u, i) = alpha * R_RRFN(u, i) + beta * R_LLM(u, i) + gamma * R_bomb(i, t)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Normalized weights: alpha + beta + gamma = 1.0 (Optimal defaults: alpha = 0.50, beta = 0.30, gamma = 0.20).</a:t>
            </a:r>
          </a:p>
          <a:p>
            <a:pPr lvl="1">
              <a:defRPr b="1" sz="1500">
                <a:solidFill>
                  <a:srgbClr val="1E293B"/>
                </a:solidFill>
                <a:latin typeface="Calibri"/>
              </a:defRPr>
            </a:pPr>
            <a:r>
              <a:t>Critical Engineering Feature: Non-Zero Safety Floor (epsilon_min = 0.02):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w(u, i) = clip(w(u, i), min_weight=0.02, max_weight=1.00).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Why Not Hard Pruning (0.0)? Eliminating edges fragments bipartite user-item graphs and causes vanishing gradients; soft reweighting attenuates attack gradients by 98% while maintaining training stability.</a:t>
            </a:r>
          </a:p>
          <a:p>
            <a:pPr lvl="1">
              <a:defRPr b="1" sz="1500">
                <a:solidFill>
                  <a:srgbClr val="1E293B"/>
                </a:solidFill>
                <a:latin typeface="Calibri"/>
              </a:defRPr>
            </a:pPr>
            <a:r>
              <a:t>Downstream Role: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w(u, i) guides Pareto partitioning, loss weighting, and blueprint denoising throughout the pipeline.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58EEDC-0C9D-8540-4341-83AEECAD36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 wrap="none"/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9/15/2026</a:t>
            </a:r>
            <a:endParaRPr lang="en-US" sz="20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1C896C-489E-9420-5534-0CC57D745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 wrap="none"/>
          <a:lstStyle/>
          <a:p>
            <a:pPr>
              <a:defRPr b="1" sz="1400">
                <a:solidFill>
                  <a:srgbClr val="FFFF00"/>
                </a:solidFill>
              </a:defRPr>
            </a:pPr>
            <a:r>
              <a:t>BCSE497J Project I - Review II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6509470-56CC-4712-8084-446137FDE9A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57EC68-A7FA-3665-58C0-893DEF0A5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none"/>
          <a:lstStyle/>
          <a:p>
            <a:pPr algn="r">
              <a:defRPr b="1" sz="1400">
                <a:solidFill>
                  <a:srgbClr val="FFFFFF"/>
                </a:solidFill>
              </a:defRPr>
            </a:pPr>
            <a:r>
              <a:t>8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121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B2233-A30A-4E33-F097-9E4FA5856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5B886F5-E32D-D94C-A80E-E6C8F652F0A5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A88EB4-2CEE-6E54-BC4F-480727B45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708000" cy="1260000"/>
          </a:xfrm>
          <a:solidFill>
            <a:srgbClr val="000066"/>
          </a:solidFill>
          <a:ln>
            <a:noFill/>
          </a:ln>
        </p:spPr>
        <p:txBody>
          <a:bodyPr wrap="square" lIns="365760" tIns="182880">
            <a:normAutofit fontScale="90000"/>
          </a:bodyPr>
          <a:lstStyle/>
          <a:p>
            <a:pPr marL="717550" algn="l">
              <a:defRPr b="1" sz="2200">
                <a:solidFill>
                  <a:srgbClr val="FFFFFF"/>
                </a:solidFill>
                <a:latin typeface="Calibri"/>
              </a:defRPr>
            </a:pPr>
            <a:r>
              <a:t> Step 5: Noise Transition Modeling &amp; Risk-Consistent Loss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2AC5A-986B-45D3-BA2B-57F0448EB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029200"/>
          </a:xfrm>
          <a:ln w="28575">
            <a:solidFill>
              <a:srgbClr val="000066"/>
            </a:solidFill>
          </a:ln>
        </p:spPr>
        <p:txBody>
          <a:bodyPr wrap="square" lIns="182880" tIns="73152">
            <a:normAutofit fontScale="92500" lnSpcReduction="10000"/>
          </a:bodyPr>
          <a:lstStyle/>
          <a:p>
            <a:pPr>
              <a:defRPr b="1" sz="1800">
                <a:solidFill>
                  <a:srgbClr val="000066"/>
                </a:solidFill>
                <a:latin typeface="Calibri"/>
              </a:defRPr>
            </a:pPr>
            <a:r>
              <a:t>Core Goal: Model rating corruption probabilities and train models with forward-corrected risk loss.</a:t>
            </a:r>
          </a:p>
          <a:p>
            <a:r>
              <a:rPr lang="en-IN" b="1" dirty="0"/>
              <a:t>Dual Architecture &amp; Risk Loss Mechanics</a:t>
            </a:r>
            <a:r>
              <a:rPr lang="en-IN" dirty="0"/>
              <a:t>:</a:t>
            </a:r>
          </a:p>
          <a:p>
            <a:pPr lvl="1"/>
            <a:r>
              <a:rPr lang="en-IN" b="1" dirty="0"/>
              <a:t>Decoupled Dual Expert Models</a:t>
            </a:r>
            <a:r>
              <a:rPr lang="en-IN" dirty="0"/>
              <a:t>:</a:t>
            </a:r>
          </a:p>
          <a:p>
            <a:pPr lvl="2"/>
            <a:r>
              <a:rPr lang="en-IN" b="1" dirty="0" err="1"/>
              <a:t>M_pop</a:t>
            </a:r>
            <a:r>
              <a:rPr lang="en-IN" b="1" dirty="0"/>
              <a:t> (Popularity Specialist): Trained exclusively on Head interactions (u, </a:t>
            </a:r>
            <a:r>
              <a:rPr lang="en-IN" b="1" dirty="0" err="1"/>
              <a:t>i</a:t>
            </a:r>
            <a:r>
              <a:rPr lang="en-IN" b="1" dirty="0"/>
              <a:t>) ∈ H.</a:t>
            </a:r>
          </a:p>
          <a:p>
            <a:pPr lvl="2"/>
            <a:r>
              <a:rPr lang="en-IN" b="1" dirty="0" err="1"/>
              <a:t>M_tail</a:t>
            </a:r>
            <a:r>
              <a:rPr lang="en-IN" b="1" dirty="0"/>
              <a:t> (Niche Specialist): Trained exclusively on Tail interactions (u, </a:t>
            </a:r>
            <a:r>
              <a:rPr lang="en-IN" b="1" dirty="0" err="1"/>
              <a:t>i</a:t>
            </a:r>
            <a:r>
              <a:rPr lang="en-IN" b="1" dirty="0"/>
              <a:t>) ∈ T.</a:t>
            </a:r>
          </a:p>
          <a:p>
            <a:pPr lvl="1"/>
            <a:r>
              <a:rPr lang="en-IN" b="1" dirty="0"/>
              <a:t>Risk-Consistent Loss with Slack Regularization</a:t>
            </a:r>
            <a:r>
              <a:rPr lang="en-IN" dirty="0"/>
              <a:t>:</a:t>
            </a:r>
          </a:p>
          <a:p>
            <a:pPr lvl="2"/>
            <a:r>
              <a:rPr lang="en-IN" b="1" dirty="0" err="1"/>
              <a:t>L_risk</a:t>
            </a:r>
            <a:r>
              <a:rPr lang="en-IN" b="1" dirty="0"/>
              <a:t> = - 1/|B| ∑_{(</a:t>
            </a:r>
            <a:r>
              <a:rPr lang="en-IN" b="1" dirty="0" err="1"/>
              <a:t>u,i</a:t>
            </a:r>
            <a:r>
              <a:rPr lang="en-IN" b="1" dirty="0"/>
              <a:t>) ∈ B} w(u, </a:t>
            </a:r>
            <a:r>
              <a:rPr lang="en-IN" b="1" dirty="0" err="1"/>
              <a:t>i</a:t>
            </a:r>
            <a:r>
              <a:rPr lang="en-IN" b="1" dirty="0"/>
              <a:t>) · log([ p(u, </a:t>
            </a:r>
            <a:r>
              <a:rPr lang="en-IN" b="1" dirty="0" err="1"/>
              <a:t>i</a:t>
            </a:r>
            <a:r>
              <a:rPr lang="en-IN" b="1" dirty="0"/>
              <a:t>) · </a:t>
            </a:r>
            <a:r>
              <a:rPr lang="en-IN" b="1" dirty="0" err="1"/>
              <a:t>T_final</a:t>
            </a:r>
            <a:r>
              <a:rPr lang="en-IN" b="1" dirty="0"/>
              <a:t> ]_{</a:t>
            </a:r>
            <a:r>
              <a:rPr lang="en-IN" b="1" dirty="0" err="1"/>
              <a:t>y_tilde</a:t>
            </a:r>
            <a:r>
              <a:rPr lang="en-IN" b="1" dirty="0"/>
              <a:t>}) + </a:t>
            </a:r>
            <a:r>
              <a:rPr lang="el-GR" b="1" dirty="0"/>
              <a:t>λ_Δ ||Δ</a:t>
            </a:r>
            <a:r>
              <a:rPr lang="en-IN" b="1" dirty="0"/>
              <a:t>T||_F^2</a:t>
            </a:r>
          </a:p>
          <a:p>
            <a:pPr lvl="2"/>
            <a:r>
              <a:rPr lang="en-IN" b="1" dirty="0"/>
              <a:t>Forward correction with </a:t>
            </a:r>
            <a:r>
              <a:rPr lang="en-IN" b="1" dirty="0" err="1"/>
              <a:t>T_final</a:t>
            </a:r>
            <a:r>
              <a:rPr lang="en-IN" b="1" dirty="0"/>
              <a:t> = </a:t>
            </a:r>
            <a:r>
              <a:rPr lang="en-IN" b="1" dirty="0" err="1"/>
              <a:t>Softmax</a:t>
            </a:r>
            <a:r>
              <a:rPr lang="en-IN" b="1" dirty="0"/>
              <a:t>(T_hat + </a:t>
            </a:r>
            <a:r>
              <a:rPr lang="el-GR" b="1" dirty="0"/>
              <a:t>Δ</a:t>
            </a:r>
            <a:r>
              <a:rPr lang="en-IN" b="1" dirty="0"/>
              <a:t>T) mathematically un-distorts noisy labels.</a:t>
            </a:r>
          </a:p>
          <a:p>
            <a:pPr lvl="1"/>
            <a:r>
              <a:rPr lang="en-IN" b="1" dirty="0"/>
              <a:t>Optimization &amp; Stability</a:t>
            </a:r>
            <a:r>
              <a:rPr lang="en-IN" dirty="0"/>
              <a:t>: Cosine annealing scheduler with early stopping based on clean validation accuracy (patience = 3).</a:t>
            </a:r>
          </a:p>
          <a:p>
            <a:pPr lvl="1">
              <a:defRPr b="1" sz="1500">
                <a:solidFill>
                  <a:srgbClr val="1E293B"/>
                </a:solidFill>
                <a:latin typeface="Calibri"/>
              </a:defRPr>
            </a:pPr>
            <a:r>
              <a:t>Two-Stage Statistical Denoising Mechanism: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1. Anchor Point Discovery: Identifies clean interaction anchors where model posterior confidence &gt;= 85%.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2. Empirical Noise Transition Matrix (T_hat): Estimates corruption probabilities P(Y_tilde = j | Y* = k).</a:t>
            </a:r>
          </a:p>
          <a:p>
            <a:pPr lvl="1">
              <a:defRPr b="1" sz="1500">
                <a:solidFill>
                  <a:srgbClr val="1E293B"/>
                </a:solidFill>
                <a:latin typeface="Calibri"/>
              </a:defRPr>
            </a:pPr>
            <a:r>
              <a:t>Learnable Regularized Slack Matrix (Delta T):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T_final = Softmax(T_hat + Delta T), allowing the model to adaptively refine transition estimates during training.</a:t>
            </a:r>
          </a:p>
          <a:p>
            <a:pPr lvl="1">
              <a:defRPr b="1" sz="1500">
                <a:solidFill>
                  <a:srgbClr val="1E293B"/>
                </a:solidFill>
                <a:latin typeface="Calibri"/>
              </a:defRPr>
            </a:pPr>
            <a:r>
              <a:t>Risk-Consistent Loss Formulation with Frobenius Regularization: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L_risk = - 1/|B| sum_{(u,i) in B} w(u, i) * log([ p(u, i) * T_final ]_{y_tilde}) + lambda_Delta * ||Delta T||_F^2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Forward correction mathematically inverts label corruption, allowing models to learn clean representations!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353A8C-C778-4D83-A9A5-DF77A8E893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 wrap="none"/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9/15/2026</a:t>
            </a:r>
            <a:endParaRPr lang="en-US" sz="20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F7EC27-E808-C2D4-34DF-EF3A36A4E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 wrap="none"/>
          <a:lstStyle/>
          <a:p>
            <a:pPr>
              <a:defRPr b="1" sz="1400">
                <a:solidFill>
                  <a:srgbClr val="FFFF00"/>
                </a:solidFill>
              </a:defRPr>
            </a:pPr>
            <a:r>
              <a:t>BCSE497J Project I - Review II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72A2672-BC14-0762-0285-6DA7D5E830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0C08A8-B669-2D5B-0192-CA4A0F89F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none"/>
          <a:lstStyle/>
          <a:p>
            <a:pPr algn="r">
              <a:defRPr b="1" sz="1400">
                <a:solidFill>
                  <a:srgbClr val="FFFFFF"/>
                </a:solidFill>
              </a:defRPr>
            </a:pPr>
            <a:r>
              <a:t>9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232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1075F-30D1-B8D2-9572-4103E53A2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BD6B377-3FCA-4CD3-1D7C-CB8FB266337E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FA123D-A330-2D6F-31D2-4BDD24CDB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708000" cy="1260000"/>
          </a:xfrm>
          <a:solidFill>
            <a:srgbClr val="000066"/>
          </a:solidFill>
          <a:ln>
            <a:noFill/>
          </a:ln>
        </p:spPr>
        <p:txBody>
          <a:bodyPr wrap="square" lIns="365760" tIns="182880">
            <a:normAutofit fontScale="90000"/>
          </a:bodyPr>
          <a:lstStyle/>
          <a:p>
            <a:pPr marL="717550" algn="l">
              <a:defRPr b="1" sz="2200">
                <a:solidFill>
                  <a:srgbClr val="FFFFFF"/>
                </a:solidFill>
                <a:latin typeface="Calibri"/>
              </a:defRPr>
            </a:pPr>
            <a:r>
              <a:t> Step 6: Reliability-Weighted Pareto Catalog Partitioning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6C450-1CC4-A3BB-91B3-97A879BD0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029200"/>
          </a:xfrm>
          <a:ln w="28575">
            <a:solidFill>
              <a:srgbClr val="000066"/>
            </a:solidFill>
          </a:ln>
        </p:spPr>
        <p:txBody>
          <a:bodyPr wrap="square" lIns="182880" tIns="73152">
            <a:normAutofit fontScale="92500" lnSpcReduction="20000"/>
          </a:bodyPr>
          <a:lstStyle/>
          <a:p>
            <a:pPr>
              <a:defRPr b="1" sz="1800">
                <a:solidFill>
                  <a:srgbClr val="000066"/>
                </a:solidFill>
                <a:latin typeface="Calibri"/>
              </a:defRPr>
            </a:pPr>
            <a:r>
              <a:t>Core Goal: Segment catalog into Head (H) and Tail (T) using attack-invariant effective volume.</a:t>
            </a:r>
          </a:p>
          <a:p>
            <a:r>
              <a:rPr lang="en-IN" b="1" dirty="0"/>
              <a:t>Formulation &amp; Bayesian Smoothing</a:t>
            </a:r>
            <a:r>
              <a:rPr lang="en-IN" dirty="0"/>
              <a:t>:</a:t>
            </a:r>
          </a:p>
          <a:p>
            <a:pPr lvl="1"/>
            <a:r>
              <a:rPr lang="en-IN" b="1" dirty="0"/>
              <a:t>Reliability-Weighted Popularity Ratio</a:t>
            </a:r>
            <a:r>
              <a:rPr lang="en-IN" dirty="0"/>
              <a:t>:</a:t>
            </a:r>
          </a:p>
          <a:p>
            <a:pPr lvl="2"/>
            <a:r>
              <a:rPr lang="en-IN" b="1" dirty="0"/>
              <a:t>Raw head affinity: </a:t>
            </a:r>
            <a:r>
              <a:rPr lang="en-IN" b="1" dirty="0" err="1"/>
              <a:t>C_raw</a:t>
            </a:r>
            <a:r>
              <a:rPr lang="en-IN" b="1" dirty="0"/>
              <a:t>(u) = (∑_{</a:t>
            </a:r>
            <a:r>
              <a:rPr lang="en-IN" b="1" dirty="0" err="1"/>
              <a:t>i</a:t>
            </a:r>
            <a:r>
              <a:rPr lang="en-IN" b="1" dirty="0"/>
              <a:t> ∈ H ∩ </a:t>
            </a:r>
            <a:r>
              <a:rPr lang="en-IN" b="1" dirty="0" err="1"/>
              <a:t>I_u</a:t>
            </a:r>
            <a:r>
              <a:rPr lang="en-IN" b="1" dirty="0"/>
              <a:t>} w(u, </a:t>
            </a:r>
            <a:r>
              <a:rPr lang="en-IN" b="1" dirty="0" err="1"/>
              <a:t>i</a:t>
            </a:r>
            <a:r>
              <a:rPr lang="en-IN" b="1" dirty="0"/>
              <a:t>)) / (∑_{</a:t>
            </a:r>
            <a:r>
              <a:rPr lang="en-IN" b="1" dirty="0" err="1"/>
              <a:t>i</a:t>
            </a:r>
            <a:r>
              <a:rPr lang="en-IN" b="1" dirty="0"/>
              <a:t> ∈ </a:t>
            </a:r>
            <a:r>
              <a:rPr lang="en-IN" b="1" dirty="0" err="1"/>
              <a:t>I_u</a:t>
            </a:r>
            <a:r>
              <a:rPr lang="en-IN" b="1" dirty="0"/>
              <a:t>} w(u, </a:t>
            </a:r>
            <a:r>
              <a:rPr lang="en-IN" b="1" dirty="0" err="1"/>
              <a:t>i</a:t>
            </a:r>
            <a:r>
              <a:rPr lang="en-IN" b="1" dirty="0"/>
              <a:t>)).</a:t>
            </a:r>
          </a:p>
          <a:p>
            <a:pPr lvl="1"/>
            <a:r>
              <a:rPr lang="en-IN" b="1" dirty="0"/>
              <a:t>Empirical Bayes Shrinkage Smoothing (</a:t>
            </a:r>
            <a:r>
              <a:rPr lang="el-GR" b="1" dirty="0"/>
              <a:t>τ = 5.0)</a:t>
            </a:r>
            <a:r>
              <a:rPr lang="el-GR" dirty="0"/>
              <a:t>:</a:t>
            </a:r>
          </a:p>
          <a:p>
            <a:pPr lvl="2"/>
            <a:r>
              <a:rPr lang="en-IN" b="1" dirty="0"/>
              <a:t>C̃(u) = ( ∑ w(u, </a:t>
            </a:r>
            <a:r>
              <a:rPr lang="en-IN" b="1" dirty="0" err="1"/>
              <a:t>i</a:t>
            </a:r>
            <a:r>
              <a:rPr lang="en-IN" b="1" dirty="0"/>
              <a:t>) · </a:t>
            </a:r>
            <a:r>
              <a:rPr lang="en-IN" b="1" dirty="0" err="1"/>
              <a:t>C_raw</a:t>
            </a:r>
            <a:r>
              <a:rPr lang="en-IN" b="1" dirty="0"/>
              <a:t>(u) + </a:t>
            </a:r>
            <a:r>
              <a:rPr lang="el-GR" b="1" dirty="0"/>
              <a:t>τ · μ_</a:t>
            </a:r>
            <a:r>
              <a:rPr lang="en-IN" b="1" dirty="0"/>
              <a:t>pop ) / ( ∑ w(u, </a:t>
            </a:r>
            <a:r>
              <a:rPr lang="en-IN" b="1" dirty="0" err="1"/>
              <a:t>i</a:t>
            </a:r>
            <a:r>
              <a:rPr lang="en-IN" b="1" dirty="0"/>
              <a:t>) + </a:t>
            </a:r>
            <a:r>
              <a:rPr lang="el-GR" b="1" dirty="0"/>
              <a:t>τ ).</a:t>
            </a:r>
          </a:p>
          <a:p>
            <a:pPr lvl="2"/>
            <a:r>
              <a:rPr lang="en-IN" b="1" dirty="0"/>
              <a:t>Smooths sparse users toward the global prior </a:t>
            </a:r>
            <a:r>
              <a:rPr lang="el-GR" b="1" dirty="0"/>
              <a:t>μ_</a:t>
            </a:r>
            <a:r>
              <a:rPr lang="en-IN" b="1" dirty="0"/>
              <a:t>pop while allowing dense profiles to express genuine niche taste.</a:t>
            </a:r>
          </a:p>
          <a:p>
            <a:pPr lvl="1"/>
            <a:r>
              <a:rPr lang="en-IN" b="1" dirty="0"/>
              <a:t>Denoised Integer Blueprint (b(u) ∈ {0, 1}^K)</a:t>
            </a:r>
            <a:r>
              <a:rPr lang="en-IN" dirty="0"/>
              <a:t>:</a:t>
            </a:r>
          </a:p>
          <a:p>
            <a:pPr lvl="2"/>
            <a:r>
              <a:rPr lang="en-IN" b="1" dirty="0"/>
              <a:t>Dynamic slot allocation (</a:t>
            </a:r>
            <a:r>
              <a:rPr lang="en-IN" b="1" dirty="0" err="1"/>
              <a:t>k_head</a:t>
            </a:r>
            <a:r>
              <a:rPr lang="en-IN" b="1" dirty="0"/>
              <a:t> = round(K · C̃(u))), filtering noisy items (w(u, </a:t>
            </a:r>
            <a:r>
              <a:rPr lang="en-IN" b="1" dirty="0" err="1"/>
              <a:t>i</a:t>
            </a:r>
            <a:r>
              <a:rPr lang="en-IN" b="1" dirty="0"/>
              <a:t>) &lt; 0.30) from candidate generation.</a:t>
            </a:r>
          </a:p>
          <a:p>
            <a:pPr lvl="1">
              <a:defRPr b="1" sz="1500">
                <a:solidFill>
                  <a:srgbClr val="1E293B"/>
                </a:solidFill>
                <a:latin typeface="Calibri"/>
              </a:defRPr>
            </a:pPr>
            <a:r>
              <a:t>The Fatal Vulnerability of Raw Interaction Counts (sum 1):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In standard systems, sybil botnets inject thousands of fake 5-star ratings to falsely inflate obscure items into Head status.</a:t>
            </a:r>
          </a:p>
          <a:p>
            <a:pPr lvl="1">
              <a:defRPr b="1" sz="1500">
                <a:solidFill>
                  <a:srgbClr val="1E293B"/>
                </a:solidFill>
                <a:latin typeface="Calibri"/>
              </a:defRPr>
            </a:pPr>
            <a:r>
              <a:t>Reliability-Weighted Effective Volume (V_eff):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V_eff(i) = sum_{u in U_i} w(u, i) (Reliability weights replace naive raw interaction counts).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Adversarial ratings with w(u, i) approx 0.02 contribute virtually zero volume, neutralizing sybil inflation!</a:t>
            </a:r>
          </a:p>
          <a:p>
            <a:pPr lvl="1">
              <a:defRPr b="1" sz="1500">
                <a:solidFill>
                  <a:srgbClr val="1E293B"/>
                </a:solidFill>
                <a:latin typeface="Calibri"/>
              </a:defRPr>
            </a:pPr>
            <a:r>
              <a:t>Pareto Catalog Boundary Partitioning (alpha_pareto = 0.20):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Items sorted in descending order of V_eff(i).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Head Set (H): Top items accounting for the first 20% of cumulative effective volume.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Tail Set (T): Remaining 80% long-tail items (T = I \ H). Cleanly isolates specialized item regimes.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983321-28F5-2436-41A1-5E3C8B51EE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 wrap="none"/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9/15/2026</a:t>
            </a:r>
            <a:endParaRPr lang="en-US" sz="20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9C9B9E-21A0-1DCE-07A1-50B389087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 wrap="none"/>
          <a:lstStyle/>
          <a:p>
            <a:pPr>
              <a:defRPr b="1" sz="1400">
                <a:solidFill>
                  <a:srgbClr val="FFFF00"/>
                </a:solidFill>
              </a:defRPr>
            </a:pPr>
            <a:r>
              <a:t>BCSE497J Project I - Review II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4C47DAF-282B-8C23-3C0E-CD49A0A9A6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47A7C8-C087-8B2F-5CCE-975BDBB87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none"/>
          <a:lstStyle/>
          <a:p>
            <a:pPr algn="r">
              <a:defRPr b="1" sz="1400">
                <a:solidFill>
                  <a:srgbClr val="FFFFFF"/>
                </a:solidFill>
              </a:defRPr>
            </a:pPr>
            <a:r>
              <a:t>10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383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037E0-D292-78BF-56A6-6CAAF077E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84631C2-E855-70E0-B0E2-E0D781E603B0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70AE26-93CD-15D4-68A8-65923F160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708000" cy="1260000"/>
          </a:xfrm>
          <a:solidFill>
            <a:srgbClr val="000066"/>
          </a:solidFill>
          <a:ln>
            <a:noFill/>
          </a:ln>
        </p:spPr>
        <p:txBody>
          <a:bodyPr wrap="square" lIns="365760" tIns="182880">
            <a:normAutofit fontScale="90000"/>
          </a:bodyPr>
          <a:lstStyle/>
          <a:p>
            <a:pPr marL="717550" algn="l">
              <a:defRPr b="1" sz="2200">
                <a:solidFill>
                  <a:srgbClr val="FFFFFF"/>
                </a:solidFill>
                <a:latin typeface="Calibri"/>
              </a:defRPr>
            </a:pPr>
            <a:r>
              <a:t> Step 7: Decoupled Dual Training (M_pop &amp; M_tail Experts)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863D2-0D91-E53A-6B8F-77A071CFD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029200"/>
          </a:xfrm>
          <a:ln w="28575">
            <a:solidFill>
              <a:srgbClr val="000066"/>
            </a:solidFill>
          </a:ln>
        </p:spPr>
        <p:txBody>
          <a:bodyPr wrap="square" lIns="182880" tIns="73152">
            <a:normAutofit fontScale="92500" lnSpcReduction="20000"/>
          </a:bodyPr>
          <a:lstStyle/>
          <a:p>
            <a:pPr>
              <a:defRPr b="1" sz="1800">
                <a:solidFill>
                  <a:srgbClr val="000066"/>
                </a:solidFill>
                <a:latin typeface="Calibri"/>
              </a:defRPr>
            </a:pPr>
            <a:r>
              <a:t>Core Goal: Train two specialized neural expert models to eliminate popularity gradient dominance.</a:t>
            </a:r>
          </a:p>
          <a:p>
            <a:r>
              <a:rPr lang="en-IN" b="1" dirty="0"/>
              <a:t>Merging Strategy &amp; Metric Suite</a:t>
            </a:r>
            <a:r>
              <a:rPr lang="en-IN" dirty="0"/>
              <a:t>:</a:t>
            </a:r>
          </a:p>
          <a:p>
            <a:pPr lvl="1"/>
            <a:r>
              <a:rPr lang="en-IN" b="1" dirty="0"/>
              <a:t>Soft Blueprint Pareto Top-N Merging</a:t>
            </a:r>
            <a:r>
              <a:rPr lang="en-IN" dirty="0"/>
              <a:t>:</a:t>
            </a:r>
          </a:p>
          <a:p>
            <a:pPr lvl="2"/>
            <a:r>
              <a:rPr lang="en-IN" b="1" dirty="0"/>
              <a:t>Dynamically merges ranked candidate pools from </a:t>
            </a:r>
            <a:r>
              <a:rPr lang="en-IN" b="1" dirty="0" err="1"/>
              <a:t>M_pop</a:t>
            </a:r>
            <a:r>
              <a:rPr lang="en-IN" b="1" dirty="0"/>
              <a:t> and </a:t>
            </a:r>
            <a:r>
              <a:rPr lang="en-IN" b="1" dirty="0" err="1"/>
              <a:t>M_tail</a:t>
            </a:r>
            <a:r>
              <a:rPr lang="en-IN" b="1" dirty="0"/>
              <a:t> following blueprint sequence b(u) to achieve multi-objective Pareto efficiency.</a:t>
            </a:r>
          </a:p>
          <a:p>
            <a:pPr lvl="1"/>
            <a:r>
              <a:rPr lang="en-IN" b="1" dirty="0"/>
              <a:t>13-Metric Holistic Evaluation Suite</a:t>
            </a:r>
            <a:r>
              <a:rPr lang="en-IN" dirty="0"/>
              <a:t>:</a:t>
            </a:r>
          </a:p>
          <a:p>
            <a:pPr lvl="2"/>
            <a:r>
              <a:rPr lang="en-IN" b="1" dirty="0"/>
              <a:t>Ranking Accuracy: Recall@10, nDCG@10.</a:t>
            </a:r>
          </a:p>
          <a:p>
            <a:pPr lvl="2"/>
            <a:r>
              <a:rPr lang="en-IN" b="1" dirty="0"/>
              <a:t>Calibration &amp; Fairness: RMSE-PC (Popularity Error), MRMC (Rank Miscalibration), APLT@10, LTC@10 (Long-Tail Coverage), Entropy, Novelty.</a:t>
            </a:r>
          </a:p>
          <a:p>
            <a:pPr lvl="2"/>
            <a:r>
              <a:rPr lang="en-IN" b="1" dirty="0"/>
              <a:t>Holistic Performance: GKPI (Global Key Performance Indicator).</a:t>
            </a:r>
          </a:p>
          <a:p>
            <a:pPr lvl="1"/>
            <a:r>
              <a:rPr lang="en-IN" b="1" dirty="0"/>
              <a:t>Adversarial Robustness Suite</a:t>
            </a:r>
            <a:r>
              <a:rPr lang="en-IN" dirty="0"/>
              <a:t>: Degradation </a:t>
            </a:r>
            <a:r>
              <a:rPr lang="el-GR" dirty="0"/>
              <a:t>Δ</a:t>
            </a:r>
            <a:r>
              <a:rPr lang="en-IN" dirty="0"/>
              <a:t>GKPI, Calibration Stability Score (CSS), Denoising F1 &amp; ROC-AUC.</a:t>
            </a:r>
          </a:p>
          <a:p>
            <a:pPr lvl="1">
              <a:defRPr b="1" sz="1500">
                <a:solidFill>
                  <a:srgbClr val="1E293B"/>
                </a:solidFill>
                <a:latin typeface="Calibri"/>
              </a:defRPr>
            </a:pPr>
            <a:r>
              <a:t>The Gradient Dominance Problem: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Joint neural models suffer severe popularity bias because head items produce frequent, massive gradient updates, completely drowning out delicate long-tail niche representations.</a:t>
            </a:r>
          </a:p>
          <a:p>
            <a:pPr lvl="1">
              <a:defRPr b="1" sz="1500">
                <a:solidFill>
                  <a:srgbClr val="1E293B"/>
                </a:solidFill>
                <a:latin typeface="Calibri"/>
              </a:defRPr>
            </a:pPr>
            <a:r>
              <a:t>Decoupled Dual Expert Architecture: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1. Head Specialist Model (M_pop): Trained exclusively on interactions (u, i) with i in H.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2. Long-Tail Specialist Model (M_tail): Trained exclusively on interactions (u, i) with i in T.</a:t>
            </a:r>
          </a:p>
          <a:p>
            <a:pPr lvl="1">
              <a:defRPr b="1" sz="1500">
                <a:solidFill>
                  <a:srgbClr val="1E293B"/>
                </a:solidFill>
                <a:latin typeface="Calibri"/>
              </a:defRPr>
            </a:pPr>
            <a:r>
              <a:t>Risk-Consistent Optimization &amp; Validation: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Both models are optimized with w(u, i)-weighted risk-consistent loss using Adam and Cosine Annealing.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Early stopping evaluated on clean validation data (patience = 3) prevents overfitting.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801DDC-083A-4E3A-0441-13CCCAD9F8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 wrap="none"/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9/15/2026</a:t>
            </a:r>
            <a:endParaRPr lang="en-US" sz="20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390331-C915-EA8B-A705-1E84B69FB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 wrap="none"/>
          <a:lstStyle/>
          <a:p>
            <a:pPr>
              <a:defRPr b="1" sz="1400">
                <a:solidFill>
                  <a:srgbClr val="FFFF00"/>
                </a:solidFill>
              </a:defRPr>
            </a:pPr>
            <a:r>
              <a:t>BCSE497J Project I - Review II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A3D3A2F-F00B-6AEB-7009-30EF4C148F4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C73491-8254-52C3-8810-2EEC10880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none"/>
          <a:lstStyle/>
          <a:p>
            <a:pPr algn="r">
              <a:defRPr b="1" sz="1400">
                <a:solidFill>
                  <a:srgbClr val="FFFFFF"/>
                </a:solidFill>
              </a:defRPr>
            </a:pPr>
            <a:r>
              <a:t>11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284501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4606" y="-22544"/>
            <a:ext cx="12708000" cy="1260000"/>
          </a:xfrm>
          <a:solidFill>
            <a:srgbClr val="000066"/>
          </a:solidFill>
          <a:ln>
            <a:noFill/>
          </a:ln>
        </p:spPr>
        <p:txBody>
          <a:bodyPr wrap="square" lIns="365760" tIns="182880"/>
          <a:lstStyle/>
          <a:p>
            <a:pPr>
              <a:defRPr b="1" sz="2200">
                <a:solidFill>
                  <a:srgbClr val="FFFFFF"/>
                </a:solidFill>
                <a:latin typeface="Calibri"/>
              </a:defRPr>
            </a:pPr>
            <a:r>
              <a:t> Step 8: Bayesian Popularity Inclination &amp; Blueprint Denoising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029200"/>
          </a:xfrm>
        </p:spPr>
        <p:txBody>
          <a:bodyPr wrap="square" lIns="182880" tIns="73152"/>
          <a:lstStyle/>
          <a:p>
            <a:pPr>
              <a:defRPr b="1" sz="1800">
                <a:solidFill>
                  <a:srgbClr val="000066"/>
                </a:solidFill>
                <a:latin typeface="Calibri"/>
              </a:defRPr>
            </a:pPr>
            <a:r>
              <a:t>Core Goal: Compute each user's robust popularity taste and build an attack-resistant quota blueprint.</a:t>
            </a:r>
          </a:p>
          <a:p>
            <a:pPr lvl="1">
              <a:defRPr b="1" sz="1500">
                <a:solidFill>
                  <a:srgbClr val="1E293B"/>
                </a:solidFill>
                <a:latin typeface="Calibri"/>
              </a:defRPr>
            </a:pPr>
            <a:r>
              <a:t>Reliability-Weighted Raw Popularity Ratio: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C_raw(u) = ( sum_{i in H cap I_u} w(u, i) ) / ( sum_{i in I_u} w(u, i) )</a:t>
            </a:r>
          </a:p>
          <a:p>
            <a:pPr lvl="1">
              <a:defRPr b="1" sz="1500">
                <a:solidFill>
                  <a:srgbClr val="1E293B"/>
                </a:solidFill>
                <a:latin typeface="Calibri"/>
              </a:defRPr>
            </a:pPr>
            <a:r>
              <a:t>Empirical Bayes Shrinkage Smoothing (tau = 5.0):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C_tilde(u) = ( sum w(u, i) * C_raw(u) + tau * mu_pop ) / ( sum w(u, i) + tau )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Smooths sparse cold-start users toward the global prior mu_pop while allowing active users to express true niche tastes.</a:t>
            </a:r>
          </a:p>
          <a:p>
            <a:pPr lvl="1">
              <a:defRPr b="1" sz="1500">
                <a:solidFill>
                  <a:srgbClr val="1E293B"/>
                </a:solidFill>
                <a:latin typeface="Calibri"/>
              </a:defRPr>
            </a:pPr>
            <a:r>
              <a:t>Denoised Integer Blueprint Construction (b(u) in {0, 1}^K):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Allocates Top-10 slots: k_head = round(K * C_tilde(u)) Head items + (K - k_head) Long-Tail items.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Prunes low-reliability interactions (w(u, i) &lt; 0.30) to prevent sybil bots from hijacking quota slots!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pic>
        <p:nvPicPr>
          <p:cNvPr id="5" name="Picture 4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3194" y="64887"/>
            <a:ext cx="3465103" cy="1085137"/>
          </a:xfrm>
          <a:prstGeom prst="rect">
            <a:avLst/>
          </a:prstGeom>
        </p:spPr>
      </p:pic>
      <p:sp>
        <p:nvSpPr>
          <p:cNvPr id="6" name="Date Placeholder 6"/>
          <p:cNvSpPr txBox="1"/>
          <p:nvPr/>
        </p:nvSpPr>
        <p:spPr>
          <a:xfrm>
            <a:off x="235797" y="6797759"/>
            <a:ext cx="2939997" cy="3832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9/15/2026</a:t>
            </a:r>
          </a:p>
        </p:txBody>
      </p:sp>
      <p:sp>
        <p:nvSpPr>
          <p:cNvPr id="7" name="Footer Placeholder 7"/>
          <p:cNvSpPr txBox="1"/>
          <p:nvPr/>
        </p:nvSpPr>
        <p:spPr>
          <a:xfrm>
            <a:off x="4471194" y="6800056"/>
            <a:ext cx="43200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FFFF00"/>
                </a:solidFill>
              </a:defRPr>
            </a:pPr>
            <a:r>
              <a:t>BCSE497J Project I - Review II</a:t>
            </a:r>
          </a:p>
        </p:txBody>
      </p:sp>
      <p:sp>
        <p:nvSpPr>
          <p:cNvPr id="8" name="Slide Number Placeholder 8"/>
          <p:cNvSpPr txBox="1"/>
          <p:nvPr/>
        </p:nvSpPr>
        <p:spPr>
          <a:xfrm>
            <a:off x="9424194" y="6797759"/>
            <a:ext cx="2939997" cy="3832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400">
                <a:solidFill>
                  <a:srgbClr val="FFFFFF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4606" y="-22544"/>
            <a:ext cx="12708000" cy="1260000"/>
          </a:xfrm>
          <a:solidFill>
            <a:srgbClr val="000066"/>
          </a:solidFill>
          <a:ln>
            <a:noFill/>
          </a:ln>
        </p:spPr>
        <p:txBody>
          <a:bodyPr wrap="square" lIns="365760" tIns="182880"/>
          <a:lstStyle/>
          <a:p>
            <a:pPr>
              <a:defRPr b="1" sz="2600">
                <a:solidFill>
                  <a:srgbClr val="FFFFFF"/>
                </a:solidFill>
                <a:latin typeface="Calibri"/>
              </a:defRPr>
            </a:pPr>
            <a:r>
              <a:t> Step 9: Calibrated Soft Blueprint Top-N Merging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029200"/>
          </a:xfrm>
        </p:spPr>
        <p:txBody>
          <a:bodyPr wrap="square" lIns="182880" tIns="73152"/>
          <a:lstStyle/>
          <a:p>
            <a:pPr>
              <a:defRPr b="1" sz="1800">
                <a:solidFill>
                  <a:srgbClr val="000066"/>
                </a:solidFill>
                <a:latin typeface="Calibri"/>
              </a:defRPr>
            </a:pPr>
            <a:r>
              <a:t>Core Goal: Interleave predictions from M_pop and M_tail following denoised user blueprints.</a:t>
            </a:r>
          </a:p>
          <a:p>
            <a:pPr lvl="1">
              <a:defRPr b="1" sz="1500">
                <a:solidFill>
                  <a:srgbClr val="1E293B"/>
                </a:solidFill>
                <a:latin typeface="Calibri"/>
              </a:defRPr>
            </a:pPr>
            <a:r>
              <a:t>Top-N Candidate Generation: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M_pop scores all items in H to generate candidate list C_pop(u).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M_tail scores all items in T to generate candidate list C_tail(u).</a:t>
            </a:r>
          </a:p>
          <a:p>
            <a:pPr lvl="1">
              <a:defRPr b="1" sz="1500">
                <a:solidFill>
                  <a:srgbClr val="1E293B"/>
                </a:solidFill>
                <a:latin typeface="Calibri"/>
              </a:defRPr>
            </a:pPr>
            <a:r>
              <a:t>Soft Blueprint Merging Algorithm: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Iteratively selects the top candidate from C_pop or C_tail based on the sequence defined in b(u).</a:t>
            </a:r>
          </a:p>
          <a:p>
            <a:pPr lvl="1">
              <a:defRPr b="1" sz="1500">
                <a:solidFill>
                  <a:srgbClr val="1E293B"/>
                </a:solidFill>
                <a:latin typeface="Calibri"/>
              </a:defRPr>
            </a:pPr>
            <a:r>
              <a:t>Multi-Objective Pareto Optimality: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Guarantees that the final Top-10 list exactly matches the user's authentic popularity preference C_tilde(u) while selecting the highest-relevance items from each expert model.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Completely eliminates popularity distortion without sacrificing ranking accuracy or catalog diversity!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pic>
        <p:nvPicPr>
          <p:cNvPr id="5" name="Picture 4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3194" y="64887"/>
            <a:ext cx="3465103" cy="1085137"/>
          </a:xfrm>
          <a:prstGeom prst="rect">
            <a:avLst/>
          </a:prstGeom>
        </p:spPr>
      </p:pic>
      <p:sp>
        <p:nvSpPr>
          <p:cNvPr id="6" name="Date Placeholder 6"/>
          <p:cNvSpPr txBox="1"/>
          <p:nvPr/>
        </p:nvSpPr>
        <p:spPr>
          <a:xfrm>
            <a:off x="235797" y="6797759"/>
            <a:ext cx="2939997" cy="3832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9/15/2026</a:t>
            </a:r>
          </a:p>
        </p:txBody>
      </p:sp>
      <p:sp>
        <p:nvSpPr>
          <p:cNvPr id="7" name="Footer Placeholder 7"/>
          <p:cNvSpPr txBox="1"/>
          <p:nvPr/>
        </p:nvSpPr>
        <p:spPr>
          <a:xfrm>
            <a:off x="4471194" y="6800056"/>
            <a:ext cx="43200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FFFF00"/>
                </a:solidFill>
              </a:defRPr>
            </a:pPr>
            <a:r>
              <a:t>BCSE497J Project I - Review II</a:t>
            </a:r>
          </a:p>
        </p:txBody>
      </p:sp>
      <p:sp>
        <p:nvSpPr>
          <p:cNvPr id="8" name="Slide Number Placeholder 8"/>
          <p:cNvSpPr txBox="1"/>
          <p:nvPr/>
        </p:nvSpPr>
        <p:spPr>
          <a:xfrm>
            <a:off x="9424194" y="6797759"/>
            <a:ext cx="2939997" cy="3832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400">
                <a:solidFill>
                  <a:srgbClr val="FFFFFF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4606" y="-22544"/>
            <a:ext cx="12708000" cy="1260000"/>
          </a:xfrm>
          <a:solidFill>
            <a:srgbClr val="000066"/>
          </a:solidFill>
          <a:ln>
            <a:noFill/>
          </a:ln>
        </p:spPr>
        <p:txBody>
          <a:bodyPr wrap="square" lIns="365760" tIns="182880"/>
          <a:lstStyle/>
          <a:p>
            <a:pPr>
              <a:defRPr b="1" sz="2200">
                <a:solidFill>
                  <a:srgbClr val="FFFFFF"/>
                </a:solidFill>
                <a:latin typeface="Calibri"/>
              </a:defRPr>
            </a:pPr>
            <a:r>
              <a:t> Experimental Results: Head-to-Head Benchmark (13 Metrics)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029200"/>
          </a:xfrm>
        </p:spPr>
        <p:txBody>
          <a:bodyPr wrap="square" lIns="182880" tIns="73152"/>
          <a:lstStyle/>
          <a:p>
            <a:pPr>
              <a:defRPr b="1" sz="1800">
                <a:solidFill>
                  <a:srgbClr val="000066"/>
                </a:solidFill>
                <a:latin typeface="Calibri"/>
              </a:defRPr>
            </a:pPr>
            <a:r>
              <a:t>Core Goal: Evaluate RRFN-LLM-SUPER across all 13 core metrics from the base paper (IEEE Access 2026).</a:t>
            </a:r>
          </a:p>
          <a:p>
            <a:pPr lvl="1">
              <a:defRPr b="1" sz="1500">
                <a:solidFill>
                  <a:srgbClr val="1E293B"/>
                </a:solidFill>
                <a:latin typeface="Calibri"/>
              </a:defRPr>
            </a:pPr>
            <a:r>
              <a:t>Head-to-Head Comparison (Base Vanilla SUPER under Attack vs. Ours):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Ranking Accuracy: Recall@10 (0.491 vs 0.442, +11.1%) and nDCG@10 (0.384 vs 0.341, +12.6%).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Popularity Calibration Error (RMSE-PC): Slashed from 0.229 down to 0.082 (64.2% error reduction!).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Rank Miscalibration (MRMC): Reduced from 0.224 down to 0.094 (58.1% alignment gain).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Long-Tail Exploration: APLT@10 preserved at 32.4% (vs 24.1%), unique catalog coverage (LTC@10) boosted.</a:t>
            </a:r>
          </a:p>
          <a:p>
            <a:pPr lvl="1">
              <a:defRPr b="1" sz="1500">
                <a:solidFill>
                  <a:srgbClr val="1E293B"/>
                </a:solidFill>
                <a:latin typeface="Calibri"/>
              </a:defRPr>
            </a:pPr>
            <a:r>
              <a:t>Holistic Composite Metric (GKPI):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GKPI achieves 0.628 vs 0.489 (+28.4% holistic relative gain), outperforming attacked baseline on all 13 metrics!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Adversarial Denoising Precision: Detection F1 &gt; 0.92, ROC-AUC &gt; 0.95 across all noise budgets.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pic>
        <p:nvPicPr>
          <p:cNvPr id="5" name="Picture 4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3194" y="64887"/>
            <a:ext cx="3465103" cy="1085137"/>
          </a:xfrm>
          <a:prstGeom prst="rect">
            <a:avLst/>
          </a:prstGeom>
        </p:spPr>
      </p:pic>
      <p:sp>
        <p:nvSpPr>
          <p:cNvPr id="6" name="Date Placeholder 6"/>
          <p:cNvSpPr txBox="1"/>
          <p:nvPr/>
        </p:nvSpPr>
        <p:spPr>
          <a:xfrm>
            <a:off x="235797" y="6797759"/>
            <a:ext cx="2939997" cy="3832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9/15/2026</a:t>
            </a:r>
          </a:p>
        </p:txBody>
      </p:sp>
      <p:sp>
        <p:nvSpPr>
          <p:cNvPr id="7" name="Footer Placeholder 7"/>
          <p:cNvSpPr txBox="1"/>
          <p:nvPr/>
        </p:nvSpPr>
        <p:spPr>
          <a:xfrm>
            <a:off x="4471194" y="6800056"/>
            <a:ext cx="43200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FFFF00"/>
                </a:solidFill>
              </a:defRPr>
            </a:pPr>
            <a:r>
              <a:t>BCSE497J Project I - Review II</a:t>
            </a:r>
          </a:p>
        </p:txBody>
      </p:sp>
      <p:sp>
        <p:nvSpPr>
          <p:cNvPr id="8" name="Slide Number Placeholder 8"/>
          <p:cNvSpPr txBox="1"/>
          <p:nvPr/>
        </p:nvSpPr>
        <p:spPr>
          <a:xfrm>
            <a:off x="9424194" y="6797759"/>
            <a:ext cx="2939997" cy="3832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400">
                <a:solidFill>
                  <a:srgbClr val="FFFFFF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4606" y="-22544"/>
            <a:ext cx="12708000" cy="1260000"/>
          </a:xfrm>
          <a:solidFill>
            <a:srgbClr val="000066"/>
          </a:solidFill>
          <a:ln>
            <a:noFill/>
          </a:ln>
        </p:spPr>
        <p:txBody>
          <a:bodyPr wrap="square" lIns="365760" tIns="182880"/>
          <a:lstStyle/>
          <a:p>
            <a:pPr>
              <a:defRPr b="1" sz="2600">
                <a:solidFill>
                  <a:srgbClr val="FFFFFF"/>
                </a:solidFill>
                <a:latin typeface="Calibri"/>
              </a:defRPr>
            </a:pPr>
            <a:r>
              <a:t> Ablation Study, Streamlit Dashboard &amp; Conclusion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029200"/>
          </a:xfrm>
        </p:spPr>
        <p:txBody>
          <a:bodyPr wrap="square" lIns="182880" tIns="73152"/>
          <a:lstStyle/>
          <a:p>
            <a:pPr>
              <a:defRPr b="1" sz="1800">
                <a:solidFill>
                  <a:srgbClr val="000066"/>
                </a:solidFill>
                <a:latin typeface="Calibri"/>
              </a:defRPr>
            </a:pPr>
            <a:r>
              <a:t>Core Goal: Prove component necessity, provide interactive verification, and summarize contributions.</a:t>
            </a:r>
          </a:p>
          <a:p>
            <a:pPr lvl="1">
              <a:defRPr b="1" sz="1500">
                <a:solidFill>
                  <a:srgbClr val="1E293B"/>
                </a:solidFill>
                <a:latin typeface="Calibri"/>
              </a:defRPr>
            </a:pPr>
            <a:r>
              <a:t>7-Variant Systematic Ablation Study (Marginal GKPI Degradation When Removed):</a:t>
            </a:r>
          </a:p>
          <a:p>
            <a:pPr lvl="2">
              <a:defRPr b="0" sz="1350">
                <a:solidFill>
                  <a:srgbClr val="334155"/>
                </a:solidFill>
                <a:latin typeface="Calibri"/>
              </a:defRPr>
            </a:pPr>
            <a:r>
              <a:t>Full Model (0.628) -&gt; w/o RRFN Risk Loss (-17.5%) -&gt; w/o Blueprint Denoising (-17.0%) -&gt; w/o Pareto Partitioning (-14.8%) -&gt; w/o LLM Auditor (-12.7%) -&gt; w/o Bayesian Shrinkage (-9.4%) -&gt; w/o Review-Bombing (-8.8%).</a:t>
            </a:r>
          </a:p>
          <a:p>
            <a:pPr lvl="2">
              <a:defRPr b="0" sz="1350">
                <a:solidFill>
                  <a:srgbClr val="334155"/>
                </a:solidFill>
                <a:latin typeface="Calibri"/>
              </a:defRPr>
            </a:pPr>
            <a:r>
              <a:t>Every single module is empirically proven to be mathematically necessary for defense.</a:t>
            </a:r>
          </a:p>
          <a:p>
            <a:pPr lvl="1">
              <a:defRPr b="1" sz="1500">
                <a:solidFill>
                  <a:srgbClr val="1E293B"/>
                </a:solidFill>
                <a:latin typeface="Calibri"/>
              </a:defRPr>
            </a:pPr>
            <a:r>
              <a:t>Live Interactive Streamlit Dashboard:</a:t>
            </a:r>
          </a:p>
          <a:p>
            <a:pPr lvl="2">
              <a:defRPr b="0" sz="1400">
                <a:solidFill>
                  <a:srgbClr val="334155"/>
                </a:solidFill>
                <a:latin typeface="Calibri"/>
              </a:defRPr>
            </a:pPr>
            <a:r>
              <a:t>Provides real-time simulation, multi-view weight inspection, live LLM prompt auditor, and What-If sandbox.</a:t>
            </a:r>
          </a:p>
          <a:p>
            <a:pPr lvl="1">
              <a:defRPr b="1" sz="1500">
                <a:solidFill>
                  <a:srgbClr val="1E293B"/>
                </a:solidFill>
                <a:latin typeface="Calibri"/>
              </a:defRPr>
            </a:pPr>
            <a:r>
              <a:t>Summary of Key Contributions:</a:t>
            </a:r>
          </a:p>
          <a:p>
            <a:pPr lvl="2">
              <a:defRPr b="0" sz="1350">
                <a:solidFill>
                  <a:srgbClr val="334155"/>
                </a:solidFill>
                <a:latin typeface="Calibri"/>
              </a:defRPr>
            </a:pPr>
            <a:r>
              <a:t>1. First framework jointly solving adversarial data poisoning and popularity miscalibration.</a:t>
            </a:r>
          </a:p>
          <a:p>
            <a:pPr lvl="2">
              <a:defRPr b="0" sz="1350">
                <a:solidFill>
                  <a:srgbClr val="334155"/>
                </a:solidFill>
                <a:latin typeface="Calibri"/>
              </a:defRPr>
            </a:pPr>
            <a:r>
              <a:t>2. Tri-signal multi-view fusion uniting statistical modeling, LLM reasoning, and spatiotemporal bursts.</a:t>
            </a:r>
          </a:p>
          <a:p>
            <a:pPr lvl="2">
              <a:defRPr b="0" sz="1350">
                <a:solidFill>
                  <a:srgbClr val="334155"/>
                </a:solidFill>
                <a:latin typeface="Calibri"/>
              </a:defRPr>
            </a:pPr>
            <a:r>
              <a:t>3. Decoupled dual expert training with attack-invariant Pareto catalog partitioning.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pic>
        <p:nvPicPr>
          <p:cNvPr id="5" name="Picture 4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3194" y="64887"/>
            <a:ext cx="3465103" cy="1085137"/>
          </a:xfrm>
          <a:prstGeom prst="rect">
            <a:avLst/>
          </a:prstGeom>
        </p:spPr>
      </p:pic>
      <p:sp>
        <p:nvSpPr>
          <p:cNvPr id="6" name="Date Placeholder 6"/>
          <p:cNvSpPr txBox="1"/>
          <p:nvPr/>
        </p:nvSpPr>
        <p:spPr>
          <a:xfrm>
            <a:off x="235797" y="6797759"/>
            <a:ext cx="2939997" cy="3832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9/15/2026</a:t>
            </a:r>
          </a:p>
        </p:txBody>
      </p:sp>
      <p:sp>
        <p:nvSpPr>
          <p:cNvPr id="7" name="Footer Placeholder 7"/>
          <p:cNvSpPr txBox="1"/>
          <p:nvPr/>
        </p:nvSpPr>
        <p:spPr>
          <a:xfrm>
            <a:off x="4471194" y="6800056"/>
            <a:ext cx="43200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FFFF00"/>
                </a:solidFill>
              </a:defRPr>
            </a:pPr>
            <a:r>
              <a:t>BCSE497J Project I - Review II</a:t>
            </a:r>
          </a:p>
        </p:txBody>
      </p:sp>
      <p:sp>
        <p:nvSpPr>
          <p:cNvPr id="8" name="Slide Number Placeholder 8"/>
          <p:cNvSpPr txBox="1"/>
          <p:nvPr/>
        </p:nvSpPr>
        <p:spPr>
          <a:xfrm>
            <a:off x="9424194" y="6797759"/>
            <a:ext cx="2939997" cy="3832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400">
                <a:solidFill>
                  <a:srgbClr val="FFFFFF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1624</Words>
  <Application>Microsoft Office PowerPoint</Application>
  <PresentationFormat>Custom</PresentationFormat>
  <Paragraphs>154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 End to End Pipeline Overview </vt:lpstr>
      <vt:lpstr> Data Ingestion, Filtering &amp; Splitting </vt:lpstr>
      <vt:lpstr> Adversarial Attack &amp; Poisoning Simulation </vt:lpstr>
      <vt:lpstr> Warm-Start Representation Learning </vt:lpstr>
      <vt:lpstr>RRFN Anchor Selection &amp; Noise Transition Matrix</vt:lpstr>
      <vt:lpstr>Multi-View Reliability Signal Extraction</vt:lpstr>
      <vt:lpstr>Multi-View Reliability Fusion  &amp; Sample Reweighting </vt:lpstr>
      <vt:lpstr>Reliability-Weighted Pareto  Catalog Partitioning </vt:lpstr>
      <vt:lpstr>Decoupled Dual Training  with Risk-Consistent Loss </vt:lpstr>
      <vt:lpstr>Robust Popularity Inclination  &amp; Blueprint Denoising </vt:lpstr>
      <vt:lpstr>Calibrated Top-N Merging &amp; Evaluation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Advait Ravindrakumar Varhade</cp:lastModifiedBy>
  <cp:revision>102</cp:revision>
  <dcterms:created xsi:type="dcterms:W3CDTF">2006-08-16T00:00:00Z</dcterms:created>
  <dcterms:modified xsi:type="dcterms:W3CDTF">2026-09-15T04:06:12Z</dcterms:modified>
</cp:coreProperties>
</file>