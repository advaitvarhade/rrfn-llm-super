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7315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1">
                <a:solidFill>
                  <a:srgbClr val="49D0DC"/>
                </a:solidFill>
                <a:latin typeface="Aptos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8229600" cy="9144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3800" b="1">
                <a:solidFill>
                  <a:srgbClr val="F2F6FC"/>
                </a:solidFill>
                <a:latin typeface="Aptos"/>
              </a:rPr>
              <a:t>RRFN-LLM-SUPER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423160"/>
            <a:ext cx="8229600" cy="7772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000" b="0">
                <a:solidFill>
                  <a:srgbClr val="B4C0D0"/>
                </a:solidFill>
                <a:latin typeface="Aptos"/>
              </a:rPr>
              <a:t>Risk-aware graph-contrastive learning for robust and popularity-calibrated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886200"/>
            <a:ext cx="8046720" cy="10515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96512"/>
            <a:ext cx="7498079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CORE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16552"/>
            <a:ext cx="7498079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Reliability auditing  →  robust learning  →  Head–Tail ranking  → 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172200"/>
            <a:ext cx="82296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System working, end-to-end workflow, and validation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01 |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Why this system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Three problems motivate the integrated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3520440" cy="228600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64792"/>
            <a:ext cx="54864" cy="2139696"/>
          </a:xfrm>
          <a:prstGeom prst="rect">
            <a:avLst/>
          </a:prstGeom>
          <a:solidFill>
            <a:srgbClr val="F77D70"/>
          </a:solidFill>
          <a:ln>
            <a:solidFill>
              <a:srgbClr val="F7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01368"/>
            <a:ext cx="32461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Noisy interaction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Fake, coordinated or abnormal reviews can distort user–item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Models may learn from unreliable edges as if they were genuine.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228600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64792"/>
            <a:ext cx="54864" cy="2139696"/>
          </a:xfrm>
          <a:prstGeom prst="rect">
            <a:avLst/>
          </a:prstGeom>
          <a:solidFill>
            <a:srgbClr val="F5BE5A"/>
          </a:solidFill>
          <a:ln>
            <a:solidFill>
              <a:srgbClr val="F5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801368"/>
            <a:ext cx="32461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Popularity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94560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Highly popular items dominate interaction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87168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Less-popular but relevant items can receive limited exposure.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520440" cy="228600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764792"/>
            <a:ext cx="54864" cy="2139696"/>
          </a:xfrm>
          <a:prstGeom prst="rect">
            <a:avLst/>
          </a:prstGeom>
          <a:solidFill>
            <a:srgbClr val="66A1F5"/>
          </a:solidFill>
          <a:ln>
            <a:solidFill>
              <a:srgbClr val="66A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801368"/>
            <a:ext cx="32461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Limited evaluation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194560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Accuracy alone does not show robustness or long-tail exposure.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487168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Offline metrics do not directly express business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1">
                <a:solidFill>
                  <a:srgbClr val="49D0DC"/>
                </a:solidFill>
                <a:latin typeface="Aptos"/>
              </a:rPr>
              <a:t>PROJECT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10515600" cy="9144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900" b="1">
                <a:solidFill>
                  <a:srgbClr val="F2F6FC"/>
                </a:solidFill>
                <a:latin typeface="Aptos"/>
              </a:rPr>
              <a:t>Estimate interaction reliability, learn noise-resilient graph representations, train separate Head/Tail models, and evaluate across domains and simulated business outcomes.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02 |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Project objective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The central problem is reliable learning and fair ranking from imperfect interaction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27080" cy="13258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378440" cy="9144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F2F6FC"/>
                </a:solidFill>
                <a:latin typeface="Aptos"/>
              </a:rPr>
              <a:t>To develop a risk-aware, graph-contrastive recommendation framework that models interaction reliability, learns noise-resilient user–item representations, and performs personalized Head–Tail recommendation, validated across multiple domains and simulated business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5303520" cy="10515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319272"/>
            <a:ext cx="54864" cy="905255"/>
          </a:xfrm>
          <a:prstGeom prst="rect">
            <a:avLst/>
          </a:prstGeom>
          <a:solidFill>
            <a:srgbClr val="49D0DC"/>
          </a:solidFill>
          <a:ln>
            <a:solidFill>
              <a:srgbClr val="49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3355848"/>
            <a:ext cx="50292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Tri-view reliability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49039"/>
            <a:ext cx="4983480" cy="484631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Combines RRFN noise estimation, LLM text auditing and bombing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46120"/>
            <a:ext cx="5303520" cy="10515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319272"/>
            <a:ext cx="54864" cy="905255"/>
          </a:xfrm>
          <a:prstGeom prst="rect">
            <a:avLst/>
          </a:prstGeom>
          <a:solidFill>
            <a:srgbClr val="A58BFA"/>
          </a:solidFill>
          <a:ln>
            <a:solidFill>
              <a:srgbClr val="A5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355848"/>
            <a:ext cx="50292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Risk-aware graph contrastive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39"/>
            <a:ext cx="4983480" cy="484631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Weights contrastive learning using interaction reliability.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79"/>
            <a:ext cx="5303520" cy="10515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99431"/>
            <a:ext cx="54864" cy="905255"/>
          </a:xfrm>
          <a:prstGeom prst="rect">
            <a:avLst/>
          </a:prstGeom>
          <a:solidFill>
            <a:srgbClr val="F5BE5A"/>
          </a:solidFill>
          <a:ln>
            <a:solidFill>
              <a:srgbClr val="F5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636007"/>
            <a:ext cx="50292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Dual Head–Tail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029199"/>
            <a:ext cx="4983480" cy="484631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Trains separate popular-item and long-tail models; merges them using user inclination.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526279"/>
            <a:ext cx="5303520" cy="10515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599431"/>
            <a:ext cx="54864" cy="905255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4636007"/>
            <a:ext cx="50292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Expanded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029199"/>
            <a:ext cx="4983480" cy="484631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Adds Amazon/Yelp datasets, backbone comparisons and A/B business simulation.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03 |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End-to-end workflow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Nine stages connect raw multi-domain data to recommendations and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456432" cy="10058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01368"/>
            <a:ext cx="438912" cy="438912"/>
          </a:xfrm>
          <a:prstGeom prst="ellipse">
            <a:avLst/>
          </a:prstGeom>
          <a:solidFill>
            <a:srgbClr val="49D0DC"/>
          </a:solidFill>
          <a:ln>
            <a:solidFill>
              <a:srgbClr val="49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746504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MovieLens • Amazon • Yelp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600200"/>
            <a:ext cx="3456432" cy="10058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1801368"/>
            <a:ext cx="438912" cy="438912"/>
          </a:xfrm>
          <a:prstGeom prst="ellipse">
            <a:avLst/>
          </a:prstGeom>
          <a:solidFill>
            <a:srgbClr val="66A1F5"/>
          </a:solidFill>
          <a:ln>
            <a:solidFill>
              <a:srgbClr val="66A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6537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1746504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103120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IDs • timestamps • K-core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600200"/>
            <a:ext cx="3456432" cy="10058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75904" y="1801368"/>
            <a:ext cx="438912" cy="438912"/>
          </a:xfrm>
          <a:prstGeom prst="ellipse">
            <a:avLst/>
          </a:prstGeom>
          <a:solidFill>
            <a:srgbClr val="66A1F5"/>
          </a:solidFill>
          <a:ln>
            <a:solidFill>
              <a:srgbClr val="66A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86537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4544" y="1746504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Graph 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2103120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User–item bipartite 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017520"/>
            <a:ext cx="3456432" cy="10058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3218688"/>
            <a:ext cx="438912" cy="438912"/>
          </a:xfrm>
          <a:prstGeom prst="ellipse">
            <a:avLst/>
          </a:prstGeom>
          <a:solidFill>
            <a:srgbClr val="F77D70"/>
          </a:solidFill>
          <a:ln>
            <a:solidFill>
              <a:srgbClr val="F7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8269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163824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Noise &amp; fraud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520439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RRFN • LLM • burst signals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3017520"/>
            <a:ext cx="3456432" cy="10058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3712" y="3218688"/>
            <a:ext cx="438912" cy="438912"/>
          </a:xfrm>
          <a:prstGeom prst="ellipse">
            <a:avLst/>
          </a:prstGeom>
          <a:solidFill>
            <a:srgbClr val="A58BFA"/>
          </a:solidFill>
          <a:ln>
            <a:solidFill>
              <a:srgbClr val="A5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28269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2352" y="3163824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Reliability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3520439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Sample weights wᵢ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8744" y="3017520"/>
            <a:ext cx="3456432" cy="10058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75904" y="3218688"/>
            <a:ext cx="438912" cy="438912"/>
          </a:xfrm>
          <a:prstGeom prst="ellipse">
            <a:avLst/>
          </a:prstGeom>
          <a:solidFill>
            <a:srgbClr val="F5BE5A"/>
          </a:solidFill>
          <a:ln>
            <a:solidFill>
              <a:srgbClr val="F5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328269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4544" y="3163824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Catalog partition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544" y="3520439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Head / Tail + αᵤ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434840"/>
            <a:ext cx="3456432" cy="10058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520" y="4636007"/>
            <a:ext cx="438912" cy="438912"/>
          </a:xfrm>
          <a:prstGeom prst="ellipse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70001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581144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Robust model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937759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GNN + GCL + dual models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16552" y="4434840"/>
            <a:ext cx="3456432" cy="10058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53712" y="4636007"/>
            <a:ext cx="438912" cy="438912"/>
          </a:xfrm>
          <a:prstGeom prst="ellipse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53712" y="470001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2352" y="4581144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SUPER Top-K merge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2352" y="4937759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Denoised blueprint + quota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38744" y="4434840"/>
            <a:ext cx="3456432" cy="10058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75904" y="4636007"/>
            <a:ext cx="438912" cy="438912"/>
          </a:xfrm>
          <a:prstGeom prst="ellipse">
            <a:avLst/>
          </a:prstGeom>
          <a:solidFill>
            <a:srgbClr val="49D0DC"/>
          </a:solidFill>
          <a:ln>
            <a:solidFill>
              <a:srgbClr val="49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4700016"/>
            <a:ext cx="438912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24544" y="4581144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Evaluation hub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24544" y="4937759"/>
            <a:ext cx="26060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Accuracy • robustness • business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080760"/>
            <a:ext cx="105156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1">
                <a:solidFill>
                  <a:srgbClr val="49D0DC"/>
                </a:solidFill>
                <a:latin typeface="Aptos"/>
              </a:rPr>
              <a:t>Output: ranked recommendations + accuracy, robustness, fairness, cross-domain and business-impact evidence.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04 | STAGES 1–3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From raw data to a user–item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Each dataset is transformed into a consistent interaction representation.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474720" cy="23774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4864" cy="2231136"/>
          </a:xfrm>
          <a:prstGeom prst="rect">
            <a:avLst/>
          </a:prstGeom>
          <a:solidFill>
            <a:srgbClr val="49D0DC"/>
          </a:solidFill>
          <a:ln>
            <a:solidFill>
              <a:srgbClr val="49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55648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Input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MovieLens-100K: user–movie ratings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Amazon Reviews: product reviews and ratings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Yelp: user–business 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23774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19072"/>
            <a:ext cx="54864" cy="2231136"/>
          </a:xfrm>
          <a:prstGeom prst="rect">
            <a:avLst/>
          </a:prstGeom>
          <a:solidFill>
            <a:srgbClr val="66A1F5"/>
          </a:solidFill>
          <a:ln>
            <a:solidFill>
              <a:srgbClr val="66A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55648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48840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Compress/map user and item 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41448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Parse review text and normalize timestamps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34056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Apply K-core pruning (k ≥ 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026663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Clean metadata and category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45920"/>
            <a:ext cx="3474720" cy="237744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719072"/>
            <a:ext cx="54864" cy="2231136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755648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Graph construction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148840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Users and items become two node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441448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Interactions become graph edges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734056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Build normalized adjacency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026663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Protect isolated nodes (degree floor = 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434840"/>
            <a:ext cx="10241280" cy="77724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645152"/>
            <a:ext cx="969264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F2F6FC"/>
                </a:solidFill>
                <a:latin typeface="Aptos"/>
              </a:rPr>
              <a:t>Â = D⁻¹ᐟ² A D⁻¹ᐟ²     |     A = user–item adjacency     |     D = node-degree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Why it matters: this graph becomes the shared input structure for collaborative and graph-based models.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05 | STAGE 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Noise transition and fraud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The audit estimates how trustworthy observed feedback is before model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456432" cy="1170432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4864" cy="1024128"/>
          </a:xfrm>
          <a:prstGeom prst="rect">
            <a:avLst/>
          </a:prstGeom>
          <a:solidFill>
            <a:srgbClr val="49D0DC"/>
          </a:solidFill>
          <a:ln>
            <a:solidFill>
              <a:srgbClr val="49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55648"/>
            <a:ext cx="3182112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Anchor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136391" cy="60350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Choose a high-confidence clean subset.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45920"/>
            <a:ext cx="3456432" cy="1170432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1719072"/>
            <a:ext cx="54864" cy="1024128"/>
          </a:xfrm>
          <a:prstGeom prst="rect">
            <a:avLst/>
          </a:prstGeom>
          <a:solidFill>
            <a:srgbClr val="66A1F5"/>
          </a:solidFill>
          <a:ln>
            <a:solidFill>
              <a:srgbClr val="66A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755648"/>
            <a:ext cx="3182112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Transition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48840"/>
            <a:ext cx="3136391" cy="60350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Estimate a 5×5 rating-transition matrix Tᵢⱼ.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645920"/>
            <a:ext cx="3456432" cy="1170432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38744" y="1719072"/>
            <a:ext cx="54864" cy="1024128"/>
          </a:xfrm>
          <a:prstGeom prst="rect">
            <a:avLst/>
          </a:prstGeom>
          <a:solidFill>
            <a:srgbClr val="A58BFA"/>
          </a:solidFill>
          <a:ln>
            <a:solidFill>
              <a:srgbClr val="A5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755648"/>
            <a:ext cx="3182112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Regularized inversion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48840"/>
            <a:ext cx="3136391" cy="60350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Use Tikhonov regularization for stable correction.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063240"/>
            <a:ext cx="3456432" cy="1170432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136392"/>
            <a:ext cx="54864" cy="1024128"/>
          </a:xfrm>
          <a:prstGeom prst="rect">
            <a:avLst/>
          </a:prstGeom>
          <a:solidFill>
            <a:srgbClr val="F5BE5A"/>
          </a:solidFill>
          <a:ln>
            <a:solidFill>
              <a:srgbClr val="F5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172968"/>
            <a:ext cx="3182112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Behavioral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3136391" cy="60350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Detect temporal bursts and extreme rating-polarity skew.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063240"/>
            <a:ext cx="3456432" cy="1170432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3136392"/>
            <a:ext cx="54864" cy="1024128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172968"/>
            <a:ext cx="3182112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LLM text auditor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566160"/>
            <a:ext cx="3136391" cy="60350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Gemini/OpenAI prompt audit of review text; cache results.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3063240"/>
            <a:ext cx="3456432" cy="1170432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38744" y="3136392"/>
            <a:ext cx="54864" cy="1024128"/>
          </a:xfrm>
          <a:prstGeom prst="rect">
            <a:avLst/>
          </a:prstGeom>
          <a:solidFill>
            <a:srgbClr val="F77D70"/>
          </a:solidFill>
          <a:ln>
            <a:solidFill>
              <a:srgbClr val="F7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3172968"/>
            <a:ext cx="3182112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Bombing scorer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566160"/>
            <a:ext cx="3136391" cy="603504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Vectorized W @ X scoring for suspicious activity.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892040"/>
            <a:ext cx="10332720" cy="73152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074920"/>
            <a:ext cx="98755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F2F6FC"/>
                </a:solidFill>
                <a:latin typeface="Aptos"/>
              </a:rPr>
              <a:t>Output: risk/reliability evidence for each interaction or training sample—not just a binary fraud label.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52160"/>
            <a:ext cx="1042416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1">
                <a:solidFill>
                  <a:srgbClr val="F5BE5A"/>
                </a:solidFill>
                <a:latin typeface="Aptos"/>
              </a:rPr>
              <a:t>The LLM audits review text; it is not the recommendation backbone or a federated aggregator.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06 | STAGE 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Tri-view reliability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Three complementary evidence sources are combined into one sample weight.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063240" cy="13258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54864" cy="1179576"/>
          </a:xfrm>
          <a:prstGeom prst="rect">
            <a:avLst/>
          </a:prstGeom>
          <a:solidFill>
            <a:srgbClr val="49D0DC"/>
          </a:solidFill>
          <a:ln>
            <a:solidFill>
              <a:srgbClr val="49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2788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RRFN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743200" cy="7589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Noise-transition / rating correction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063240" cy="13258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719072"/>
            <a:ext cx="54864" cy="1179576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755648"/>
            <a:ext cx="2788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LLM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48840"/>
            <a:ext cx="2743200" cy="7589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Semantic review-text audit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45920"/>
            <a:ext cx="3063240" cy="13258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719072"/>
            <a:ext cx="54864" cy="1179576"/>
          </a:xfrm>
          <a:prstGeom prst="rect">
            <a:avLst/>
          </a:prstGeom>
          <a:solidFill>
            <a:srgbClr val="F77D70"/>
          </a:solidFill>
          <a:ln>
            <a:solidFill>
              <a:srgbClr val="F7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1755648"/>
            <a:ext cx="2788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Bombing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148840"/>
            <a:ext cx="2743200" cy="7589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Temporal burst and polarity anomaly evidence.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40280" y="3017520"/>
            <a:ext cx="3840480" cy="640080"/>
          </a:xfrm>
          <a:prstGeom prst="line">
            <a:avLst/>
          </a:prstGeom>
          <a:ln w="20320">
            <a:solidFill>
              <a:srgbClr val="49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3017520"/>
            <a:ext cx="0" cy="640080"/>
          </a:xfrm>
          <a:prstGeom prst="line">
            <a:avLst/>
          </a:prstGeom>
          <a:ln w="20320">
            <a:solidFill>
              <a:srgbClr val="37B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80760" y="3017520"/>
            <a:ext cx="3840480" cy="640080"/>
          </a:xfrm>
          <a:prstGeom prst="line">
            <a:avLst/>
          </a:prstGeom>
          <a:ln w="20320">
            <a:solidFill>
              <a:srgbClr val="F77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0" y="3657600"/>
            <a:ext cx="6675120" cy="91440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3858768"/>
            <a:ext cx="621792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2100" b="1">
                <a:solidFill>
                  <a:srgbClr val="F2F6FC"/>
                </a:solidFill>
                <a:latin typeface="Aptos"/>
              </a:rPr>
              <a:t>R_fused = α R_RRFN + β R_LLM + γ R_bomb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4617720"/>
            <a:ext cx="0" cy="457200"/>
          </a:xfrm>
          <a:prstGeom prst="line">
            <a:avLst/>
          </a:prstGeom>
          <a:ln w="20320">
            <a:solidFill>
              <a:srgbClr val="F5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37560" y="5074920"/>
            <a:ext cx="5486400" cy="5943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5212080"/>
            <a:ext cx="502920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F5BE5A"/>
                </a:solidFill>
                <a:latin typeface="Aptos"/>
              </a:rPr>
              <a:t>Sample reliability weights  wᵢ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0">
                <a:solidFill>
                  <a:srgbClr val="B4C0D0"/>
                </a:solidFill>
                <a:latin typeface="Aptos"/>
              </a:rPr>
              <a:t>Weights are used by risk-aware training and contrastive learning.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07 |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Pareto catalog partitioning and user tail inclination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The catalog is divided by interaction popularity; each user receives a personalized balance.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42416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B4C0D0"/>
                </a:solidFill>
                <a:latin typeface="Aptos"/>
              </a:rPr>
              <a:t>Illustrative partition by interaction share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474720" cy="731520"/>
          </a:xfrm>
          <a:prstGeom prst="rect">
            <a:avLst/>
          </a:prstGeom>
          <a:solidFill>
            <a:srgbClr val="F5BE5A"/>
          </a:solidFill>
          <a:ln>
            <a:solidFill>
              <a:srgbClr val="F5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0" y="2103120"/>
            <a:ext cx="7040880" cy="731520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329184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HEAD  |  Top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13432"/>
            <a:ext cx="676656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TAIL  |  Remaining 80%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4800600" cy="141732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19272"/>
            <a:ext cx="54864" cy="1271016"/>
          </a:xfrm>
          <a:prstGeom prst="rect">
            <a:avLst/>
          </a:prstGeom>
          <a:solidFill>
            <a:srgbClr val="F5BE5A"/>
          </a:solidFill>
          <a:ln>
            <a:solidFill>
              <a:srgbClr val="F5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355848"/>
            <a:ext cx="45262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F2F6FC"/>
                </a:solidFill>
                <a:latin typeface="Aptos"/>
              </a:rPr>
              <a:t>Head model  M_pop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4480560" cy="8503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Learns patterns associated with highly interacted-with items.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246120"/>
            <a:ext cx="4800600" cy="141732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3319272"/>
            <a:ext cx="54864" cy="1271016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3355848"/>
            <a:ext cx="45262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F2F6FC"/>
                </a:solidFill>
                <a:latin typeface="Aptos"/>
              </a:rPr>
              <a:t>Tail model  M_tail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4480560" cy="8503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Learns patterns from the long-tail catalog.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166360"/>
            <a:ext cx="8503920" cy="64008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5321808"/>
            <a:ext cx="80467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F2F6FC"/>
                </a:solidFill>
                <a:latin typeface="Aptos"/>
              </a:rPr>
              <a:t>User tail inclination  αᵤ  →  personalized Head/Tail quota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08 |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Neural backbones and graph contrastive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Five backbones provide collaborative and graph-based representations.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474720" cy="19659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4864" cy="1819656"/>
          </a:xfrm>
          <a:prstGeom prst="rect">
            <a:avLst/>
          </a:prstGeom>
          <a:solidFill>
            <a:srgbClr val="66A1F5"/>
          </a:solidFill>
          <a:ln>
            <a:solidFill>
              <a:srgbClr val="66A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55648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Collaborative / graph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LightGCN: graph propagation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NeuMF: GMF + MLP interaction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VaeCF: variational collaborative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474720" cy="19659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19072"/>
            <a:ext cx="54864" cy="1819656"/>
          </a:xfrm>
          <a:prstGeom prst="rect">
            <a:avLst/>
          </a:prstGeom>
          <a:solidFill>
            <a:srgbClr val="A58BFA"/>
          </a:solidFill>
          <a:ln>
            <a:solidFill>
              <a:srgbClr val="A5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55648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SimGCL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48840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Inject controlled noise directly into latent embeddings.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41448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Learn stable representations across perturbed views.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34056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No auxiliary graph view construction.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45920"/>
            <a:ext cx="3474720" cy="19659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719072"/>
            <a:ext cx="54864" cy="1819656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755648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SGL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148840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Create graph views through node dropout, edge dropout or random walks.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441448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Contrast representations across graph perturbations.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69080"/>
            <a:ext cx="10332720" cy="114300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233672"/>
            <a:ext cx="978408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RISK-AWARE INFONCE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72000"/>
            <a:ext cx="9784080" cy="43891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F2F6FC"/>
                </a:solidFill>
                <a:latin typeface="Aptos"/>
              </a:rPr>
              <a:t>L_cl = − Σᵢ wᵢ log [ exp(sim(zᵢ′, zᵢ″)/τ) / Σⱼ exp(sim(zᵢ′, zⱼ″)/τ)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24128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Reliability weight wᵢ reduces the influence of samples judged less trustworthy during contrastive learning.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09 | 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Dual partition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Head and Tail subsets are trained separately to preserve their different learning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554480"/>
            <a:ext cx="3931920" cy="59436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1709928"/>
            <a:ext cx="34747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F2F6FC"/>
                </a:solidFill>
                <a:latin typeface="Aptos"/>
              </a:rPr>
              <a:t>Reliability-weighted interactions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834640" y="2176272"/>
            <a:ext cx="1965960" cy="521208"/>
          </a:xfrm>
          <a:prstGeom prst="line">
            <a:avLst/>
          </a:prstGeom>
          <a:ln w="20320">
            <a:solidFill>
              <a:srgbClr val="F5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60920" y="2176272"/>
            <a:ext cx="1965960" cy="521208"/>
          </a:xfrm>
          <a:prstGeom prst="line">
            <a:avLst/>
          </a:prstGeom>
          <a:ln w="20320">
            <a:solidFill>
              <a:srgbClr val="37B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697480"/>
            <a:ext cx="4297680" cy="15544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70632"/>
            <a:ext cx="54864" cy="1408176"/>
          </a:xfrm>
          <a:prstGeom prst="rect">
            <a:avLst/>
          </a:prstGeom>
          <a:solidFill>
            <a:srgbClr val="F5BE5A"/>
          </a:solidFill>
          <a:ln>
            <a:solidFill>
              <a:srgbClr val="F5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807208"/>
            <a:ext cx="40233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F2F6FC"/>
                </a:solidFill>
                <a:latin typeface="Aptos"/>
              </a:rPr>
              <a:t>Head subset → M_pop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97764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Train on popular/head interactions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3008"/>
            <a:ext cx="397764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Use sample-weighted NLL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697480"/>
            <a:ext cx="4297680" cy="15544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8040" y="2770632"/>
            <a:ext cx="54864" cy="1408176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1" y="2807208"/>
            <a:ext cx="40233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F2F6FC"/>
                </a:solidFill>
                <a:latin typeface="Aptos"/>
              </a:rPr>
              <a:t>Tail subset → M_tail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3200400"/>
            <a:ext cx="397764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Train on long-tail interactions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3493008"/>
            <a:ext cx="397764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Use sample-weighted NLL loss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4297680"/>
            <a:ext cx="2377440" cy="548640"/>
          </a:xfrm>
          <a:prstGeom prst="line">
            <a:avLst/>
          </a:prstGeom>
          <a:ln w="20320">
            <a:solidFill>
              <a:srgbClr val="F5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903720" y="4297680"/>
            <a:ext cx="2423160" cy="548640"/>
          </a:xfrm>
          <a:prstGeom prst="line">
            <a:avLst/>
          </a:prstGeom>
          <a:ln w="20320">
            <a:solidFill>
              <a:srgbClr val="37B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926080" y="4846320"/>
            <a:ext cx="6309360" cy="73152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5029200"/>
            <a:ext cx="58521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F2F6FC"/>
                </a:solidFill>
                <a:latin typeface="Aptos"/>
              </a:rPr>
              <a:t>Two specialized models → candidate scores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5156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Purpose: model the two popularity regimes separately rather than forcing one scoring behavior.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10 | STAGE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SUPER engine: denoised blueprint and Top-K soft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Final ranking combines model scores with the user's learned Head/Tail inclination.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474720" cy="17830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4864" cy="1636776"/>
          </a:xfrm>
          <a:prstGeom prst="rect">
            <a:avLst/>
          </a:prstGeom>
          <a:solidFill>
            <a:srgbClr val="F5BE5A"/>
          </a:solidFill>
          <a:ln>
            <a:solidFill>
              <a:srgbClr val="F5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55648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Candidate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Score items with M_pop and M_tail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Create Head set C_head and Tail set C_tail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474720" cy="17830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19072"/>
            <a:ext cx="54864" cy="1636776"/>
          </a:xfrm>
          <a:prstGeom prst="rect">
            <a:avLst/>
          </a:prstGeom>
          <a:solidFill>
            <a:srgbClr val="F77D70"/>
          </a:solidFill>
          <a:ln>
            <a:solidFill>
              <a:srgbClr val="F7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755648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Denoised blueprint Bᵤ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48840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Use clean interaction anchors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41448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Remove confirmed malicious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34056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Preserve reliable preference patterns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474720" cy="17830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19072"/>
            <a:ext cx="54864" cy="1636776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755648"/>
            <a:ext cx="32004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Calibrated merge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148840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Apply personalized tail inclination αᵤ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441448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Deduplicate 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734056"/>
            <a:ext cx="3154679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B4C0D0"/>
                </a:solidFill>
                <a:latin typeface="Aptos"/>
              </a:rPr>
              <a:t>• Protect empty/zero-K cases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3474720"/>
            <a:ext cx="3749040" cy="594360"/>
          </a:xfrm>
          <a:prstGeom prst="line">
            <a:avLst/>
          </a:prstGeom>
          <a:ln w="20320">
            <a:solidFill>
              <a:srgbClr val="F5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3474720"/>
            <a:ext cx="0" cy="594360"/>
          </a:xfrm>
          <a:prstGeom prst="line">
            <a:avLst/>
          </a:prstGeom>
          <a:ln w="20320">
            <a:solidFill>
              <a:srgbClr val="F77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080760" y="3474720"/>
            <a:ext cx="3749040" cy="594360"/>
          </a:xfrm>
          <a:prstGeom prst="line">
            <a:avLst/>
          </a:prstGeom>
          <a:ln w="20320">
            <a:solidFill>
              <a:srgbClr val="37B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28800" y="4069080"/>
            <a:ext cx="8503920" cy="86868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4270248"/>
            <a:ext cx="804672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800" b="1">
                <a:solidFill>
                  <a:srgbClr val="F2F6FC"/>
                </a:solidFill>
                <a:latin typeface="Aptos"/>
              </a:rPr>
              <a:t>Top-K = αᵤ · Tail candidates + (1 − αᵤ) · Head candidates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57800"/>
            <a:ext cx="10515600" cy="6858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200" b="0">
                <a:solidFill>
                  <a:srgbClr val="F5BE5A"/>
                </a:solidFill>
                <a:latin typeface="Aptos"/>
              </a:rPr>
              <a:t>This is a conceptual quota/merge expression: the implementation performs calibrated candidate selection and ranking, not literal arithmetic addition of item lists.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11 | STAGE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What is evaluated?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Evaluation separates recommendation quality, robustness/fairness and business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520440" cy="274320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19072"/>
            <a:ext cx="54864" cy="2596896"/>
          </a:xfrm>
          <a:prstGeom prst="rect">
            <a:avLst/>
          </a:prstGeom>
          <a:solidFill>
            <a:srgbClr val="66A1F5"/>
          </a:solidFill>
          <a:ln>
            <a:solidFill>
              <a:srgbClr val="66A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55648"/>
            <a:ext cx="32461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F2F6FC"/>
                </a:solidFill>
                <a:latin typeface="Aptos"/>
              </a:rPr>
              <a:t>Academic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Recall@K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nDCG@K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Precision@K and HR@K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26663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RMSE-PC rating 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520440" cy="274320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19072"/>
            <a:ext cx="54864" cy="2596896"/>
          </a:xfrm>
          <a:prstGeom prst="rect">
            <a:avLst/>
          </a:prstGeom>
          <a:solidFill>
            <a:srgbClr val="F77D70"/>
          </a:solidFill>
          <a:ln>
            <a:solidFill>
              <a:srgbClr val="F77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755648"/>
            <a:ext cx="32461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F2F6FC"/>
                </a:solidFill>
                <a:latin typeface="Aptos"/>
              </a:rPr>
              <a:t>Robustness &amp; debiasing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48840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Noise detection 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41448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Attack impact / performance drop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734056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Long-tail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026663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Gini / exposure distribution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645920"/>
            <a:ext cx="3520440" cy="274320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719072"/>
            <a:ext cx="54864" cy="2596896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755648"/>
            <a:ext cx="32461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F2F6FC"/>
                </a:solidFill>
                <a:latin typeface="Aptos"/>
              </a:rPr>
              <a:t>A/B business 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148840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Estimated CTR and CVR lift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441448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GMV / revenue projection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734056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ROI and traffic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3026663"/>
            <a:ext cx="3200400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• Bootstrap 95% CI and p-value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600" b="1">
                <a:solidFill>
                  <a:srgbClr val="F2F6FC"/>
                </a:solidFill>
                <a:latin typeface="Aptos"/>
              </a:rPr>
              <a:t>A useful system should rank relevant items, resist noisy feedback, improve long-tail exposure, and show plausible business value under stated simulation assumptions.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12 | NEW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A/B testing simulator: from model metrics to business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The dashboard estimates how ranking improvements could translate into CTR and revenue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12801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54864" cy="1133856"/>
          </a:xfrm>
          <a:prstGeom prst="rect">
            <a:avLst/>
          </a:prstGeom>
          <a:solidFill>
            <a:srgbClr val="66A1F5"/>
          </a:solidFill>
          <a:ln>
            <a:solidFill>
              <a:srgbClr val="66A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4114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F2F6FC"/>
                </a:solidFill>
                <a:latin typeface="Aptos"/>
              </a:rPr>
              <a:t>Baseline recommender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069080" cy="713231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Reference CTR, CVR, AOV and traffic share.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645920"/>
            <a:ext cx="4389120" cy="128016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1719072"/>
            <a:ext cx="54864" cy="1133856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51192" y="1755648"/>
            <a:ext cx="4114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700" b="1">
                <a:solidFill>
                  <a:srgbClr val="F2F6FC"/>
                </a:solidFill>
                <a:latin typeface="Aptos"/>
              </a:rPr>
              <a:t>RRFN-LLM-SUPER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48840"/>
            <a:ext cx="4069080" cy="713231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Projected CTR/CVR and long-tail novelty lift.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2971800"/>
            <a:ext cx="3154680" cy="548640"/>
          </a:xfrm>
          <a:prstGeom prst="line">
            <a:avLst/>
          </a:prstGeom>
          <a:ln w="20320">
            <a:solidFill>
              <a:srgbClr val="66A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80760" y="2971800"/>
            <a:ext cx="3200400" cy="548640"/>
          </a:xfrm>
          <a:prstGeom prst="line">
            <a:avLst/>
          </a:prstGeom>
          <a:ln w="20320">
            <a:solidFill>
              <a:srgbClr val="37BE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28800" y="3520440"/>
            <a:ext cx="8503920" cy="86868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3721608"/>
            <a:ext cx="804672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800" b="1">
                <a:solidFill>
                  <a:srgbClr val="F2F6FC"/>
                </a:solidFill>
                <a:latin typeface="Aptos"/>
              </a:rPr>
              <a:t>CTR → CVR → AOV → GMV / revenue → revenue lift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434840"/>
            <a:ext cx="0" cy="365760"/>
          </a:xfrm>
          <a:prstGeom prst="line">
            <a:avLst/>
          </a:prstGeom>
          <a:ln w="20320">
            <a:solidFill>
              <a:srgbClr val="F5B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468880" y="4800600"/>
            <a:ext cx="7223760" cy="68580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4965192"/>
            <a:ext cx="676656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400" b="1">
                <a:solidFill>
                  <a:srgbClr val="F5BE5A"/>
                </a:solidFill>
                <a:latin typeface="Aptos"/>
              </a:rPr>
              <a:t>Bootstrap simulation: 95% confidence interval + p-value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156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1">
                <a:solidFill>
                  <a:srgbClr val="F77D70"/>
                </a:solidFill>
                <a:latin typeface="Aptos"/>
              </a:rPr>
              <a:t>Important: this is a model-based simulation, not a live randomized production A/B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13 | NEW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Multi-domain validation and backbone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Test whether the approach generalizes across different interaction environments.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13258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54864" cy="1179576"/>
          </a:xfrm>
          <a:prstGeom prst="rect">
            <a:avLst/>
          </a:prstGeom>
          <a:solidFill>
            <a:srgbClr val="66A1F5"/>
          </a:solidFill>
          <a:ln>
            <a:solidFill>
              <a:srgbClr val="66A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3154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F2F6FC"/>
                </a:solidFill>
                <a:latin typeface="Aptos"/>
              </a:rPr>
              <a:t>MovieLens-100K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3108960" cy="7589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Movie ratings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29000" cy="13258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19072"/>
            <a:ext cx="54864" cy="1179576"/>
          </a:xfrm>
          <a:prstGeom prst="rect">
            <a:avLst/>
          </a:prstGeom>
          <a:solidFill>
            <a:srgbClr val="F5BE5A"/>
          </a:solidFill>
          <a:ln>
            <a:solidFill>
              <a:srgbClr val="F5B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55648"/>
            <a:ext cx="3154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F2F6FC"/>
                </a:solidFill>
                <a:latin typeface="Aptos"/>
              </a:rPr>
              <a:t>Amazon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108960" cy="7589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Product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29000" cy="1325880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719072"/>
            <a:ext cx="54864" cy="1179576"/>
          </a:xfrm>
          <a:prstGeom prst="rect">
            <a:avLst/>
          </a:prstGeom>
          <a:solidFill>
            <a:srgbClr val="37BEA0"/>
          </a:solidFill>
          <a:ln>
            <a:solidFill>
              <a:srgbClr val="37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755648"/>
            <a:ext cx="3154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800" b="1">
                <a:solidFill>
                  <a:srgbClr val="F2F6FC"/>
                </a:solidFill>
                <a:latin typeface="Aptos"/>
              </a:rPr>
              <a:t>Yelp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108960" cy="7589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400" b="0">
                <a:solidFill>
                  <a:srgbClr val="B4C0D0"/>
                </a:solidFill>
                <a:latin typeface="Aptos"/>
              </a:rPr>
              <a:t>Business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1">
                <a:solidFill>
                  <a:srgbClr val="49D0DC"/>
                </a:solidFill>
                <a:latin typeface="Aptos"/>
              </a:rPr>
              <a:t>FIVE BACKBONES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977639"/>
            <a:ext cx="1828800" cy="50292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96512"/>
            <a:ext cx="173736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400" b="1">
                <a:solidFill>
                  <a:srgbClr val="F2F6FC"/>
                </a:solidFill>
                <a:latin typeface="Aptos"/>
              </a:rPr>
              <a:t>NeuMF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977639"/>
            <a:ext cx="1828800" cy="50292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4096512"/>
            <a:ext cx="173736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400" b="1">
                <a:solidFill>
                  <a:srgbClr val="F2F6FC"/>
                </a:solidFill>
                <a:latin typeface="Aptos"/>
              </a:rPr>
              <a:t>LightGCN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977639"/>
            <a:ext cx="1828800" cy="50292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4096512"/>
            <a:ext cx="173736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400" b="1">
                <a:solidFill>
                  <a:srgbClr val="F2F6FC"/>
                </a:solidFill>
                <a:latin typeface="Aptos"/>
              </a:rPr>
              <a:t>VaeCF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977639"/>
            <a:ext cx="1828800" cy="50292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4096512"/>
            <a:ext cx="173736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400" b="1">
                <a:solidFill>
                  <a:srgbClr val="F2F6FC"/>
                </a:solidFill>
                <a:latin typeface="Aptos"/>
              </a:rPr>
              <a:t>SimGCL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3977639"/>
            <a:ext cx="1828800" cy="50292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4096512"/>
            <a:ext cx="173736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400" b="1">
                <a:solidFill>
                  <a:srgbClr val="F2F6FC"/>
                </a:solidFill>
                <a:latin typeface="Aptos"/>
              </a:rPr>
              <a:t>SGL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800600"/>
            <a:ext cx="10149840" cy="82296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029200"/>
            <a:ext cx="96012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F2F6FC"/>
                </a:solidFill>
                <a:latin typeface="Aptos"/>
              </a:rPr>
              <a:t>Cross-domain metrics + domain-wise breakdown + radar-chart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52160"/>
            <a:ext cx="105156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100" b="0">
                <a:solidFill>
                  <a:srgbClr val="B4C0D0"/>
                </a:solidFill>
                <a:latin typeface="Aptos"/>
              </a:rPr>
              <a:t>Goal: distinguish dataset-specific gains from improvements that transfer across domains.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000" b="1">
                <a:solidFill>
                  <a:srgbClr val="49D0DC"/>
                </a:solidFill>
                <a:latin typeface="Aptos"/>
              </a:rPr>
              <a:t>14 |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The complete project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B4C0D0"/>
                </a:solidFill>
                <a:latin typeface="Aptos"/>
              </a:rPr>
              <a:t>Four connected contributions form the research and evaluation narrative.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15600" cy="749808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64792"/>
            <a:ext cx="25603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77D70"/>
                </a:solidFill>
                <a:latin typeface="Aptos"/>
              </a:rPr>
              <a:t>1. Detect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46504"/>
            <a:ext cx="73152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F2F6FC"/>
                </a:solidFill>
                <a:latin typeface="Aptos"/>
              </a:rPr>
              <a:t>Estimate noisy or suspicious feedback using statistical, behavioral and LLM-based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87752"/>
            <a:ext cx="10515600" cy="749808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52344"/>
            <a:ext cx="25603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A58BFA"/>
                </a:solidFill>
                <a:latin typeface="Aptos"/>
              </a:rPr>
              <a:t>2. Learn robust representations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34056"/>
            <a:ext cx="73152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F2F6FC"/>
                </a:solidFill>
                <a:latin typeface="Aptos"/>
              </a:rPr>
              <a:t>Use SimGCL/SGL and reliability-weighted contrastive learning to reduce noise influence.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75304"/>
            <a:ext cx="10515600" cy="749808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39896"/>
            <a:ext cx="25603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F5BE5A"/>
                </a:solidFill>
                <a:latin typeface="Aptos"/>
              </a:rPr>
              <a:t>3. Control popularity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21608"/>
            <a:ext cx="73152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F2F6FC"/>
                </a:solidFill>
                <a:latin typeface="Aptos"/>
              </a:rPr>
              <a:t>Train Head/Tail models and personalize their final merge using αᵤ.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62856"/>
            <a:ext cx="10515600" cy="749808"/>
          </a:xfrm>
          <a:prstGeom prst="roundRect">
            <a:avLst/>
          </a:prstGeom>
          <a:solidFill>
            <a:srgbClr val="1B273D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27448"/>
            <a:ext cx="256032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500" b="1">
                <a:solidFill>
                  <a:srgbClr val="37BEA0"/>
                </a:solidFill>
                <a:latin typeface="Aptos"/>
              </a:rPr>
              <a:t>4. Validate beyond one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09160"/>
            <a:ext cx="73152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1300" b="0">
                <a:solidFill>
                  <a:srgbClr val="F2F6FC"/>
                </a:solidFill>
                <a:latin typeface="Aptos"/>
              </a:rPr>
              <a:t>Benchmark accuracy, robustness, long-tail exposure, business simulation and cross-domain transfer.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715000"/>
            <a:ext cx="9966960" cy="502920"/>
          </a:xfrm>
          <a:prstGeom prst="roundRect">
            <a:avLst/>
          </a:prstGeom>
          <a:solidFill>
            <a:srgbClr val="273750"/>
          </a:solidFill>
          <a:ln w="12700">
            <a:solidFill>
              <a:srgbClr val="27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5833872"/>
            <a:ext cx="9509760" cy="25603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F2F6FC"/>
                </a:solidFill>
                <a:latin typeface="Aptos"/>
              </a:rPr>
              <a:t>Reliable feedback  →  robust learning  →  fairer ranking  →  measurable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8229600" cy="16459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l"/>
            <a:r>
              <a:rPr sz="800" b="0">
                <a:solidFill>
                  <a:srgbClr val="B4C0D0"/>
                </a:solidFill>
                <a:latin typeface="Aptos"/>
              </a:rPr>
              <a:t>RRFN-LLM-SUPER  |  Project workflow &amp; 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r"/>
            <a:r>
              <a:rPr sz="900" b="0">
                <a:solidFill>
                  <a:srgbClr val="B4C0D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RRFN-LLM-SUPER: Project Workflow and Working</dc:title>
  <dc:subject>End-to-end workflow, algorithms, modules and evaluation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