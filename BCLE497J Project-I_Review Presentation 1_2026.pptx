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79" r:id="rId4"/>
    <p:sldId id="280" r:id="rId5"/>
    <p:sldId id="281" r:id="rId6"/>
    <p:sldId id="282" r:id="rId7"/>
    <p:sldId id="283" r:id="rId8"/>
    <p:sldId id="284" r:id="rId9"/>
    <p:sldId id="290" r:id="rId10"/>
    <p:sldId id="285" r:id="rId11"/>
    <p:sldId id="286" r:id="rId12"/>
    <p:sldId id="287" r:id="rId13"/>
    <p:sldId id="288" r:id="rId14"/>
    <p:sldId id="289" r:id="rId15"/>
  </p:sldIdLst>
  <p:sldSz cx="12599988" cy="7199313"/>
  <p:notesSz cx="6858000" cy="9144000"/>
  <p:defaultTextStyle>
    <a:defPPr>
      <a:defRPr lang="en-US"/>
    </a:defPPr>
    <a:lvl1pPr marL="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C8E16-E60D-41BB-8814-F81BA67993E4}" v="2" dt="2026-07-29T09:40:31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850" y="-14"/>
      </p:cViewPr>
      <p:guideLst>
        <p:guide orient="horz" pos="2268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ika Rajagopal" userId="42086f31d803f256" providerId="LiveId" clId="{22EB7FFA-8E75-4D47-B384-B7283ADBABF7}"/>
    <pc:docChg chg="undo custSel modSld">
      <pc:chgData name="Gopika Rajagopal" userId="42086f31d803f256" providerId="LiveId" clId="{22EB7FFA-8E75-4D47-B384-B7283ADBABF7}" dt="2026-07-31T03:09:33.787" v="66" actId="1076"/>
      <pc:docMkLst>
        <pc:docMk/>
      </pc:docMkLst>
      <pc:sldChg chg="addSp delSp modSp mod">
        <pc:chgData name="Gopika Rajagopal" userId="42086f31d803f256" providerId="LiveId" clId="{22EB7FFA-8E75-4D47-B384-B7283ADBABF7}" dt="2026-07-29T09:44:51.116" v="26" actId="1076"/>
        <pc:sldMkLst>
          <pc:docMk/>
          <pc:sldMk cId="2563394159" sldId="256"/>
        </pc:sldMkLst>
        <pc:spChg chg="mod">
          <ac:chgData name="Gopika Rajagopal" userId="42086f31d803f256" providerId="LiveId" clId="{22EB7FFA-8E75-4D47-B384-B7283ADBABF7}" dt="2026-07-29T09:44:28.505" v="22" actId="1076"/>
          <ac:spMkLst>
            <pc:docMk/>
            <pc:sldMk cId="2563394159" sldId="256"/>
            <ac:spMk id="3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4:32.425" v="24" actId="1076"/>
          <ac:spMkLst>
            <pc:docMk/>
            <pc:sldMk cId="2563394159" sldId="256"/>
            <ac:spMk id="4" creationId="{9B3431E2-EDEF-674F-C862-DA61BF7DA90F}"/>
          </ac:spMkLst>
        </pc:spChg>
        <pc:spChg chg="mod">
          <ac:chgData name="Gopika Rajagopal" userId="42086f31d803f256" providerId="LiveId" clId="{22EB7FFA-8E75-4D47-B384-B7283ADBABF7}" dt="2026-07-29T09:44:01.939" v="14" actId="1076"/>
          <ac:spMkLst>
            <pc:docMk/>
            <pc:sldMk cId="2563394159" sldId="256"/>
            <ac:spMk id="7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4:44.211" v="25" actId="1076"/>
          <ac:spMkLst>
            <pc:docMk/>
            <pc:sldMk cId="2563394159" sldId="256"/>
            <ac:spMk id="10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0:02.502" v="10" actId="20577"/>
          <ac:spMkLst>
            <pc:docMk/>
            <pc:sldMk cId="2563394159" sldId="256"/>
            <ac:spMk id="13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4:51.116" v="26" actId="1076"/>
          <ac:spMkLst>
            <pc:docMk/>
            <pc:sldMk cId="2563394159" sldId="256"/>
            <ac:spMk id="14" creationId="{00000000-0000-0000-0000-000000000000}"/>
          </ac:spMkLst>
        </pc:spChg>
        <pc:picChg chg="add mod">
          <ac:chgData name="Gopika Rajagopal" userId="42086f31d803f256" providerId="LiveId" clId="{22EB7FFA-8E75-4D47-B384-B7283ADBABF7}" dt="2026-07-29T09:43:58.161" v="13" actId="1076"/>
          <ac:picMkLst>
            <pc:docMk/>
            <pc:sldMk cId="2563394159" sldId="256"/>
            <ac:picMk id="6" creationId="{1A8ECCBD-8295-1D4A-48F5-307232AD4E73}"/>
          </ac:picMkLst>
        </pc:picChg>
      </pc:sldChg>
      <pc:sldChg chg="addSp delSp modSp mod">
        <pc:chgData name="Gopika Rajagopal" userId="42086f31d803f256" providerId="LiveId" clId="{22EB7FFA-8E75-4D47-B384-B7283ADBABF7}" dt="2026-07-31T03:09:33.787" v="66" actId="1076"/>
        <pc:sldMkLst>
          <pc:docMk/>
          <pc:sldMk cId="3253031370" sldId="258"/>
        </pc:sldMkLst>
        <pc:spChg chg="mod">
          <ac:chgData name="Gopika Rajagopal" userId="42086f31d803f256" providerId="LiveId" clId="{22EB7FFA-8E75-4D47-B384-B7283ADBABF7}" dt="2026-07-29T09:40:14.843" v="11" actId="20577"/>
          <ac:spMkLst>
            <pc:docMk/>
            <pc:sldMk cId="3253031370" sldId="258"/>
            <ac:spMk id="7" creationId="{00000000-0000-0000-0000-000000000000}"/>
          </ac:spMkLst>
        </pc:spChg>
        <pc:picChg chg="add mod">
          <ac:chgData name="Gopika Rajagopal" userId="42086f31d803f256" providerId="LiveId" clId="{22EB7FFA-8E75-4D47-B384-B7283ADBABF7}" dt="2026-07-31T03:09:33.787" v="66" actId="1076"/>
          <ac:picMkLst>
            <pc:docMk/>
            <pc:sldMk cId="3253031370" sldId="258"/>
            <ac:picMk id="10" creationId="{C3EFD873-47CB-0384-C1D2-2487C5F02461}"/>
          </ac:picMkLst>
        </pc:picChg>
      </pc:sldChg>
      <pc:sldChg chg="addSp delSp modSp mod">
        <pc:chgData name="Gopika Rajagopal" userId="42086f31d803f256" providerId="LiveId" clId="{22EB7FFA-8E75-4D47-B384-B7283ADBABF7}" dt="2026-07-29T09:45:31.176" v="31" actId="1076"/>
        <pc:sldMkLst>
          <pc:docMk/>
          <pc:sldMk cId="3837697078" sldId="279"/>
        </pc:sldMkLst>
        <pc:picChg chg="add mod">
          <ac:chgData name="Gopika Rajagopal" userId="42086f31d803f256" providerId="LiveId" clId="{22EB7FFA-8E75-4D47-B384-B7283ADBABF7}" dt="2026-07-29T09:45:31.176" v="31" actId="1076"/>
          <ac:picMkLst>
            <pc:docMk/>
            <pc:sldMk cId="3837697078" sldId="279"/>
            <ac:picMk id="10" creationId="{495075FB-B3F1-136F-D1FE-D4432EF2CE7C}"/>
          </ac:picMkLst>
        </pc:picChg>
      </pc:sldChg>
      <pc:sldChg chg="addSp delSp modSp mod">
        <pc:chgData name="Gopika Rajagopal" userId="42086f31d803f256" providerId="LiveId" clId="{22EB7FFA-8E75-4D47-B384-B7283ADBABF7}" dt="2026-07-31T03:09:06.825" v="64" actId="1076"/>
        <pc:sldMkLst>
          <pc:docMk/>
          <pc:sldMk cId="3591659841" sldId="280"/>
        </pc:sldMkLst>
        <pc:picChg chg="add mod">
          <ac:chgData name="Gopika Rajagopal" userId="42086f31d803f256" providerId="LiveId" clId="{22EB7FFA-8E75-4D47-B384-B7283ADBABF7}" dt="2026-07-31T03:09:06.825" v="64" actId="1076"/>
          <ac:picMkLst>
            <pc:docMk/>
            <pc:sldMk cId="3591659841" sldId="280"/>
            <ac:picMk id="10" creationId="{DA4D8E68-B990-9DD1-69D4-B40928B7DF68}"/>
          </ac:picMkLst>
        </pc:picChg>
      </pc:sldChg>
      <pc:sldChg chg="addSp delSp modSp mod">
        <pc:chgData name="Gopika Rajagopal" userId="42086f31d803f256" providerId="LiveId" clId="{22EB7FFA-8E75-4D47-B384-B7283ADBABF7}" dt="2026-07-29T09:46:13.195" v="37" actId="1076"/>
        <pc:sldMkLst>
          <pc:docMk/>
          <pc:sldMk cId="2417653756" sldId="281"/>
        </pc:sldMkLst>
        <pc:picChg chg="add mod">
          <ac:chgData name="Gopika Rajagopal" userId="42086f31d803f256" providerId="LiveId" clId="{22EB7FFA-8E75-4D47-B384-B7283ADBABF7}" dt="2026-07-29T09:46:13.195" v="37" actId="1076"/>
          <ac:picMkLst>
            <pc:docMk/>
            <pc:sldMk cId="2417653756" sldId="281"/>
            <ac:picMk id="11" creationId="{6655BF6B-7664-F598-025B-2A9C1F1044E7}"/>
          </ac:picMkLst>
        </pc:picChg>
      </pc:sldChg>
      <pc:sldChg chg="addSp delSp modSp mod">
        <pc:chgData name="Gopika Rajagopal" userId="42086f31d803f256" providerId="LiveId" clId="{22EB7FFA-8E75-4D47-B384-B7283ADBABF7}" dt="2026-07-29T09:46:25.393" v="40" actId="1076"/>
        <pc:sldMkLst>
          <pc:docMk/>
          <pc:sldMk cId="116182600" sldId="282"/>
        </pc:sldMkLst>
        <pc:picChg chg="add mod">
          <ac:chgData name="Gopika Rajagopal" userId="42086f31d803f256" providerId="LiveId" clId="{22EB7FFA-8E75-4D47-B384-B7283ADBABF7}" dt="2026-07-29T09:46:25.393" v="40" actId="1076"/>
          <ac:picMkLst>
            <pc:docMk/>
            <pc:sldMk cId="116182600" sldId="282"/>
            <ac:picMk id="10" creationId="{9A0E9344-36AF-B2F5-1B2C-7EDCA2FCA28B}"/>
          </ac:picMkLst>
        </pc:picChg>
      </pc:sldChg>
      <pc:sldChg chg="addSp delSp modSp mod">
        <pc:chgData name="Gopika Rajagopal" userId="42086f31d803f256" providerId="LiveId" clId="{22EB7FFA-8E75-4D47-B384-B7283ADBABF7}" dt="2026-07-29T09:46:41.133" v="43" actId="1076"/>
        <pc:sldMkLst>
          <pc:docMk/>
          <pc:sldMk cId="2881907649" sldId="283"/>
        </pc:sldMkLst>
        <pc:picChg chg="add mod">
          <ac:chgData name="Gopika Rajagopal" userId="42086f31d803f256" providerId="LiveId" clId="{22EB7FFA-8E75-4D47-B384-B7283ADBABF7}" dt="2026-07-29T09:46:41.133" v="43" actId="1076"/>
          <ac:picMkLst>
            <pc:docMk/>
            <pc:sldMk cId="2881907649" sldId="283"/>
            <ac:picMk id="10" creationId="{EB28BF39-B621-98B6-A6AF-4D38159CAC57}"/>
          </ac:picMkLst>
        </pc:picChg>
      </pc:sldChg>
      <pc:sldChg chg="addSp delSp modSp mod">
        <pc:chgData name="Gopika Rajagopal" userId="42086f31d803f256" providerId="LiveId" clId="{22EB7FFA-8E75-4D47-B384-B7283ADBABF7}" dt="2026-07-29T09:46:54.455" v="46" actId="1076"/>
        <pc:sldMkLst>
          <pc:docMk/>
          <pc:sldMk cId="3095138645" sldId="284"/>
        </pc:sldMkLst>
        <pc:picChg chg="add mod">
          <ac:chgData name="Gopika Rajagopal" userId="42086f31d803f256" providerId="LiveId" clId="{22EB7FFA-8E75-4D47-B384-B7283ADBABF7}" dt="2026-07-29T09:46:54.455" v="46" actId="1076"/>
          <ac:picMkLst>
            <pc:docMk/>
            <pc:sldMk cId="3095138645" sldId="284"/>
            <ac:picMk id="10" creationId="{34D317B4-8B9D-93EB-73BE-AC310916D72C}"/>
          </ac:picMkLst>
        </pc:picChg>
      </pc:sldChg>
      <pc:sldChg chg="addSp delSp modSp mod">
        <pc:chgData name="Gopika Rajagopal" userId="42086f31d803f256" providerId="LiveId" clId="{22EB7FFA-8E75-4D47-B384-B7283ADBABF7}" dt="2026-07-29T09:47:09.005" v="49" actId="1076"/>
        <pc:sldMkLst>
          <pc:docMk/>
          <pc:sldMk cId="184327740" sldId="285"/>
        </pc:sldMkLst>
        <pc:picChg chg="add mod">
          <ac:chgData name="Gopika Rajagopal" userId="42086f31d803f256" providerId="LiveId" clId="{22EB7FFA-8E75-4D47-B384-B7283ADBABF7}" dt="2026-07-29T09:47:09.005" v="49" actId="1076"/>
          <ac:picMkLst>
            <pc:docMk/>
            <pc:sldMk cId="184327740" sldId="285"/>
            <ac:picMk id="10" creationId="{AC6DB7B8-CC6E-97E5-8AE7-E158FC0F3280}"/>
          </ac:picMkLst>
        </pc:picChg>
      </pc:sldChg>
      <pc:sldChg chg="addSp delSp modSp mod">
        <pc:chgData name="Gopika Rajagopal" userId="42086f31d803f256" providerId="LiveId" clId="{22EB7FFA-8E75-4D47-B384-B7283ADBABF7}" dt="2026-07-29T09:47:21.364" v="52" actId="1076"/>
        <pc:sldMkLst>
          <pc:docMk/>
          <pc:sldMk cId="1266416029" sldId="286"/>
        </pc:sldMkLst>
        <pc:picChg chg="add mod">
          <ac:chgData name="Gopika Rajagopal" userId="42086f31d803f256" providerId="LiveId" clId="{22EB7FFA-8E75-4D47-B384-B7283ADBABF7}" dt="2026-07-29T09:47:21.364" v="52" actId="1076"/>
          <ac:picMkLst>
            <pc:docMk/>
            <pc:sldMk cId="1266416029" sldId="286"/>
            <ac:picMk id="10" creationId="{DA4B595F-793E-26AF-CFA9-14032DED0850}"/>
          </ac:picMkLst>
        </pc:picChg>
      </pc:sldChg>
      <pc:sldChg chg="addSp delSp modSp mod">
        <pc:chgData name="Gopika Rajagopal" userId="42086f31d803f256" providerId="LiveId" clId="{22EB7FFA-8E75-4D47-B384-B7283ADBABF7}" dt="2026-07-29T09:47:46.366" v="56" actId="1076"/>
        <pc:sldMkLst>
          <pc:docMk/>
          <pc:sldMk cId="3753904006" sldId="287"/>
        </pc:sldMkLst>
        <pc:picChg chg="add mod">
          <ac:chgData name="Gopika Rajagopal" userId="42086f31d803f256" providerId="LiveId" clId="{22EB7FFA-8E75-4D47-B384-B7283ADBABF7}" dt="2026-07-29T09:47:46.366" v="56" actId="1076"/>
          <ac:picMkLst>
            <pc:docMk/>
            <pc:sldMk cId="3753904006" sldId="287"/>
            <ac:picMk id="10" creationId="{55F6B67D-AEDD-B8DD-41BC-FE98D150620D}"/>
          </ac:picMkLst>
        </pc:picChg>
      </pc:sldChg>
      <pc:sldChg chg="addSp delSp modSp mod">
        <pc:chgData name="Gopika Rajagopal" userId="42086f31d803f256" providerId="LiveId" clId="{22EB7FFA-8E75-4D47-B384-B7283ADBABF7}" dt="2026-07-29T09:47:57.369" v="59" actId="1076"/>
        <pc:sldMkLst>
          <pc:docMk/>
          <pc:sldMk cId="1932414051" sldId="288"/>
        </pc:sldMkLst>
        <pc:picChg chg="add mod">
          <ac:chgData name="Gopika Rajagopal" userId="42086f31d803f256" providerId="LiveId" clId="{22EB7FFA-8E75-4D47-B384-B7283ADBABF7}" dt="2026-07-29T09:47:57.369" v="59" actId="1076"/>
          <ac:picMkLst>
            <pc:docMk/>
            <pc:sldMk cId="1932414051" sldId="288"/>
            <ac:picMk id="10" creationId="{61DAD7BD-7185-FCD3-B52A-B27A54FD57BF}"/>
          </ac:picMkLst>
        </pc:picChg>
      </pc:sldChg>
      <pc:sldChg chg="addSp delSp modSp mod">
        <pc:chgData name="Gopika Rajagopal" userId="42086f31d803f256" providerId="LiveId" clId="{22EB7FFA-8E75-4D47-B384-B7283ADBABF7}" dt="2026-07-29T09:48:07.559" v="62" actId="1076"/>
        <pc:sldMkLst>
          <pc:docMk/>
          <pc:sldMk cId="2253869706" sldId="289"/>
        </pc:sldMkLst>
        <pc:picChg chg="add mod">
          <ac:chgData name="Gopika Rajagopal" userId="42086f31d803f256" providerId="LiveId" clId="{22EB7FFA-8E75-4D47-B384-B7283ADBABF7}" dt="2026-07-29T09:48:07.559" v="62" actId="1076"/>
          <ac:picMkLst>
            <pc:docMk/>
            <pc:sldMk cId="2253869706" sldId="289"/>
            <ac:picMk id="10" creationId="{DEE3249A-E045-C6C3-8196-096E20DE5A9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E199-CF63-4126-8EAC-DF9585B05CF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492C-0CFA-4D0D-9B0F-E9580A0C5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072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241D8-138F-4AF4-8791-3BF99F2798D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F6096-DC6B-4A7C-A8A3-80B9480DA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47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8625" y="685800"/>
            <a:ext cx="6000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5F6096-DC6B-4A7C-A8A3-80B9480DA81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8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236455"/>
            <a:ext cx="10709990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4079611"/>
            <a:ext cx="8819992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597A-5DEA-4F6D-AB97-67614C3C7CFA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4991-99B4-48A0-810A-B1C60EE10E9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4626227"/>
            <a:ext cx="10709990" cy="14298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051377"/>
            <a:ext cx="10709990" cy="15748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8393-B64E-4FE9-A6D7-66F106592647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7DF0-4286-4EE4-8DCE-5401F9C4044D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11513"/>
            <a:ext cx="5567183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0" y="2283115"/>
            <a:ext cx="5567183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1611513"/>
            <a:ext cx="5569369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283115"/>
            <a:ext cx="5569369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FFF0-4576-43E1-A9B1-02AEA8A809DA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E61-75E2-4389-B4E1-8CB883764A04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A2A4-DFF1-4ECD-8BBF-689452B915C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286639"/>
            <a:ext cx="4145309" cy="12198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286641"/>
            <a:ext cx="7043744" cy="6144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1" y="1506524"/>
            <a:ext cx="4145309" cy="492453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6CF-5954-454F-93B6-A941B0A403AE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5" y="5039519"/>
            <a:ext cx="7559993" cy="5949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5" y="643272"/>
            <a:ext cx="7559993" cy="4319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5" y="5634463"/>
            <a:ext cx="7559993" cy="84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900A-2273-4E0C-AB1E-37B9CDD3FEAB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E3FD-F90D-45E5-A7C1-5BE61188DD35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288308"/>
            <a:ext cx="2834997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288308"/>
            <a:ext cx="8294992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A0D13-DC42-4603-87F7-135DB22929D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288306"/>
            <a:ext cx="11339989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79841"/>
            <a:ext cx="11339989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D0925-9525-4E1F-8400-F37A9A29D6C7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6672698"/>
            <a:ext cx="39899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3431E2-EDEF-674F-C862-DA61BF7DA90F}"/>
              </a:ext>
            </a:extLst>
          </p:cNvPr>
          <p:cNvSpPr txBox="1"/>
          <p:nvPr/>
        </p:nvSpPr>
        <p:spPr>
          <a:xfrm>
            <a:off x="240348" y="291169"/>
            <a:ext cx="12115800" cy="6705600"/>
          </a:xfrm>
          <a:prstGeom prst="rect">
            <a:avLst/>
          </a:prstGeom>
          <a:noFill/>
          <a:ln w="38100">
            <a:solidFill>
              <a:srgbClr val="000066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994" y="1999456"/>
            <a:ext cx="12115800" cy="1440000"/>
          </a:xfrm>
          <a:solidFill>
            <a:srgbClr val="000066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Federated Fair Recommendation with LLM-Based User Profiling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1893" y="3957760"/>
            <a:ext cx="8280000" cy="106680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 Manas (23BCE5076)</a:t>
            </a:r>
          </a:p>
          <a:p>
            <a:r>
              <a:rPr lang="en-IN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Vivaash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Koundal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(23BCE5095)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Varhade Advait Ravindrakumar (23BCE5098)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94" y="1396136"/>
            <a:ext cx="1211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School of Computer Science And 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1893" y="5266202"/>
            <a:ext cx="36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Guide Name:</a:t>
            </a:r>
            <a:br>
              <a:rPr lang="en-IN" sz="2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Suganeshwari</a:t>
            </a:r>
            <a:endParaRPr lang="en-IN" sz="20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32594" y="6515762"/>
            <a:ext cx="2939997" cy="383297"/>
          </a:xfrm>
        </p:spPr>
        <p:txBody>
          <a:bodyPr/>
          <a:lstStyle/>
          <a:p>
            <a:fld id="{FA40F275-7C07-4B42-86DF-B0219722663D}" type="datetime1">
              <a:rPr lang="en-US" b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139994" y="6509362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9119394" y="6524847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ECCBD-8295-1D4A-48F5-307232AD4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342" y="33611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339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64062-C8D2-F141-EAA6-D1C61A50CA99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Field of Work &amp; Objectives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Conclusions from the Literature Survey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Problem Definition (Objective &amp; Scope)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Methodology/Work Plan (Chart)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Design standards &amp; Realistic Constraints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Work done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Work to be done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Time line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400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9AA59D1F-4111-49AA-AC5A-FC729007B992}" type="datetime1">
              <a:rPr lang="en-US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EFD873-47CB-0384-C1D2-2487C5F024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303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F16-3DF1-7D2D-DFBF-29E500D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31186-E9EF-4BBD-E81B-7995A22DA4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7F051-838B-3CD9-5BF1-B6C6CB0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5963" algn="l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Field of Work and </a:t>
            </a:r>
            <a:b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9C6-5C65-DEDF-60D3-3E48AC2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b="1" dirty="0"/>
              <a:t>Field of Work:</a:t>
            </a:r>
          </a:p>
          <a:p>
            <a:pPr marL="0" indent="0" algn="just">
              <a:buNone/>
            </a:pPr>
            <a:r>
              <a:rPr dirty="0"/>
              <a:t>Privacy-Preserving Recommender Systems, Federated Learning and Fairness.</a:t>
            </a:r>
          </a:p>
          <a:p>
            <a:pPr marL="0" indent="0" algn="just">
              <a:buNone/>
            </a:pPr>
            <a:endParaRPr dirty="0"/>
          </a:p>
          <a:p>
            <a:pPr marL="0" indent="0" algn="just">
              <a:buNone/>
            </a:pPr>
            <a:r>
              <a:rPr b="1" dirty="0"/>
              <a:t>Objectives:</a:t>
            </a:r>
          </a:p>
          <a:p>
            <a:pPr marL="0" indent="0" algn="just">
              <a:buNone/>
            </a:pPr>
            <a:r>
              <a:rPr dirty="0"/>
              <a:t>1. Adapt the SUPER framework to a federated setting (</a:t>
            </a:r>
            <a:r>
              <a:rPr dirty="0" err="1"/>
              <a:t>FedSUPER</a:t>
            </a:r>
            <a:r>
              <a:rPr dirty="0"/>
              <a:t>) to protect user data.</a:t>
            </a:r>
          </a:p>
          <a:p>
            <a:pPr marL="0" indent="0" algn="just">
              <a:buNone/>
            </a:pPr>
            <a:r>
              <a:rPr dirty="0"/>
              <a:t>2. Integrate LLM-based user profiling to recover accuracy drops caused by federated sparsity.</a:t>
            </a:r>
          </a:p>
          <a:p>
            <a:pPr marL="0" indent="0" algn="just">
              <a:buNone/>
            </a:pPr>
            <a:r>
              <a:rPr dirty="0"/>
              <a:t>3. Ensure original SUPER calibration guarantees (</a:t>
            </a:r>
            <a:r>
              <a:rPr dirty="0" err="1"/>
              <a:t>Rmse</a:t>
            </a:r>
            <a:r>
              <a:rPr dirty="0"/>
              <a:t>-PC) are strictly maintained.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30076-A6B5-D99E-F0FC-A16E0C77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2CBC6DF7-C2EE-4049-A70B-8B1CE6D25DA3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6F4E1-FD6F-E78D-98A4-0BC8A30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36137-D004-EC50-E057-4E90A4BF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075FB-B3F1-136F-D1FE-D4432EF2C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69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6500-C7FA-1F8F-527C-D9C22A60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80BB5-F8FE-F4C5-7102-5D1D148C722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69EFF-7833-4507-2CF0-A3CBAFA5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FE0D-2C3E-7F1A-6BC4-4420EA41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dirty="0"/>
              <a:t>Recommender systems often suffer from popularity bias, overshadowing long-tail items.</a:t>
            </a:r>
            <a:r>
              <a:rPr lang="en-US" dirty="0"/>
              <a:t> </a:t>
            </a:r>
            <a:r>
              <a:rPr dirty="0"/>
              <a:t>The SUPER framework effectively mitigates this by merging head and tail recommendations via user-specific blueprints.</a:t>
            </a:r>
            <a:r>
              <a:rPr lang="en-US" dirty="0"/>
              <a:t> </a:t>
            </a:r>
            <a:r>
              <a:rPr dirty="0"/>
              <a:t>However, SUPER is centralized, creating privacy risks. Federated Learning solves privacy but degrades recommendation accuracy. This project integrates LLM semantic </a:t>
            </a:r>
            <a:r>
              <a:rPr lang="en-US" dirty="0"/>
              <a:t>user </a:t>
            </a:r>
            <a:r>
              <a:rPr dirty="0"/>
              <a:t>profiles into </a:t>
            </a:r>
            <a:r>
              <a:rPr dirty="0" err="1"/>
              <a:t>FedSUPER</a:t>
            </a:r>
            <a:r>
              <a:rPr dirty="0"/>
              <a:t> to achieve both privacy and high accuracy.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8D226-036B-5877-8EDD-E4DF504D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6D32E86-819F-406B-AC1C-2BEC3A5E12A1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9CDD-6636-E1FB-E45B-05ED52DA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37FE6-212B-EBE6-4EDF-CB7EE43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D8E68-B990-9DD1-69D4-B40928B7D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5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40888-BF3D-9F87-BFF0-C731E02B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595BB5-3A1B-BFA7-028C-BE6DB934AEB2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A80DD-CD82-CCDF-0E11-6FAB8AFD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2EEC-7F80-FE38-3DDA-C7422483B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List the important and significant findings from the literature (Journal papers) pertaining to your work. (use following table)</a:t>
            </a:r>
          </a:p>
          <a:p>
            <a:pPr>
              <a:spcBef>
                <a:spcPts val="1800"/>
              </a:spcBef>
            </a:pPr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Use max. of 3 slides.</a:t>
            </a:r>
          </a:p>
          <a:p>
            <a:endParaRPr lang="en-IN" sz="2400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A92AB-6EED-066F-4C6D-AC085FF3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A8E0199A-EDDA-4CAE-BC27-635BF47AD654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43082-2E69-5323-0B80-328450E0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22D55-543D-5D41-9C07-2EBAAA1F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E30BB9-CCCF-DDA4-A73A-D8D888C0E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413930"/>
              </p:ext>
            </p:extLst>
          </p:nvPr>
        </p:nvGraphicFramePr>
        <p:xfrm>
          <a:off x="3556794" y="2990056"/>
          <a:ext cx="8382000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 No.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Title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Journal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Publication Year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Important Findings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SUPER: Smart User-centric Popularity Exposure Reduction...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IEEE Access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Introduced blueprint merging for popularity bias; but it is centralized.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Federated Neural Collaborative Filtering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Knowl.-Based Syst.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Preserves privacy via local user embeddings; suffers from data sparsity.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655BF6B-7664-F598-025B-2A9C1F104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765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7B7A-03AC-E0B5-EAD1-8075BA34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85DE8-387E-693A-53DA-FF4A8B34C10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F32F-5B13-9EFA-EC23-36CBD11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indent="-1588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Outcome of 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AC7-6722-4A3B-78A8-3BC4E369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b="1" dirty="0"/>
              <a:t>Research Gaps Identified</a:t>
            </a:r>
            <a:r>
              <a:rPr lang="en-IN" b="1" dirty="0"/>
              <a:t>:</a:t>
            </a:r>
          </a:p>
          <a:p>
            <a:pPr marL="0" indent="0" algn="just">
              <a:buNone/>
            </a:pPr>
            <a:endParaRPr sz="800" b="1" dirty="0"/>
          </a:p>
          <a:p>
            <a:pPr algn="just"/>
            <a:r>
              <a:rPr sz="2800" dirty="0"/>
              <a:t>No existing work provides a mathematically guaranteed popularity calibration (like SUPER) in a fully federated, privacy-preserving manner.</a:t>
            </a:r>
          </a:p>
          <a:p>
            <a:pPr algn="just"/>
            <a:r>
              <a:rPr sz="2800" dirty="0"/>
              <a:t>Traditional federated learning causes severe accuracy drops on long-tail items due to client-side data sparsity.</a:t>
            </a:r>
          </a:p>
          <a:p>
            <a:pPr algn="just"/>
            <a:r>
              <a:rPr sz="2800" dirty="0"/>
              <a:t>LLM semantic integration has not been explored as a mechanism to rescue accuracy specifically within the constraints of strict popularity-calibration blueprints.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DF5-8F1D-9C06-B1CB-FF03B46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AA4D1F3-6305-4691-94D9-35CF5B7E3B51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AA943-6304-ECD4-00BA-A42F01C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EE615-3BC3-BC5E-FF65-98E5712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E9344-36AF-B2F5-1B2C-7EDCA2FCA2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82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E65-9EB3-48F1-31EC-362CA47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2DB9C-F5F1-8946-3AE2-D5DDF2E219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EF0AE-4C93-E775-1BB9-F6F67E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5353-9DF6-75D6-CB50-8DF4959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b="1" dirty="0"/>
              <a:t>Objectives:</a:t>
            </a:r>
            <a:endParaRPr lang="en-US" sz="2800" b="1" dirty="0"/>
          </a:p>
          <a:p>
            <a:pPr marL="0" indent="0" algn="just">
              <a:buNone/>
            </a:pPr>
            <a:endParaRPr sz="800" b="1" dirty="0"/>
          </a:p>
          <a:p>
            <a:pPr algn="just"/>
            <a:r>
              <a:rPr sz="2400" dirty="0"/>
              <a:t>Implement a Federated SUPER (</a:t>
            </a:r>
            <a:r>
              <a:rPr sz="2400" dirty="0" err="1"/>
              <a:t>FedSUPER</a:t>
            </a:r>
            <a:r>
              <a:rPr sz="2400" dirty="0"/>
              <a:t>) baseline.</a:t>
            </a:r>
          </a:p>
          <a:p>
            <a:pPr algn="just"/>
            <a:r>
              <a:rPr sz="2400" dirty="0"/>
              <a:t>Integrate LLM profile semantics (Sentence-BERT) into the federated pipeline.</a:t>
            </a:r>
          </a:p>
          <a:p>
            <a:pPr algn="just"/>
            <a:r>
              <a:rPr sz="2400" dirty="0"/>
              <a:t>Evaluate models on the ML-1M dataset.</a:t>
            </a:r>
          </a:p>
          <a:p>
            <a:pPr algn="just"/>
            <a:endParaRPr sz="2400" dirty="0"/>
          </a:p>
          <a:p>
            <a:pPr marL="0" indent="0" algn="just">
              <a:buNone/>
            </a:pPr>
            <a:r>
              <a:rPr sz="2800" b="1" dirty="0"/>
              <a:t>Scope of the Study:</a:t>
            </a:r>
            <a:endParaRPr lang="en-US" sz="2800" b="1" dirty="0"/>
          </a:p>
          <a:p>
            <a:pPr marL="0" indent="0" algn="just">
              <a:buNone/>
            </a:pPr>
            <a:endParaRPr sz="800" b="1" dirty="0"/>
          </a:p>
          <a:p>
            <a:pPr algn="just"/>
            <a:r>
              <a:rPr sz="2400" dirty="0"/>
              <a:t>Focuses on the MovieLens-1M dataset to evaluate implicit feedback recommendations.</a:t>
            </a:r>
          </a:p>
          <a:p>
            <a:pPr algn="just"/>
            <a:r>
              <a:rPr sz="2400" dirty="0"/>
              <a:t>Primary evaluation metrics: Recall@20 (for accuracy) and </a:t>
            </a:r>
            <a:r>
              <a:rPr sz="2400" dirty="0" err="1"/>
              <a:t>Rmse</a:t>
            </a:r>
            <a:r>
              <a:rPr sz="2400" dirty="0"/>
              <a:t>-PC (to validate calibration preservation).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275D9-4BB1-3A67-6EB8-E349C5EF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FB65220D-92D6-4524-BCF9-133E7D413AC7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FE82-C1C8-97A8-583B-C0E5784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B508C-8B8F-C1DF-2866-5ACCB3E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8BF39-B621-98B6-A6AF-4D38159CA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90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B8631-5612-5E64-725B-5C030A33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E2FC53-25A9-0036-A16C-5E7AB556759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6795E-AC3B-CD90-A8FD-9B2472D4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21AE30-0F05-8037-D9FD-205B9E3DB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194" y="1237456"/>
            <a:ext cx="4742636" cy="554576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A1957-01E5-7D79-56D5-49C5AD38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FC6A4F6D-B607-445C-AEB4-7505C737F785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42492-FCDA-5771-7583-8B3488E9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340C4-2BD6-3294-63BB-458153E2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D317B4-8B9D-93EB-73BE-AC310916D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513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E5C1-DDED-1A4B-B471-FF5A6343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089E0-D292-5B93-5DAF-B1C638A5D35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47C99-3EFA-9615-AF71-67B70D6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AA384-B24D-64E9-BBFE-5C97316F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FC6A4F6D-B607-445C-AEB4-7505C737F785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B52B4-446A-228C-9C46-1412E5E4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5D099-4DA6-9F6A-8ACE-865EED91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70FF2-6DF7-E2A3-138A-7206B4C58F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65403-F4AD-0406-0A0F-8CD8BB53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89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0490-6D01-55F2-76AF-8DDC063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78F2D-095F-8ADF-9516-00239CD7E8E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9D229-925D-895E-49B6-278456F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5963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Realistic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5BC0-9FE8-88B6-163A-92B5859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Federated learning entails severe data sparsity on the client side, complicating long-tail learning.</a:t>
            </a:r>
          </a:p>
          <a:p>
            <a:pPr marL="0" indent="0">
              <a:buNone/>
            </a:pPr>
            <a:r>
              <a:rPr dirty="0"/>
              <a:t>Compute overhead for generating LLM embeddings locally on resource-constrained user devices (mitigated via lightweight </a:t>
            </a:r>
            <a:r>
              <a:rPr dirty="0" err="1"/>
              <a:t>MiniLM</a:t>
            </a:r>
            <a:r>
              <a:rPr dirty="0"/>
              <a:t> models).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2233-3B70-48E4-2B4E-9BFCA182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080DC174-03F5-418E-84A0-01343E4C3E71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7F704-2200-8BC0-3E4B-4403BC90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53A96-AA65-A6FF-95A7-4B6537F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6DB7B8-CC6E-97E5-8AE7-E158FC0F3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27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2CFE-808F-73CD-8227-2FBC7A1E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5CE97B-3297-0955-A7CE-9ABCE7F5A144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4600E-39BF-3FA5-7673-2D2D8B1F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46CD-CB98-560B-CA93-9FEA9F174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dirty="0"/>
              <a:t>Work Done:</a:t>
            </a:r>
          </a:p>
          <a:p>
            <a:r>
              <a:rPr dirty="0"/>
              <a:t>- Centralized baselines (BPR-MF, SUPER) successfully implemented and validated.</a:t>
            </a:r>
          </a:p>
          <a:p>
            <a:r>
              <a:rPr dirty="0"/>
              <a:t>- </a:t>
            </a:r>
            <a:r>
              <a:rPr dirty="0" err="1"/>
              <a:t>FedSUPER</a:t>
            </a:r>
            <a:r>
              <a:rPr dirty="0"/>
              <a:t> baseline evaluated. Proved that blueprint merges work perfectly in federated settings, maintaining perfect calibration (</a:t>
            </a:r>
            <a:r>
              <a:rPr dirty="0" err="1"/>
              <a:t>Rmse</a:t>
            </a:r>
            <a:r>
              <a:rPr dirty="0"/>
              <a:t>-PC = 0.055).</a:t>
            </a:r>
          </a:p>
          <a:p>
            <a:r>
              <a:rPr dirty="0"/>
              <a:t>- LLM semantic profiling integrated into </a:t>
            </a:r>
            <a:r>
              <a:rPr dirty="0" err="1"/>
              <a:t>FedSUPER</a:t>
            </a:r>
            <a:r>
              <a:rPr dirty="0"/>
              <a:t>.</a:t>
            </a:r>
          </a:p>
          <a:p>
            <a:r>
              <a:rPr dirty="0"/>
              <a:t>- Results: LLM-</a:t>
            </a:r>
            <a:r>
              <a:rPr dirty="0" err="1"/>
              <a:t>FedSUPER</a:t>
            </a:r>
            <a:r>
              <a:rPr dirty="0"/>
              <a:t> recovered 91% of the federated recall gap (Recall=0.037 vs centralized 0.038) while maintaining identical popularity calibration.</a:t>
            </a:r>
          </a:p>
          <a:p>
            <a:r>
              <a:rPr dirty="0"/>
              <a:t>- Proven that SUPER's calibration is a property of the algorithm, invariant to the federated backbone.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01BEB-1BFF-FBA6-B01E-CD2F54A0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E55CDE4B-4DFA-48D1-9C05-463568ED406B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AE9A1-0AA7-18B1-F616-2EB550F0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E615B-0DAC-3690-D8F1-B300D9FD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B595F-793E-26AF-CFA9-14032DED08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6416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F798-AAB6-29F4-3C61-FBD9619B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06D259-7217-0222-FF41-C93D6F05255F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E7F1B-AC4D-03A1-C2B4-D6D1319DA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Work to be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3D706-6FB9-7D17-0693-DFA05D547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r>
              <a:t>Work to be done:</a:t>
            </a:r>
          </a:p>
          <a:p>
            <a:r>
              <a:t>- Formal documentation of the privacy-utility trade-offs and composite FDN-A metrics.</a:t>
            </a:r>
          </a:p>
          <a:p>
            <a:r>
              <a:t>- Finalizing the project report and drafting the research paper.</a:t>
            </a:r>
          </a:p>
          <a:p>
            <a:r>
              <a:t>- Code cleanup, documentation, and preparation for open-source publication.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22903-D523-FF49-63B7-78BD9A01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5B588517-EE55-4735-9746-42BCE959319F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62187B-2291-67B1-CB53-B9CDCDA1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13B45-D139-8B32-CC75-9E2EF680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F6B67D-AEDD-B8DD-41BC-FE98D15062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90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E731-8E33-6545-4CF0-2F2607AB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15DF66-F0B8-17E0-1531-99E11361BCA4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301BF-BD8C-F6DE-2199-C87A7D8E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Time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AE3F-D573-50BD-185D-3226ED1C4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r>
              <a:rPr dirty="0"/>
              <a:t>- Phase 1: Literature review, dataset preparation, and environment setup.</a:t>
            </a:r>
          </a:p>
          <a:p>
            <a:r>
              <a:rPr dirty="0"/>
              <a:t>- Phase 2: Centralized baseline implementation and </a:t>
            </a:r>
            <a:r>
              <a:rPr dirty="0" err="1"/>
              <a:t>FedNCF</a:t>
            </a:r>
            <a:r>
              <a:rPr dirty="0"/>
              <a:t> core.</a:t>
            </a:r>
          </a:p>
          <a:p>
            <a:r>
              <a:rPr dirty="0"/>
              <a:t>- Phase 3: </a:t>
            </a:r>
            <a:r>
              <a:rPr dirty="0" err="1"/>
              <a:t>FedSUPER</a:t>
            </a:r>
            <a:r>
              <a:rPr dirty="0"/>
              <a:t> integration and LLM profiling.</a:t>
            </a:r>
          </a:p>
          <a:p>
            <a:r>
              <a:rPr dirty="0"/>
              <a:t>- Phase 4: Final metric evaluation, reporting, and review preparation.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A158B-FA99-C0A7-A08D-7C0F33F1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5E2F3D7-5AC1-48E6-BEEB-39FEEC6D2AA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2DED9-D264-FAFC-9B70-500F5B5C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68872-17DA-7E94-913C-B1466854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DAD7BD-7185-FCD3-B52A-B27A54FD57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414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1439-1DCD-DCAE-3D85-C1E0F96F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231FF-D4FA-7E93-D757-00CC294C961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9090-A830-BB58-76E9-5CD5900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4ED7-8E2B-C6ED-44CC-8676C771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r>
              <a:t>1. Yavru, S. et al. (2026). SUPER: Smart User-centric Popularity Exposure Reduction for Fair and Diverse Recommendations, IEEE Access.</a:t>
            </a:r>
          </a:p>
          <a:p>
            <a:r>
              <a:t>2. Perifanis, V. et al. (2021). Federated Neural Collaborative Filtering, Knowledge-Based Systems.</a:t>
            </a:r>
          </a:p>
          <a:p>
            <a:r>
              <a:t>3. Reimers, N. et al. (2019). Sentence-BERT: Sentence Embeddings using Siamese BERT-Networks, EMNLP.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4FC16-836B-C02E-7652-0DFD859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ED5F78C3-2143-4C73-9E35-630A00D2E53A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6E8A-E4C4-BBC3-295A-736F6E13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BCLE497J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B8D30-0D1E-9A37-43F1-55F71C1A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3249A-E045-C6C3-8196-096E20DE5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386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844</Words>
  <Application>Microsoft Office PowerPoint</Application>
  <PresentationFormat>Custom</PresentationFormat>
  <Paragraphs>136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Federated Fair Recommendation with LLM-Based User Profiling</vt:lpstr>
      <vt:lpstr>Contents</vt:lpstr>
      <vt:lpstr>Field of Work and  Objectives</vt:lpstr>
      <vt:lpstr>Introduction</vt:lpstr>
      <vt:lpstr>Literature Survey</vt:lpstr>
      <vt:lpstr>Outcome of  Literature Survey</vt:lpstr>
      <vt:lpstr>Problem Definition</vt:lpstr>
      <vt:lpstr>Methodology</vt:lpstr>
      <vt:lpstr>Architecture</vt:lpstr>
      <vt:lpstr>Realistic Constraints</vt:lpstr>
      <vt:lpstr>Project Demonstration</vt:lpstr>
      <vt:lpstr>Work to be done</vt:lpstr>
      <vt:lpstr>Time 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Advait Ravindrakumar Varhade</cp:lastModifiedBy>
  <cp:revision>88</cp:revision>
  <dcterms:created xsi:type="dcterms:W3CDTF">2006-08-16T00:00:00Z</dcterms:created>
  <dcterms:modified xsi:type="dcterms:W3CDTF">2026-08-18T15:07:06Z</dcterms:modified>
</cp:coreProperties>
</file>