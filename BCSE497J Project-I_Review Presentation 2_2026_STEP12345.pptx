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9" r:id="rId2"/>
    <p:sldId id="280" r:id="rId3"/>
    <p:sldId id="282" r:id="rId4"/>
    <p:sldId id="283" r:id="rId5"/>
    <p:sldId id="285" r:id="rId6"/>
    <p:sldId id="289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</p:sldIdLst>
  <p:sldSz cx="12599988" cy="7199313"/>
  <p:notesSz cx="6858000" cy="9144000"/>
  <p:defaultTextStyle>
    <a:defPPr>
      <a:defRPr lang="en-US"/>
    </a:defPPr>
    <a:lvl1pPr marL="0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1pPr>
    <a:lvl2pPr marL="475168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2pPr>
    <a:lvl3pPr marL="950336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3pPr>
    <a:lvl4pPr marL="1425504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4pPr>
    <a:lvl5pPr marL="1900672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5pPr>
    <a:lvl6pPr marL="2375840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6pPr>
    <a:lvl7pPr marL="2851008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7pPr>
    <a:lvl8pPr marL="3326176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8pPr>
    <a:lvl9pPr marL="3801344" algn="l" defTabSz="950336" rtl="0" eaLnBrk="1" latinLnBrk="0" hangingPunct="1">
      <a:defRPr sz="187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917" y="77"/>
      </p:cViewPr>
      <p:guideLst>
        <p:guide orient="horz" pos="2268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CLE4099 Capstone Project - Review 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CE199-CF63-4126-8EAC-DF9585B05CFF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A492C-0CFA-4D0D-9B0F-E9580A0C5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3072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CLE4099 Capstone Project - Review I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241D8-138F-4AF4-8791-3BF99F2798DE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F6096-DC6B-4A7C-A8A3-80B9480DA8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447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1pPr>
    <a:lvl2pPr marL="475168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2pPr>
    <a:lvl3pPr marL="950336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3pPr>
    <a:lvl4pPr marL="1425504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4pPr>
    <a:lvl5pPr marL="1900672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5pPr>
    <a:lvl6pPr marL="2375840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6pPr>
    <a:lvl7pPr marL="2851008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7pPr>
    <a:lvl8pPr marL="3326176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8pPr>
    <a:lvl9pPr marL="3801344" algn="l" defTabSz="950336" rtl="0" eaLnBrk="1" latinLnBrk="0" hangingPunct="1">
      <a:defRPr sz="12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2236455"/>
            <a:ext cx="10709990" cy="15431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98" y="4079611"/>
            <a:ext cx="8819992" cy="18398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34EC7-7601-4F68-A8EC-54ED437252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A4666-2651-43F6-89CB-4C4836357CA6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312" y="4626227"/>
            <a:ext cx="10709990" cy="142986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12" y="3051377"/>
            <a:ext cx="10709990" cy="15748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AF943-CC0B-4D10-B7F2-A2346C953E75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999" y="1679841"/>
            <a:ext cx="5564995" cy="475121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994" y="1679841"/>
            <a:ext cx="5564995" cy="475121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DAC3-4491-456F-9669-15697E9FCBF4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611513"/>
            <a:ext cx="5567183" cy="6716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000" y="2283115"/>
            <a:ext cx="5567183" cy="41479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621" y="1611513"/>
            <a:ext cx="5569369" cy="6716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621" y="2283115"/>
            <a:ext cx="5569369" cy="41479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68DED-F98C-4547-BE53-A568C2D0BD45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42BD8-32B1-42B2-B194-6B1CEB7AB54F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69E95-6775-4490-A6A8-263D7920387C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001" y="286639"/>
            <a:ext cx="4145309" cy="121988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6245" y="286641"/>
            <a:ext cx="7043744" cy="614441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001" y="1506524"/>
            <a:ext cx="4145309" cy="492453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D541-A15D-4CBC-BE1F-09CD6E2EDD8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9685" y="5039519"/>
            <a:ext cx="7559993" cy="59494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69685" y="643272"/>
            <a:ext cx="7559993" cy="43195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69685" y="5634463"/>
            <a:ext cx="7559993" cy="844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9EC6A-F2F1-4D97-82B7-24A028157753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96C5-D592-47B8-AD47-A446A445F717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34991" y="288308"/>
            <a:ext cx="2834997" cy="6142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999" y="288308"/>
            <a:ext cx="8294992" cy="61427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4E35-73DB-4B1B-9E61-203822815698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0" y="288306"/>
            <a:ext cx="11339989" cy="1199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0" y="1679841"/>
            <a:ext cx="11339989" cy="4751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000" y="6672698"/>
            <a:ext cx="293999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9222F-15A4-4443-95DB-C6CCCF4CA2D1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4996" y="6672698"/>
            <a:ext cx="3989996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BCSE497J Project I - Review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9992" y="6672698"/>
            <a:ext cx="293999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0DF16-3DF1-7D2D-DFBF-29E500D6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331186-E9EF-4BBD-E81B-7995A22DA42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7F051-838B-3CD9-5BF1-B6C6CB0E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>
            <a:normAutofit fontScale="90000"/>
          </a:bodyPr>
          <a:lstStyle/>
          <a:p>
            <a:pPr marL="715963"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RRFN-LLM-SUPER: Robust &amp; Calibrated Recommendations</a:t>
            </a: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E9C6-5C65-DEDF-60D3-3E48AC22A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 w="28575"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700" b="1">
                <a:solidFill>
                  <a:srgbClr val="1E40AF"/>
                </a:solidFill>
                <a:latin typeface="Calibri"/>
              </a:defRPr>
            </a:pPr>
            <a:r>
              <a:rPr sz="2400" dirty="0" err="1"/>
              <a:t>Adversarially</a:t>
            </a:r>
            <a:r>
              <a:rPr sz="2400" dirty="0"/>
              <a:t> Robust, Popularity-Calibrated Neural Collaborative Filtering</a:t>
            </a:r>
          </a:p>
          <a:p>
            <a:pPr>
              <a:spcBef>
                <a:spcPts val="400"/>
              </a:spcBef>
              <a:spcAft>
                <a:spcPts val="300"/>
              </a:spcAft>
              <a:defRPr sz="800" b="0">
                <a:solidFill>
                  <a:srgbClr val="334155"/>
                </a:solidFill>
                <a:latin typeface="Calibri"/>
              </a:defRPr>
            </a:pPr>
            <a:endParaRPr sz="900" dirty="0"/>
          </a:p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600" b="1">
                <a:solidFill>
                  <a:srgbClr val="000066"/>
                </a:solidFill>
                <a:latin typeface="Calibri"/>
              </a:defRPr>
            </a:pPr>
            <a:r>
              <a:rPr sz="2400" dirty="0"/>
              <a:t>Core Research Focus &amp; System Overview:</a:t>
            </a:r>
            <a:endParaRPr lang="en-US" sz="2400" dirty="0"/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lang="en-US" sz="2000" dirty="0"/>
              <a:t>Addressing the Dual Crisis in Modern Recommender Systems:</a:t>
            </a:r>
          </a:p>
          <a:p>
            <a:pPr marL="914400" lvl="2" indent="0">
              <a:spcBef>
                <a:spcPts val="200"/>
              </a:spcBef>
              <a:spcAft>
                <a:spcPts val="300"/>
              </a:spcAft>
              <a:buNone/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1. Catastrophic vulnerability to adversarial data poisoning (sybil shilling and review-bombing).</a:t>
            </a:r>
          </a:p>
          <a:p>
            <a:pPr marL="914400" lvl="2" indent="0">
              <a:spcBef>
                <a:spcPts val="200"/>
              </a:spcBef>
              <a:spcAft>
                <a:spcPts val="300"/>
              </a:spcAft>
              <a:buNone/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2. Pervasive popularity bias where superstar items monopolize exposure and starve long-tail items.</a:t>
            </a:r>
            <a:endParaRPr lang="en-IN" sz="2000" dirty="0"/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lang="en-IN" sz="2000" dirty="0"/>
              <a:t>Proposed Solution Architecture (RRFN-LLM-SUPER):</a:t>
            </a:r>
          </a:p>
          <a:p>
            <a:pPr marL="914400" lvl="2" indent="0">
              <a:spcBef>
                <a:spcPts val="200"/>
              </a:spcBef>
              <a:spcAft>
                <a:spcPts val="300"/>
              </a:spcAft>
              <a:buNone/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A unified framework fusing Tri-Signal Multi-View Denoising (Statistical, Semantic LLM, and Spatiotemporal Anomaly Detection) with Decoupled Pareto Catalog Calibration.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Engineering &amp; Experimental Scope:</a:t>
            </a:r>
          </a:p>
          <a:p>
            <a:pPr marL="914400" lvl="2" indent="0">
              <a:spcBef>
                <a:spcPts val="200"/>
              </a:spcBef>
              <a:spcAft>
                <a:spcPts val="300"/>
              </a:spcAft>
              <a:buNone/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End-to-end implementation evaluated on MovieLens-1M benchmark with </a:t>
            </a:r>
            <a:r>
              <a:rPr sz="2000" dirty="0" err="1"/>
              <a:t>NeuMF</a:t>
            </a:r>
            <a:r>
              <a:rPr sz="2000" dirty="0"/>
              <a:t>/</a:t>
            </a:r>
            <a:r>
              <a:rPr sz="2000" dirty="0" err="1"/>
              <a:t>LightGCN</a:t>
            </a:r>
            <a:r>
              <a:rPr sz="2000" dirty="0"/>
              <a:t>/</a:t>
            </a:r>
            <a:r>
              <a:rPr sz="2000" dirty="0" err="1"/>
              <a:t>VaeCF</a:t>
            </a:r>
            <a:r>
              <a:rPr sz="2000" dirty="0"/>
              <a:t> backbones, Google Gemini 3.6 Flash LLM auditor, and interactive </a:t>
            </a:r>
            <a:r>
              <a:rPr sz="2000" dirty="0" err="1"/>
              <a:t>Streamlit</a:t>
            </a:r>
            <a:r>
              <a:rPr sz="2000" dirty="0"/>
              <a:t> telemetry dashboard.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30076-A6B5-D99E-F0FC-A16E0C77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6F4E1-FD6F-E78D-98A4-0BC8A308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36137-D004-EC50-E057-4E90A4BF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 wrap="none"/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1</a:t>
            </a:r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5075FB-B3F1-136F-D1FE-D4432EF2CE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769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B6500-C7FA-1F8F-527C-D9C22A60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B80BB5-F8FE-F4C5-7102-5D1D148C722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69EFF-7833-4507-2CF0-A3CBAFA5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>
            <a:normAutofit/>
          </a:bodyPr>
          <a:lstStyle/>
          <a:p>
            <a:pPr marL="717550"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rPr sz="3200" dirty="0"/>
              <a:t>Foundations: What Are Recommenders &amp; Why Are They Vital?</a:t>
            </a:r>
            <a:endParaRPr lang="en-IN" sz="32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FE0D-2C3E-7F1A-6BC4-4420EA41F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 w="28575"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700" b="1">
                <a:solidFill>
                  <a:srgbClr val="000066"/>
                </a:solidFill>
                <a:latin typeface="Calibri"/>
              </a:defRPr>
            </a:pPr>
            <a:r>
              <a:rPr sz="2000" dirty="0"/>
              <a:t>Core Role: The Primary Information Filtering Engine of the Modern Digital Economy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The Information Overload Challenge: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Modern online platforms host massive catalogs (millions of movies, songs, e-commerce products) vastly exceeding human cognitive bandwidth.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Recommender systems act as intelligent decision-support filters matching users to items aligned with their latent preferences.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Business &amp; Economic Significance: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Powers &gt;75% of viewer hours on Netflix, &gt;35% of total purchases on Amazon, and &gt;70% of watch time on YouTube.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Directly determines platform user retention, customer lifetime value, catalog monetization, and fairness.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Technical Mechanism: Neural Collaborative Filtering (NCF / </a:t>
            </a:r>
            <a:r>
              <a:rPr sz="2000" dirty="0" err="1"/>
              <a:t>NeuMF</a:t>
            </a:r>
            <a:r>
              <a:rPr sz="2000" dirty="0"/>
              <a:t>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Learns low-dimensional latent embeddings for users (u in </a:t>
            </a:r>
            <a:r>
              <a:rPr sz="1800" dirty="0" err="1"/>
              <a:t>R^d</a:t>
            </a:r>
            <a:r>
              <a:rPr sz="1800" dirty="0"/>
              <a:t>) and items (v in </a:t>
            </a:r>
            <a:r>
              <a:rPr sz="1800" dirty="0" err="1"/>
              <a:t>R^d</a:t>
            </a:r>
            <a:r>
              <a:rPr sz="1800" dirty="0"/>
              <a:t>) from implicit/explicit interaction histories.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Combines linear Generalized Matrix Factorization (GMF) with non-linear Multi-Layer </a:t>
            </a:r>
            <a:r>
              <a:rPr sz="1800" dirty="0" err="1"/>
              <a:t>Perceptrons</a:t>
            </a:r>
            <a:r>
              <a:rPr sz="1800" dirty="0"/>
              <a:t> (MLP).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8D226-036B-5877-8EDD-E4DF504D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A9CDD-6636-E1FB-E45B-05ED52DAC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37FE6-212B-EBE6-4EDF-CB7EE43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 wrap="none"/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2</a:t>
            </a:r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4D8E68-B990-9DD1-69D4-B40928B7DF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165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07B7A-03AC-E0B5-EAD1-8075BA34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685DE8-387E-693A-53DA-FF4A8B34C10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FF32F-5B13-9EFA-EC23-36CBD113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>
            <a:normAutofit/>
          </a:bodyPr>
          <a:lstStyle/>
          <a:p>
            <a:pPr marL="717550" indent="-1588"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sz="3200" dirty="0"/>
              <a:t>The Critical Flaws in Current Recommenders (The Dual Crisis)</a:t>
            </a:r>
            <a:endParaRPr lang="en-IN" sz="32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2AC7-6722-4A3B-78A8-3BC4E369B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 w="28575">
            <a:noFill/>
          </a:ln>
        </p:spPr>
        <p:txBody>
          <a:bodyPr wrap="square" lIns="274320" tIns="109728" rIns="274320" bIns="91440">
            <a:normAutofit fontScale="92500" lnSpcReduction="20000"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700" b="1">
                <a:solidFill>
                  <a:srgbClr val="000066"/>
                </a:solidFill>
                <a:latin typeface="Calibri"/>
              </a:defRPr>
            </a:pPr>
            <a:r>
              <a:rPr sz="2800" dirty="0"/>
              <a:t>Core Vulnerability: The Interconnected Systemic Failures of Modern Recommendation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400" dirty="0"/>
              <a:t>Crisis 1: Popularity Bias &amp; Long-Tail Starvation Trap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Superstar Economics: The top ~1% of head items receive &gt;80% of recommendations, creating severe echo chambers.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Miscalibration: Users who historically enjoy niche/indie movies are force-fed mainstream blockbusters.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400" dirty="0"/>
              <a:t>Crisis 2: Severe Adversarial Vulnerability (Shilling &amp; Review-Bombing)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Open Data Ingestion: Recommenders naively assume all rating data is genuine and submitted by honest users.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Exploited via Sybil botnets, 5-star Bandwagon shilling, coordinated 1-star Nuke raids, and Agentic Group Shilling (AGAS).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400" dirty="0"/>
              <a:t>The Fatal Dilemma of Existing Calibration (Vanilla SUPER Collapse):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Existing calibration methods (like Vanilla SUPER) naively trust raw interaction counts to compute popularity ratios.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Under attack, fake injected ratings distort volume counts and quotas, causing calibration to completely collapse</a:t>
            </a:r>
            <a:r>
              <a:rPr lang="en-US" sz="2000" dirty="0"/>
              <a:t>.</a:t>
            </a:r>
            <a:endParaRPr sz="20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8C4DF5-8F1D-9C06-B1CB-FF03B46A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4AA943-6304-ECD4-00BA-A42F01CB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EE615-3BC3-BC5E-FF65-98E57123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 wrap="none"/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3</a:t>
            </a:r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0E9344-36AF-B2F5-1B2C-7EDCA2FCA2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82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8E65-9EB3-48F1-31EC-362CA470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2DB9C-F5F1-8946-3AE2-D5DDF2E21928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EF0AE-4C93-E775-1BB9-F6F67EEE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>
            <a:normAutofit/>
          </a:bodyPr>
          <a:lstStyle/>
          <a:p>
            <a:pPr marL="717550"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rPr sz="3200" dirty="0"/>
              <a:t>Our Solution: The RRFN-LLM-SUPER Architecture Flow</a:t>
            </a:r>
            <a:endParaRPr lang="en-IN" sz="32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5353-9DF6-75D6-CB50-8DF4959DA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 w="28575"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700" b="1">
                <a:solidFill>
                  <a:srgbClr val="000066"/>
                </a:solidFill>
                <a:latin typeface="Calibri"/>
              </a:defRPr>
            </a:pPr>
            <a:r>
              <a:rPr sz="2400" dirty="0"/>
              <a:t>Core Philosophy: Don't Just Calibrate -- Denoise, Decouple, and Calibrate Jointly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End-to-End Architectural Pipeline Flow: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Stage 1: Multi-View Tri-Signal Defense (Statistical RRFN + LLM Auditor + Spatiotemporal Bomb Scorer).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Stage 2: Convex Reliability Fusion generating continuous sample weights w(u, </a:t>
            </a:r>
            <a:r>
              <a:rPr sz="2000" dirty="0" err="1"/>
              <a:t>i</a:t>
            </a:r>
            <a:r>
              <a:rPr sz="2000" dirty="0"/>
              <a:t>) in [0.02, 1.0].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Stage 3: Reliability-Weighted Pareto Partitioning creating attack-invariant Head and Tail catalog sets.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Stage 4: Decoupled Dual Training (</a:t>
            </a:r>
            <a:r>
              <a:rPr sz="2000" dirty="0" err="1"/>
              <a:t>M_pop</a:t>
            </a:r>
            <a:r>
              <a:rPr sz="2000" dirty="0"/>
              <a:t> and </a:t>
            </a:r>
            <a:r>
              <a:rPr sz="2000" dirty="0" err="1"/>
              <a:t>M_tail</a:t>
            </a:r>
            <a:r>
              <a:rPr sz="2000" dirty="0"/>
              <a:t> experts) using Risk-Consistent Loss with Delta T slack.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Stage 5: Bayesian Popularity Inclination (</a:t>
            </a:r>
            <a:r>
              <a:rPr sz="2000" dirty="0" err="1"/>
              <a:t>C_tilde_u</a:t>
            </a:r>
            <a:r>
              <a:rPr sz="2000" dirty="0"/>
              <a:t>) &amp; Blueprint Denoising pruning poisoned history.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Stage 6: Calibrated Soft Top-N Merging producing multi-objective Pareto-optimal recommendation lists.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Why This Architecture Succeeds: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Orthogonal defenses cover each other's blind spots; decoupled neural heads prevent gradient dominance.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275D9-4BB1-3A67-6EB8-E349C5EF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2FE82-C1C8-97A8-583B-C0E5784EF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  <a:endParaRPr lang="en-US" sz="20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B508C-8B8F-C1DF-2866-5ACCB3EF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 wrap="none"/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4</a:t>
            </a:r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28BF39-B621-98B6-A6AF-4D38159CAC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1907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0490-6D01-55F2-76AF-8DDC063F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378F2D-095F-8ADF-9516-00239CD7E8E7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09D229-925D-895E-49B6-278456FD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>
            <a:normAutofit fontScale="90000"/>
          </a:bodyPr>
          <a:lstStyle/>
          <a:p>
            <a:pPr marL="715963"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1: Data Ingestion, Filtering &amp; Leakage-Free Temporal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65BC0-9FE8-88B6-163A-92B585954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 w="28575"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700" b="1">
                <a:solidFill>
                  <a:srgbClr val="000066"/>
                </a:solidFill>
                <a:latin typeface="Calibri"/>
              </a:defRPr>
            </a:pPr>
            <a:r>
              <a:rPr sz="2000" dirty="0"/>
              <a:t>Core Goal: Ingest MovieLens-1M data, prevent cold-start sparsity, and eliminate look-ahead leakage.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Iterative k-Core Graph Filtering (k &gt;= 5):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600" dirty="0"/>
              <a:t>Prunes users and items with &lt; 5 interactions until convergence to eliminate trivial cold-start artifacts.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600" dirty="0"/>
              <a:t>Preserves natural power-law catalog distributions, authentic community structure, and real graph connectivity.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Contiguous 0-Indexed Remapping: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600" dirty="0"/>
              <a:t>Maps arbitrary non-sequential </a:t>
            </a:r>
            <a:r>
              <a:rPr sz="1600" dirty="0" err="1"/>
              <a:t>MovieLens</a:t>
            </a:r>
            <a:r>
              <a:rPr sz="1600" dirty="0"/>
              <a:t> user and movie IDs into dense contiguous tensor spaces for neural embedding lookups.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Strict Temporal Leave-One-Out (LOO) Partitioning: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600" dirty="0"/>
              <a:t>Test Set: The chronological last interaction per user (timestamp N).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600" dirty="0"/>
              <a:t>Validation Set: The second-to-last interaction per user (timestamp N-1).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600" dirty="0"/>
              <a:t>Training Set: All preceding interactions (timestamps 1 to N-2).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600" dirty="0"/>
              <a:t>Zero Look-Ahead Bias: Guarantees future interactions never contaminate training representations.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32233-3B70-48E4-2B4E-9BFCA18252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7F704-2200-8BC0-3E4B-4403BC90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53A96-AA65-A6FF-95A7-4B6537FF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4194" y="6797759"/>
            <a:ext cx="2939997" cy="383297"/>
          </a:xfrm>
        </p:spPr>
        <p:txBody>
          <a:bodyPr wrap="none"/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5</a:t>
            </a:r>
            <a:endParaRPr lang="en-US" sz="20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6DB7B8-CC6E-97E5-8AE7-E158FC0F32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DF1FB2-C185-C017-A5B7-13BF0950B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994" y="5491330"/>
            <a:ext cx="3977985" cy="876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1103CB-D771-2B33-9AED-D1ABAE3F7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183" y="5590399"/>
            <a:ext cx="3254022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7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C1439-1DCD-DCAE-3D85-C1E0F96F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9231FF-D4FA-7E93-D757-00CC294C9617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6F9090-A830-BB58-76E9-5CD5900E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>
            <a:normAutofit fontScale="90000"/>
          </a:bodyPr>
          <a:lstStyle/>
          <a:p>
            <a:pPr marL="717550"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Step 2: Threat Modeling &amp; Adversarial Attack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C4ED7-8E2B-C6ED-44CC-8676C771F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 w="28575"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700" b="1">
                <a:solidFill>
                  <a:srgbClr val="000066"/>
                </a:solidFill>
                <a:latin typeface="Calibri"/>
              </a:defRPr>
            </a:pPr>
            <a:r>
              <a:rPr sz="2200" dirty="0"/>
              <a:t>Core Goal: Rigorously stress-test the recommender under 4 realistic adversarial threat models.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Adversarial Attack Simulation Suite (Noise Budget rho in [5%, 20%]):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1. Random Rating Flip Noise: Simulates noisy data transmission, accidental clicks, or stochastic user entry error.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2. Bandwagon Shilling: Sybil bot accounts rate popular blockbusters high to build false credibility, while pushing target long-tail items with 5-star ratings.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3. Nuke Review-Bombing: Coordinated bot flood dropping 1-star ratings on popular head items within sliding 24-hour temporal windows to artificially suppress competitor items.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4. AGAS (Agentic Group Shilling - ICDM 2026): Multi-agent bot coordination (mainstream team + niche team) with staggered multi-round profile activation to evade standard statistical filters.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Strict Ground-Truth Integrity: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Only the Training partition is attacked; Validation and Test sets remain 100% clean ground truth.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4FC16-836B-C02E-7652-0DFD859E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F6E8A-E4C4-BBC3-295A-736F6E13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E3249A-E045-C6C3-8196-096E20DE5A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877D2-F07B-69E0-94B1-EF027DB06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none"/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69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A0DFC-8877-ABC8-5AA2-7F0CAB5F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CB92E6-2370-B6D6-C392-C21102625E0D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7CECD-4EA2-6727-205A-76EE6A9B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>
            <a:normAutofit fontScale="90000"/>
          </a:bodyPr>
          <a:lstStyle/>
          <a:p>
            <a:pPr marL="717550"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Step 3: Tri-Signal Multi-View Reliability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E93C8-526B-5326-7D7B-358C48C1C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 w="28575"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700" b="1">
                <a:solidFill>
                  <a:srgbClr val="000066"/>
                </a:solidFill>
                <a:latin typeface="Calibri"/>
              </a:defRPr>
            </a:pPr>
            <a:r>
              <a:rPr sz="2400" dirty="0"/>
              <a:t>Core Goal: Extract 3 orthogonal trust signals for every interaction before sample fusion.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Why Single Defenses Fail: Statistical tests miss semantic nuance; LLMs are costly; time filters miss slow attacks.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The 3 Complementary Defense Pillars: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1. Statistical Consistency Signal (R_RRFN):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35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Calculated as posterior probability ratio: R_RRFN(u, </a:t>
            </a:r>
            <a:r>
              <a:rPr sz="1800" dirty="0" err="1"/>
              <a:t>i</a:t>
            </a:r>
            <a:r>
              <a:rPr sz="1800" dirty="0"/>
              <a:t>) = P(Y=</a:t>
            </a:r>
            <a:r>
              <a:rPr sz="1800" dirty="0" err="1"/>
              <a:t>y_obs</a:t>
            </a:r>
            <a:r>
              <a:rPr sz="1800" dirty="0"/>
              <a:t> | u, </a:t>
            </a:r>
            <a:r>
              <a:rPr sz="1800" dirty="0" err="1"/>
              <a:t>i</a:t>
            </a:r>
            <a:r>
              <a:rPr sz="1800" dirty="0"/>
              <a:t>) / (</a:t>
            </a:r>
            <a:r>
              <a:rPr sz="1800" dirty="0" err="1"/>
              <a:t>max_k</a:t>
            </a:r>
            <a:r>
              <a:rPr sz="1800" dirty="0"/>
              <a:t> P(Y=k | u, </a:t>
            </a:r>
            <a:r>
              <a:rPr sz="1800" dirty="0" err="1"/>
              <a:t>i</a:t>
            </a:r>
            <a:r>
              <a:rPr sz="1800" dirty="0"/>
              <a:t>) + epsilon) from warm </a:t>
            </a:r>
            <a:r>
              <a:rPr sz="1800" dirty="0" err="1"/>
              <a:t>NeuMF</a:t>
            </a:r>
            <a:r>
              <a:rPr sz="1800" dirty="0"/>
              <a:t>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2. Semantic Profile Auditor (R_LLM):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35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Pre-filters to suspicious items (R_RRFN &lt; 0.60) to slash API latency/cost by &gt;95%; queries Gemini 3.6 Flash.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35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Evaluates user taste coherence against target movie metadata with SQLite prompt caching (</a:t>
            </a:r>
            <a:r>
              <a:rPr sz="1800" dirty="0" err="1"/>
              <a:t>llm_cache.db</a:t>
            </a:r>
            <a:r>
              <a:rPr sz="1800" dirty="0"/>
              <a:t>).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rPr sz="1800" dirty="0"/>
              <a:t>3. Spatiotemporal Anomaly Detector (</a:t>
            </a:r>
            <a:r>
              <a:rPr sz="1800" dirty="0" err="1"/>
              <a:t>R_bomb</a:t>
            </a:r>
            <a:r>
              <a:rPr sz="1800" dirty="0"/>
              <a:t>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35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Measures temporal burst acceleration A(</a:t>
            </a:r>
            <a:r>
              <a:rPr sz="1800" dirty="0" err="1"/>
              <a:t>i</a:t>
            </a:r>
            <a:r>
              <a:rPr sz="1800" dirty="0"/>
              <a:t>, t) via binary search and rating polarity skew S(</a:t>
            </a:r>
            <a:r>
              <a:rPr sz="1800" dirty="0" err="1"/>
              <a:t>i</a:t>
            </a:r>
            <a:r>
              <a:rPr sz="1800" dirty="0"/>
              <a:t>, t) via prefix sums.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E71E33-0623-22B6-F0D9-8D49BF20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7F2A2B-DD93-5045-021A-1C8110EC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2D6FD4-74E1-D664-4FA8-A8AECAF215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00EE8-32E2-3019-2A99-5C1F9AC04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none"/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33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69F0E-C54F-C228-E2D0-151F1C4C0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E2F09D-39D8-CBDF-DD92-D39BD909B993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16FEF-C93A-FD99-8400-48F1A01D5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>
            <a:normAutofit fontScale="90000"/>
          </a:bodyPr>
          <a:lstStyle/>
          <a:p>
            <a:pPr marL="717550"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Step 4: Convex Reliability Fusion &amp; Sample Reweighting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E5EB4-F8FB-C0EE-F5E7-73EF51C9D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 w="28575"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700" b="1">
                <a:solidFill>
                  <a:srgbClr val="000066"/>
                </a:solidFill>
                <a:latin typeface="Calibri"/>
              </a:defRPr>
            </a:pPr>
            <a:r>
              <a:rPr sz="2200" dirty="0"/>
              <a:t>Core Goal: Synthesize the 3 orthogonal signals into continuous sample reliability weights w(u, </a:t>
            </a:r>
            <a:r>
              <a:rPr sz="2200" dirty="0" err="1"/>
              <a:t>i</a:t>
            </a:r>
            <a:r>
              <a:rPr sz="2200" dirty="0"/>
              <a:t>).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Mathematical Formulation (Convex Combination):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w(u, </a:t>
            </a:r>
            <a:r>
              <a:rPr sz="2000" dirty="0" err="1"/>
              <a:t>i</a:t>
            </a:r>
            <a:r>
              <a:rPr sz="2000" dirty="0"/>
              <a:t>) = alpha * R_RRFN(u, </a:t>
            </a:r>
            <a:r>
              <a:rPr sz="2000" dirty="0" err="1"/>
              <a:t>i</a:t>
            </a:r>
            <a:r>
              <a:rPr sz="2000" dirty="0"/>
              <a:t>) + beta * R_LLM(u, </a:t>
            </a:r>
            <a:r>
              <a:rPr sz="2000" dirty="0" err="1"/>
              <a:t>i</a:t>
            </a:r>
            <a:r>
              <a:rPr sz="2000" dirty="0"/>
              <a:t>) + gamma * </a:t>
            </a:r>
            <a:r>
              <a:rPr sz="2000" dirty="0" err="1"/>
              <a:t>R_bomb</a:t>
            </a:r>
            <a:r>
              <a:rPr sz="2000" dirty="0"/>
              <a:t>(</a:t>
            </a:r>
            <a:r>
              <a:rPr sz="2000" dirty="0" err="1"/>
              <a:t>i</a:t>
            </a:r>
            <a:r>
              <a:rPr sz="2000" dirty="0"/>
              <a:t>, t)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Normalized weights: alpha + beta + gamma = 1.0 (Optimal defaults: alpha = 0.50, beta = 0.30, gamma = 0.20).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Critical Engineering Feature: Non-Zero Safety Floor (</a:t>
            </a:r>
            <a:r>
              <a:rPr sz="2000" dirty="0" err="1"/>
              <a:t>epsilon_min</a:t>
            </a:r>
            <a:r>
              <a:rPr sz="2000" dirty="0"/>
              <a:t> = 0.02):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w(u, </a:t>
            </a:r>
            <a:r>
              <a:rPr sz="2000" dirty="0" err="1"/>
              <a:t>i</a:t>
            </a:r>
            <a:r>
              <a:rPr sz="2000" dirty="0"/>
              <a:t>) = clip(w(u, </a:t>
            </a:r>
            <a:r>
              <a:rPr sz="2000" dirty="0" err="1"/>
              <a:t>i</a:t>
            </a:r>
            <a:r>
              <a:rPr sz="2000" dirty="0"/>
              <a:t>), </a:t>
            </a:r>
            <a:r>
              <a:rPr sz="2000" dirty="0" err="1"/>
              <a:t>min_weight</a:t>
            </a:r>
            <a:r>
              <a:rPr sz="2000" dirty="0"/>
              <a:t>=0.02, </a:t>
            </a:r>
            <a:r>
              <a:rPr sz="2000" dirty="0" err="1"/>
              <a:t>max_weight</a:t>
            </a:r>
            <a:r>
              <a:rPr sz="2000" dirty="0"/>
              <a:t>=1.00).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Why Not Hard Pruning (0.0)? Eliminating edges fragments bipartite user-item graphs and causes vanishing gradients; soft reweighting attenuates attack gradients by 98% while maintaining training stability.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Downstream Role: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w(u, </a:t>
            </a:r>
            <a:r>
              <a:rPr sz="2000" dirty="0" err="1"/>
              <a:t>i</a:t>
            </a:r>
            <a:r>
              <a:rPr sz="2000" dirty="0"/>
              <a:t>) guides Pareto partitioning, loss weighting, and blueprint denoising throughout the pipeline.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8EEDC-0C9D-8540-4341-83AEECAD36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1C896C-489E-9420-5534-0CC57D74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509470-56CC-4712-8084-446137FDE9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7EC68-A7FA-3665-58C0-893DEF0A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none"/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21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2233-A30A-4E33-F097-9E4FA585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B886F5-E32D-D94C-A80E-E6C8F652F0A5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88EB4-2CEE-6E54-BC4F-480727B4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>
            <a:normAutofit fontScale="90000"/>
          </a:bodyPr>
          <a:lstStyle/>
          <a:p>
            <a:pPr marL="717550"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Step 5: Noise Transition Modeling &amp; Risk-Consistent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2AC5A-986B-45D3-BA2B-57F0448EB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 w="28575"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700" b="1">
                <a:solidFill>
                  <a:srgbClr val="000066"/>
                </a:solidFill>
                <a:latin typeface="Calibri"/>
              </a:defRPr>
            </a:pPr>
            <a:r>
              <a:rPr sz="2400" dirty="0"/>
              <a:t>Core Goal: Model rating corruption probabilities and train models with forward-corrected risk loss.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Two-Stage Statistical Denoising Mechanism: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1. Anchor Point Discovery: Identifies clean interaction anchors where model posterior confidence &gt;= 85%.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2. Empirical Noise Transition Matrix (T_hat): Estimates corruption probabilities P(</a:t>
            </a:r>
            <a:r>
              <a:rPr sz="2000" dirty="0" err="1"/>
              <a:t>Y_tilde</a:t>
            </a:r>
            <a:r>
              <a:rPr sz="2000" dirty="0"/>
              <a:t> = j | Y* = k).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Learnable Regularized Slack Matrix (Delta T):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 err="1"/>
              <a:t>T_final</a:t>
            </a:r>
            <a:r>
              <a:rPr sz="2000" dirty="0"/>
              <a:t> = </a:t>
            </a:r>
            <a:r>
              <a:rPr sz="2000" dirty="0" err="1"/>
              <a:t>Softmax</a:t>
            </a:r>
            <a:r>
              <a:rPr sz="2000" dirty="0"/>
              <a:t>(T_hat + Delta T), allowing the model to adaptively refine transition estimates during training.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Risk-Consistent Loss Formulation with Frobenius Regularization: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 err="1"/>
              <a:t>L_risk</a:t>
            </a:r>
            <a:r>
              <a:rPr sz="2000" dirty="0"/>
              <a:t> = - 1/|B| sum_{(</a:t>
            </a:r>
            <a:r>
              <a:rPr sz="2000" dirty="0" err="1"/>
              <a:t>u,i</a:t>
            </a:r>
            <a:r>
              <a:rPr sz="2000" dirty="0"/>
              <a:t>) in B} w(u, </a:t>
            </a:r>
            <a:r>
              <a:rPr sz="2000" dirty="0" err="1"/>
              <a:t>i</a:t>
            </a:r>
            <a:r>
              <a:rPr sz="2000" dirty="0"/>
              <a:t>) * log([ p(u, </a:t>
            </a:r>
            <a:r>
              <a:rPr sz="2000" dirty="0" err="1"/>
              <a:t>i</a:t>
            </a:r>
            <a:r>
              <a:rPr sz="2000" dirty="0"/>
              <a:t>) * </a:t>
            </a:r>
            <a:r>
              <a:rPr sz="2000" dirty="0" err="1"/>
              <a:t>T_final</a:t>
            </a:r>
            <a:r>
              <a:rPr sz="2000" dirty="0"/>
              <a:t> ]_{</a:t>
            </a:r>
            <a:r>
              <a:rPr sz="2000" dirty="0" err="1"/>
              <a:t>y_tilde</a:t>
            </a:r>
            <a:r>
              <a:rPr sz="2000" dirty="0"/>
              <a:t>}) + </a:t>
            </a:r>
            <a:r>
              <a:rPr sz="2000" dirty="0" err="1"/>
              <a:t>lambda_Delta</a:t>
            </a:r>
            <a:r>
              <a:rPr sz="2000" dirty="0"/>
              <a:t> * ||Delta T||_F^2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Forward correction mathematically inverts label corruption, allowing models to learn clean representations</a:t>
            </a:r>
            <a:r>
              <a:rPr lang="en-US" sz="2000" dirty="0"/>
              <a:t>.</a:t>
            </a:r>
            <a:endParaRPr sz="20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353A8C-C778-4D83-A9A5-DF77A8E8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7EC27-E808-C2D4-34DF-EF3A36A4E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2A2672-BC14-0762-0285-6DA7D5E830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C08A8-B669-2D5B-0192-CA4A0F89F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none"/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32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1075F-30D1-B8D2-9572-4103E53A2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D6B377-3FCA-4CD3-1D7C-CB8FB266337E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A123D-A330-2D6F-31D2-4BDD24CDB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>
            <a:normAutofit fontScale="90000"/>
          </a:bodyPr>
          <a:lstStyle/>
          <a:p>
            <a:pPr marL="717550"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Step 6: Reliability-Weighted Pareto Catalog Partitioning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6C450-1CC4-A3BB-91B3-97A879BD0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 w="28575"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700" b="1">
                <a:solidFill>
                  <a:srgbClr val="000066"/>
                </a:solidFill>
                <a:latin typeface="Calibri"/>
              </a:defRPr>
            </a:pPr>
            <a:r>
              <a:rPr sz="2400" dirty="0"/>
              <a:t>Core Goal: Segment catalog into Head (H) and Tail (T) using attack-invariant effective volume.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The Fatal Vulnerability of Raw Interaction Counts (sum 1):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In standard systems, sybil botnets inject thousands of fake 5-star ratings to falsely inflate obscure items into Head status.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Reliability-Weighted Effective Volume (</a:t>
            </a:r>
            <a:r>
              <a:rPr sz="2000" dirty="0" err="1"/>
              <a:t>V_eff</a:t>
            </a:r>
            <a:r>
              <a:rPr sz="2000" dirty="0"/>
              <a:t>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 err="1"/>
              <a:t>V_eff</a:t>
            </a:r>
            <a:r>
              <a:rPr sz="2000" dirty="0"/>
              <a:t>(</a:t>
            </a:r>
            <a:r>
              <a:rPr sz="2000" dirty="0" err="1"/>
              <a:t>i</a:t>
            </a:r>
            <a:r>
              <a:rPr sz="2000" dirty="0"/>
              <a:t>) = sum_{u in </a:t>
            </a:r>
            <a:r>
              <a:rPr sz="2000" dirty="0" err="1"/>
              <a:t>U_i</a:t>
            </a:r>
            <a:r>
              <a:rPr sz="2000" dirty="0"/>
              <a:t>} w(u, </a:t>
            </a:r>
            <a:r>
              <a:rPr sz="2000" dirty="0" err="1"/>
              <a:t>i</a:t>
            </a:r>
            <a:r>
              <a:rPr sz="2000" dirty="0"/>
              <a:t>) (Reliability weights replace naive raw interaction counts).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Adversarial ratings with w(u, </a:t>
            </a:r>
            <a:r>
              <a:rPr sz="2000" dirty="0" err="1"/>
              <a:t>i</a:t>
            </a:r>
            <a:r>
              <a:rPr sz="2000" dirty="0"/>
              <a:t>) </a:t>
            </a:r>
            <a:r>
              <a:rPr sz="2000" dirty="0" err="1"/>
              <a:t>approx</a:t>
            </a:r>
            <a:r>
              <a:rPr sz="2000" dirty="0"/>
              <a:t> 0.02 contribute virtually zero volume, neutralizing sybil inflation!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Pareto Catalog Boundary Partitioning (</a:t>
            </a:r>
            <a:r>
              <a:rPr sz="2000" dirty="0" err="1"/>
              <a:t>alpha_pareto</a:t>
            </a:r>
            <a:r>
              <a:rPr sz="2000" dirty="0"/>
              <a:t> = 0.20):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Items sorted in descending order of </a:t>
            </a:r>
            <a:r>
              <a:rPr sz="2000" dirty="0" err="1"/>
              <a:t>V_eff</a:t>
            </a:r>
            <a:r>
              <a:rPr sz="2000" dirty="0"/>
              <a:t>(</a:t>
            </a:r>
            <a:r>
              <a:rPr sz="2000" dirty="0" err="1"/>
              <a:t>i</a:t>
            </a:r>
            <a:r>
              <a:rPr sz="2000" dirty="0"/>
              <a:t>).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Head Set (H): Top items accounting for the first 20% of cumulative effective volume.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Tail Set (T): Remaining 80% long-tail items (T = I \ H). Cleanly isolates specialized item regimes.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83321-28F5-2436-41A1-5E3C8B51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9C9B9E-21A0-1DCE-07A1-50B389087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C47DAF-282B-8C23-3C0E-CD49A0A9A6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7A7C8-C087-8B2F-5CCE-975BDBB87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none"/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83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037E0-D292-78BF-56A6-6CAAF077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4631C2-E855-70E0-B0E2-E0D781E603B0}"/>
              </a:ext>
            </a:extLst>
          </p:cNvPr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0AE26-93CD-15D4-68A8-65923F160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>
            <a:normAutofit fontScale="90000"/>
          </a:bodyPr>
          <a:lstStyle/>
          <a:p>
            <a:pPr marL="717550"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Step 7: Decoupled Dual Training (M_pop &amp; M_tail Experts)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863D2-0D91-E53A-6B8F-77A071CFD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 w="28575"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800" b="1">
                <a:solidFill>
                  <a:srgbClr val="000066"/>
                </a:solidFill>
                <a:latin typeface="Calibri"/>
              </a:defRPr>
            </a:pPr>
            <a:r>
              <a:rPr sz="2800" dirty="0"/>
              <a:t>Core Goal: Train two specialized neural expert models to eliminate popularity gradient dominance.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The Gradient Dominance Problem: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Joint neural models suffer severe popularity bias because head items produce frequent, massive gradient updates, completely drowning out delicate long-tail niche representations.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Decoupled Dual Expert Architecture: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1. Head Specialist Model (</a:t>
            </a:r>
            <a:r>
              <a:rPr sz="2000" dirty="0" err="1"/>
              <a:t>M_pop</a:t>
            </a:r>
            <a:r>
              <a:rPr sz="2000" dirty="0"/>
              <a:t>): Trained exclusively on interactions (u, </a:t>
            </a:r>
            <a:r>
              <a:rPr sz="2000" dirty="0" err="1"/>
              <a:t>i</a:t>
            </a:r>
            <a:r>
              <a:rPr sz="2000" dirty="0"/>
              <a:t>) with </a:t>
            </a:r>
            <a:r>
              <a:rPr sz="2000" dirty="0" err="1"/>
              <a:t>i</a:t>
            </a:r>
            <a:r>
              <a:rPr sz="2000" dirty="0"/>
              <a:t> in H.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2. Long-Tail Specialist Model (</a:t>
            </a:r>
            <a:r>
              <a:rPr sz="2000" dirty="0" err="1"/>
              <a:t>M_tail</a:t>
            </a:r>
            <a:r>
              <a:rPr sz="2000" dirty="0"/>
              <a:t>): Trained exclusively on interactions (u, </a:t>
            </a:r>
            <a:r>
              <a:rPr sz="2000" dirty="0" err="1"/>
              <a:t>i</a:t>
            </a:r>
            <a:r>
              <a:rPr sz="2000" dirty="0"/>
              <a:t>) with </a:t>
            </a:r>
            <a:r>
              <a:rPr sz="2000" dirty="0" err="1"/>
              <a:t>i</a:t>
            </a:r>
            <a:r>
              <a:rPr sz="2000" dirty="0"/>
              <a:t> in T.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Risk-Consistent Optimization &amp; Validation: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Both models are optimized with w(u, </a:t>
            </a:r>
            <a:r>
              <a:rPr sz="2000" dirty="0" err="1"/>
              <a:t>i</a:t>
            </a:r>
            <a:r>
              <a:rPr sz="2000" dirty="0"/>
              <a:t>)-weighted risk-consistent loss using Adam and Cosine Annealing.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Early stopping evaluated on clean validation data (patience = 3) prevents overfitting.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801DDC-083A-4E3A-0441-13CCCAD9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5797" y="6797759"/>
            <a:ext cx="2939997" cy="383297"/>
          </a:xfrm>
        </p:spPr>
        <p:txBody>
          <a:bodyPr wrap="none"/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390331-C915-EA8B-A705-1E84B69FB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1194" y="6800056"/>
            <a:ext cx="4320000" cy="365125"/>
          </a:xfrm>
        </p:spPr>
        <p:txBody>
          <a:bodyPr wrap="none"/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3D3A2F-F00B-6AEB-7009-30EF4C148F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94" y="64887"/>
            <a:ext cx="3465103" cy="10851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73491-8254-52C3-8810-2EEC1088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none"/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84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/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Step 8: Bayesian Popularity Inclination &amp; Blueprint Denoising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800" b="1">
                <a:solidFill>
                  <a:srgbClr val="000066"/>
                </a:solidFill>
                <a:latin typeface="Calibri"/>
              </a:defRPr>
            </a:pPr>
            <a:r>
              <a:rPr sz="2800" dirty="0"/>
              <a:t>Core Goal: Compute each user's robust popularity taste and build an attack-resistant quota blueprint.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Reliability-Weighted Raw Popularity Ratio: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 err="1"/>
              <a:t>C_raw</a:t>
            </a:r>
            <a:r>
              <a:rPr sz="2000" dirty="0"/>
              <a:t>(u) = ( sum_{</a:t>
            </a:r>
            <a:r>
              <a:rPr sz="2000" dirty="0" err="1"/>
              <a:t>i</a:t>
            </a:r>
            <a:r>
              <a:rPr sz="2000" dirty="0"/>
              <a:t> in H cap </a:t>
            </a:r>
            <a:r>
              <a:rPr sz="2000" dirty="0" err="1"/>
              <a:t>I_u</a:t>
            </a:r>
            <a:r>
              <a:rPr sz="2000" dirty="0"/>
              <a:t>} w(u, </a:t>
            </a:r>
            <a:r>
              <a:rPr sz="2000" dirty="0" err="1"/>
              <a:t>i</a:t>
            </a:r>
            <a:r>
              <a:rPr sz="2000" dirty="0"/>
              <a:t>) ) / ( sum_{</a:t>
            </a:r>
            <a:r>
              <a:rPr sz="2000" dirty="0" err="1"/>
              <a:t>i</a:t>
            </a:r>
            <a:r>
              <a:rPr sz="2000" dirty="0"/>
              <a:t> in </a:t>
            </a:r>
            <a:r>
              <a:rPr sz="2000" dirty="0" err="1"/>
              <a:t>I_u</a:t>
            </a:r>
            <a:r>
              <a:rPr sz="2000" dirty="0"/>
              <a:t>} w(u, </a:t>
            </a:r>
            <a:r>
              <a:rPr sz="2000" dirty="0" err="1"/>
              <a:t>i</a:t>
            </a:r>
            <a:r>
              <a:rPr sz="2000" dirty="0"/>
              <a:t>) )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Empirical Bayes Shrinkage Smoothing (tau = 5.0):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 err="1"/>
              <a:t>C_tilde</a:t>
            </a:r>
            <a:r>
              <a:rPr sz="2000" dirty="0"/>
              <a:t>(u) = ( sum w(u, </a:t>
            </a:r>
            <a:r>
              <a:rPr sz="2000" dirty="0" err="1"/>
              <a:t>i</a:t>
            </a:r>
            <a:r>
              <a:rPr sz="2000" dirty="0"/>
              <a:t>) * </a:t>
            </a:r>
            <a:r>
              <a:rPr sz="2000" dirty="0" err="1"/>
              <a:t>C_raw</a:t>
            </a:r>
            <a:r>
              <a:rPr sz="2000" dirty="0"/>
              <a:t>(u) + tau * </a:t>
            </a:r>
            <a:r>
              <a:rPr sz="2000" dirty="0" err="1"/>
              <a:t>mu_pop</a:t>
            </a:r>
            <a:r>
              <a:rPr sz="2000" dirty="0"/>
              <a:t> ) / ( sum w(u, </a:t>
            </a:r>
            <a:r>
              <a:rPr sz="2000" dirty="0" err="1"/>
              <a:t>i</a:t>
            </a:r>
            <a:r>
              <a:rPr sz="2000" dirty="0"/>
              <a:t>) + tau )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Smooths sparse cold-start users toward the global prior </a:t>
            </a:r>
            <a:r>
              <a:rPr sz="2000" dirty="0" err="1"/>
              <a:t>mu_pop</a:t>
            </a:r>
            <a:r>
              <a:rPr sz="2000" dirty="0"/>
              <a:t> while allowing active users to express true niche tastes.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Denoised Integer Blueprint Construction (b(u) in {0, 1}^K):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Allocates Top-10 slots: </a:t>
            </a:r>
            <a:r>
              <a:rPr sz="2000" dirty="0" err="1"/>
              <a:t>k_head</a:t>
            </a:r>
            <a:r>
              <a:rPr sz="2000" dirty="0"/>
              <a:t> = round(K * </a:t>
            </a:r>
            <a:r>
              <a:rPr sz="2000" dirty="0" err="1"/>
              <a:t>C_tilde</a:t>
            </a:r>
            <a:r>
              <a:rPr sz="2000" dirty="0"/>
              <a:t>(u)) Head items + (K - </a:t>
            </a:r>
            <a:r>
              <a:rPr sz="2000" dirty="0" err="1"/>
              <a:t>k_head</a:t>
            </a:r>
            <a:r>
              <a:rPr sz="2000" dirty="0"/>
              <a:t>) Long-Tail items.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Prunes low-reliability interactions (w(u, </a:t>
            </a:r>
            <a:r>
              <a:rPr sz="2000" dirty="0" err="1"/>
              <a:t>i</a:t>
            </a:r>
            <a:r>
              <a:rPr sz="2000" dirty="0"/>
              <a:t>) &lt; 0.30) to prevent sybil bots from hijacking quota slots</a:t>
            </a:r>
            <a:r>
              <a:rPr lang="en-US" sz="2000" dirty="0"/>
              <a:t>.</a:t>
            </a:r>
            <a:endParaRPr sz="2000" dirty="0"/>
          </a:p>
        </p:txBody>
      </p:sp>
      <p:sp>
        <p:nvSpPr>
          <p:cNvPr id="4" name="TextBox 4"/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194" y="64887"/>
            <a:ext cx="3465103" cy="1085137"/>
          </a:xfrm>
          <a:prstGeom prst="rect">
            <a:avLst/>
          </a:prstGeom>
        </p:spPr>
      </p:pic>
      <p:sp>
        <p:nvSpPr>
          <p:cNvPr id="6" name="Date Placeholder 6"/>
          <p:cNvSpPr txBox="1"/>
          <p:nvPr/>
        </p:nvSpPr>
        <p:spPr>
          <a:xfrm>
            <a:off x="235797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</a:p>
        </p:txBody>
      </p:sp>
      <p:sp>
        <p:nvSpPr>
          <p:cNvPr id="7" name="Footer Placeholder 7"/>
          <p:cNvSpPr txBox="1"/>
          <p:nvPr/>
        </p:nvSpPr>
        <p:spPr>
          <a:xfrm>
            <a:off x="4471194" y="6800056"/>
            <a:ext cx="43200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sp>
        <p:nvSpPr>
          <p:cNvPr id="8" name="Slide Number Placeholder 8"/>
          <p:cNvSpPr txBox="1"/>
          <p:nvPr/>
        </p:nvSpPr>
        <p:spPr>
          <a:xfrm>
            <a:off x="9424194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Step 9: Calibrated Soft Blueprint Top-N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800" b="1">
                <a:solidFill>
                  <a:srgbClr val="000066"/>
                </a:solidFill>
                <a:latin typeface="Calibri"/>
              </a:defRPr>
            </a:pPr>
            <a:r>
              <a:rPr sz="2800" dirty="0"/>
              <a:t>Core Goal: Interleave predictions from </a:t>
            </a:r>
            <a:r>
              <a:rPr sz="2800" dirty="0" err="1"/>
              <a:t>M_pop</a:t>
            </a:r>
            <a:r>
              <a:rPr sz="2800" dirty="0"/>
              <a:t> and </a:t>
            </a:r>
            <a:r>
              <a:rPr sz="2800" dirty="0" err="1"/>
              <a:t>M_tail</a:t>
            </a:r>
            <a:r>
              <a:rPr sz="2800" dirty="0"/>
              <a:t> following denoised user blueprints.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Top-N Candidate Generation: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 err="1"/>
              <a:t>M_pop</a:t>
            </a:r>
            <a:r>
              <a:rPr sz="2000" dirty="0"/>
              <a:t> scores all items in H to generate candidate list </a:t>
            </a:r>
            <a:r>
              <a:rPr sz="2000" dirty="0" err="1"/>
              <a:t>C_pop</a:t>
            </a:r>
            <a:r>
              <a:rPr sz="2000" dirty="0"/>
              <a:t>(u).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 err="1"/>
              <a:t>M_tail</a:t>
            </a:r>
            <a:r>
              <a:rPr sz="2000" dirty="0"/>
              <a:t> scores all items in T to generate candidate list </a:t>
            </a:r>
            <a:r>
              <a:rPr sz="2000" dirty="0" err="1"/>
              <a:t>C_tail</a:t>
            </a:r>
            <a:r>
              <a:rPr sz="2000" dirty="0"/>
              <a:t>(u).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Soft Blueprint Merging Algorithm: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Iteratively selects the top candidate from </a:t>
            </a:r>
            <a:r>
              <a:rPr sz="2000" dirty="0" err="1"/>
              <a:t>C_pop</a:t>
            </a:r>
            <a:r>
              <a:rPr sz="2000" dirty="0"/>
              <a:t> or </a:t>
            </a:r>
            <a:r>
              <a:rPr sz="2000" dirty="0" err="1"/>
              <a:t>C_tail</a:t>
            </a:r>
            <a:r>
              <a:rPr sz="2000" dirty="0"/>
              <a:t> based on the sequence defined in b(u).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Multi-Objective Pareto Optimality: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Guarantees that the final Top-10 list exactly matches the user's authentic popularity preference </a:t>
            </a:r>
            <a:r>
              <a:rPr sz="2000" dirty="0" err="1"/>
              <a:t>C_tilde</a:t>
            </a:r>
            <a:r>
              <a:rPr sz="2000" dirty="0"/>
              <a:t>(u) while selecting the highest-relevance items from each expert model.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Completely eliminates popularity distortion without sacrificing ranking accuracy or catalog diversity</a:t>
            </a:r>
            <a:r>
              <a:rPr lang="en-US" sz="2000" dirty="0"/>
              <a:t>.</a:t>
            </a:r>
            <a:endParaRPr sz="2000" dirty="0"/>
          </a:p>
        </p:txBody>
      </p:sp>
      <p:sp>
        <p:nvSpPr>
          <p:cNvPr id="4" name="TextBox 4"/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194" y="64887"/>
            <a:ext cx="3465103" cy="1085137"/>
          </a:xfrm>
          <a:prstGeom prst="rect">
            <a:avLst/>
          </a:prstGeom>
        </p:spPr>
      </p:pic>
      <p:sp>
        <p:nvSpPr>
          <p:cNvPr id="6" name="Date Placeholder 6"/>
          <p:cNvSpPr txBox="1"/>
          <p:nvPr/>
        </p:nvSpPr>
        <p:spPr>
          <a:xfrm>
            <a:off x="235797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</a:p>
        </p:txBody>
      </p:sp>
      <p:sp>
        <p:nvSpPr>
          <p:cNvPr id="7" name="Footer Placeholder 7"/>
          <p:cNvSpPr txBox="1"/>
          <p:nvPr/>
        </p:nvSpPr>
        <p:spPr>
          <a:xfrm>
            <a:off x="4471194" y="6800056"/>
            <a:ext cx="43200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sp>
        <p:nvSpPr>
          <p:cNvPr id="8" name="Slide Number Placeholder 8"/>
          <p:cNvSpPr txBox="1"/>
          <p:nvPr/>
        </p:nvSpPr>
        <p:spPr>
          <a:xfrm>
            <a:off x="9424194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Experimental Results: Head-to-Head Benchmark (13 Metrics)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700" b="1">
                <a:solidFill>
                  <a:srgbClr val="000066"/>
                </a:solidFill>
                <a:latin typeface="Calibri"/>
              </a:defRPr>
            </a:pPr>
            <a:r>
              <a:rPr lang="en-IN" sz="2400" dirty="0"/>
              <a:t>C</a:t>
            </a:r>
            <a:r>
              <a:rPr sz="2400" dirty="0"/>
              <a:t>ore Goal: Evaluate RRFN-LLM-SUPER across all 13 core metrics from the base paper (IEEE Access 2026).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Head-to-Head Comparison (Base Vanilla SUPER under Attack vs. Ours):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Ranking Accuracy: Recall@10 (0.491 vs 0.442, +11.1%) and nDCG@10 (0.384 vs 0.341, +12.6%).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Popularity Calibration Error (RMSE-PC): Slashed from 0.229 down to 0.082 (64.2% error reduction!).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Rank Miscalibration (MRMC): Reduced from 0.224 down to 0.094 (58.1% alignment gain).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Long-Tail Exploration: APLT@10 preserved at 32.4% (vs 24.1%), unique catalog coverage (LTC@10) boosted.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Holistic Composite Metric (GKPI):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GKPI achieves 0.628 vs 0.489 (+28.4% holistic relative gain), outperforming attacked baseline on all 13 metrics!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Adversarial Denoising Precision: Detection F1 &gt; 0.92, ROC-AUC &gt; 0.95 across all noise budgets.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194" y="64887"/>
            <a:ext cx="3465103" cy="1085137"/>
          </a:xfrm>
          <a:prstGeom prst="rect">
            <a:avLst/>
          </a:prstGeom>
        </p:spPr>
      </p:pic>
      <p:sp>
        <p:nvSpPr>
          <p:cNvPr id="6" name="Date Placeholder 6"/>
          <p:cNvSpPr txBox="1"/>
          <p:nvPr/>
        </p:nvSpPr>
        <p:spPr>
          <a:xfrm>
            <a:off x="235797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</a:p>
        </p:txBody>
      </p:sp>
      <p:sp>
        <p:nvSpPr>
          <p:cNvPr id="7" name="Footer Placeholder 7"/>
          <p:cNvSpPr txBox="1"/>
          <p:nvPr/>
        </p:nvSpPr>
        <p:spPr>
          <a:xfrm>
            <a:off x="4471194" y="6800056"/>
            <a:ext cx="43200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sp>
        <p:nvSpPr>
          <p:cNvPr id="8" name="Slide Number Placeholder 8"/>
          <p:cNvSpPr txBox="1"/>
          <p:nvPr/>
        </p:nvSpPr>
        <p:spPr>
          <a:xfrm>
            <a:off x="9424194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606" y="-22544"/>
            <a:ext cx="12708000" cy="1260000"/>
          </a:xfrm>
          <a:solidFill>
            <a:srgbClr val="000066"/>
          </a:solidFill>
          <a:ln>
            <a:noFill/>
          </a:ln>
        </p:spPr>
        <p:txBody>
          <a:bodyPr wrap="square" lIns="365760" tIns="137160" rIns="3474720"/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Ablation Study, Streamlit Dashboard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994" y="1389856"/>
            <a:ext cx="12192000" cy="5120000"/>
          </a:xfrm>
          <a:ln>
            <a:noFill/>
          </a:ln>
        </p:spPr>
        <p:txBody>
          <a:bodyPr wrap="square" lIns="274320" tIns="109728" rIns="274320" bIns="91440">
            <a:normAutofit/>
          </a:bodyPr>
          <a:lstStyle/>
          <a:p>
            <a:pPr marL="0" indent="0">
              <a:spcBef>
                <a:spcPts val="400"/>
              </a:spcBef>
              <a:spcAft>
                <a:spcPts val="300"/>
              </a:spcAft>
              <a:buNone/>
              <a:defRPr sz="1700" b="1">
                <a:solidFill>
                  <a:srgbClr val="000066"/>
                </a:solidFill>
                <a:latin typeface="Calibri"/>
              </a:defRPr>
            </a:pPr>
            <a:r>
              <a:rPr sz="2400" dirty="0"/>
              <a:t>Core Goal: Prove component necessity, provide interactive verification, and summarize contributions.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7-Variant Systematic Ablation Study (Marginal GKPI Degradation When Removed):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35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Full Model (0.628) -&gt; w/o RRFN Risk Loss (-17.5%) -&gt; w/o Blueprint Denoising (-17.0%) -&gt; w/o Pareto Partitioning (-14.8%) -&gt; w/o LLM Auditor (-12.7%) -&gt; w/o Bayesian Shrinkage (-9.4%) -&gt; w/o Review-Bombing (-8.8%).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35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Every single module is empirically proven to be mathematically necessary for defense.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Live Interactive </a:t>
            </a:r>
            <a:r>
              <a:rPr sz="2000" dirty="0" err="1"/>
              <a:t>Streamlit</a:t>
            </a:r>
            <a:r>
              <a:rPr sz="2000" dirty="0"/>
              <a:t> Dashboard: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sz="2000" dirty="0"/>
              <a:t>Provides real-time simulation, multi-view weight inspection, live LLM prompt auditor, and What-If sandbox.</a:t>
            </a:r>
          </a:p>
          <a:p>
            <a:pPr marL="457200" lvl="1" indent="0">
              <a:spcBef>
                <a:spcPts val="200"/>
              </a:spcBef>
              <a:spcAft>
                <a:spcPts val="300"/>
              </a:spcAft>
              <a:buNone/>
              <a:defRPr sz="1500" b="1">
                <a:solidFill>
                  <a:srgbClr val="0F172A"/>
                </a:solidFill>
                <a:latin typeface="Calibri"/>
              </a:defRPr>
            </a:pPr>
            <a:r>
              <a:rPr sz="2000" dirty="0"/>
              <a:t>Summary of Key Contributions: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35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1. First framework jointly solving adversarial data poisoning and popularity miscalibration.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35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2. Tri-signal multi-view fusion uniting statistical modeling, LLM reasoning, and spatiotemporal bursts.</a:t>
            </a:r>
          </a:p>
          <a:p>
            <a:pPr lvl="2">
              <a:spcBef>
                <a:spcPts val="200"/>
              </a:spcBef>
              <a:spcAft>
                <a:spcPts val="300"/>
              </a:spcAft>
              <a:defRPr sz="1350" b="0">
                <a:solidFill>
                  <a:srgbClr val="334155"/>
                </a:solidFill>
                <a:latin typeface="Calibri"/>
              </a:defRPr>
            </a:pPr>
            <a:r>
              <a:rPr sz="1800" dirty="0"/>
              <a:t>3. Decoupled dual expert training with attack-invariant Pareto catalog partitioning.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24606" y="6717256"/>
            <a:ext cx="12708000" cy="5400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194" y="64887"/>
            <a:ext cx="3465103" cy="1085137"/>
          </a:xfrm>
          <a:prstGeom prst="rect">
            <a:avLst/>
          </a:prstGeom>
        </p:spPr>
      </p:pic>
      <p:sp>
        <p:nvSpPr>
          <p:cNvPr id="6" name="Date Placeholder 6"/>
          <p:cNvSpPr txBox="1"/>
          <p:nvPr/>
        </p:nvSpPr>
        <p:spPr>
          <a:xfrm>
            <a:off x="235797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9/15/2026</a:t>
            </a:r>
          </a:p>
        </p:txBody>
      </p:sp>
      <p:sp>
        <p:nvSpPr>
          <p:cNvPr id="7" name="Footer Placeholder 7"/>
          <p:cNvSpPr txBox="1"/>
          <p:nvPr/>
        </p:nvSpPr>
        <p:spPr>
          <a:xfrm>
            <a:off x="4471194" y="6800056"/>
            <a:ext cx="4320000" cy="365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00"/>
                </a:solidFill>
              </a:defRPr>
            </a:pPr>
            <a:r>
              <a:t>BCSE497J Project I - Review II</a:t>
            </a:r>
          </a:p>
        </p:txBody>
      </p:sp>
      <p:sp>
        <p:nvSpPr>
          <p:cNvPr id="8" name="Slide Number Placeholder 8"/>
          <p:cNvSpPr txBox="1"/>
          <p:nvPr/>
        </p:nvSpPr>
        <p:spPr>
          <a:xfrm>
            <a:off x="9424194" y="6797759"/>
            <a:ext cx="2939997" cy="3832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2647</Words>
  <Application>Microsoft Office PowerPoint</Application>
  <PresentationFormat>Custom</PresentationFormat>
  <Paragraphs>203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RRFN-LLM-SUPER: Robust &amp; Calibrated Recommendations</vt:lpstr>
      <vt:lpstr>Foundations: What Are Recommenders &amp; Why Are They Vital?</vt:lpstr>
      <vt:lpstr>The Critical Flaws in Current Recommenders (The Dual Crisis)</vt:lpstr>
      <vt:lpstr>Our Solution: The RRFN-LLM-SUPER Architecture Flow</vt:lpstr>
      <vt:lpstr>Step 1: Data Ingestion, Filtering &amp; Leakage-Free Temporal Split</vt:lpstr>
      <vt:lpstr>Step 2: Threat Modeling &amp; Adversarial Attack Simulation</vt:lpstr>
      <vt:lpstr>Step 3: Tri-Signal Multi-View Reliability Extraction</vt:lpstr>
      <vt:lpstr>Step 4: Convex Reliability Fusion &amp; Sample Reweighting</vt:lpstr>
      <vt:lpstr>Step 5: Noise Transition Modeling &amp; Risk-Consistent Loss</vt:lpstr>
      <vt:lpstr>Step 6: Reliability-Weighted Pareto Catalog Partitioning</vt:lpstr>
      <vt:lpstr>Step 7: Decoupled Dual Training (M_pop &amp; M_tail Experts)</vt:lpstr>
      <vt:lpstr>Step 8: Bayesian Popularity Inclination &amp; Blueprint Denoising</vt:lpstr>
      <vt:lpstr>Step 9: Calibrated Soft Blueprint Top-N Merging</vt:lpstr>
      <vt:lpstr>Experimental Results: Head-to-Head Benchmark (13 Metrics)</vt:lpstr>
      <vt:lpstr>Ablation Study, Streamlit Dashboard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Advait Ravindrakumar Varhade</cp:lastModifiedBy>
  <cp:revision>103</cp:revision>
  <dcterms:created xsi:type="dcterms:W3CDTF">2006-08-16T00:00:00Z</dcterms:created>
  <dcterms:modified xsi:type="dcterms:W3CDTF">2026-09-15T12:54:54Z</dcterms:modified>
</cp:coreProperties>
</file>