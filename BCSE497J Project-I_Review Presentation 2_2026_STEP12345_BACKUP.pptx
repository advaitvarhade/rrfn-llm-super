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79" r:id="rId2"/>
    <p:sldId id="280" r:id="rId3"/>
    <p:sldId id="282" r:id="rId4"/>
    <p:sldId id="283" r:id="rId5"/>
    <p:sldId id="285" r:id="rId6"/>
    <p:sldId id="289" r:id="rId7"/>
    <p:sldId id="295" r:id="rId8"/>
    <p:sldId id="296" r:id="rId9"/>
    <p:sldId id="297" r:id="rId10"/>
    <p:sldId id="298" r:id="rId11"/>
    <p:sldId id="299" r:id="rId12"/>
  </p:sldIdLst>
  <p:sldSz cx="12599988" cy="7199313"/>
  <p:notesSz cx="6858000" cy="9144000"/>
  <p:defaultTextStyle>
    <a:defPPr>
      <a:defRPr lang="en-US"/>
    </a:defPPr>
    <a:lvl1pPr marL="0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1pPr>
    <a:lvl2pPr marL="475168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2pPr>
    <a:lvl3pPr marL="950336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3pPr>
    <a:lvl4pPr marL="1425504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4pPr>
    <a:lvl5pPr marL="1900672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5pPr>
    <a:lvl6pPr marL="2375840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6pPr>
    <a:lvl7pPr marL="2851008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7pPr>
    <a:lvl8pPr marL="3326176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8pPr>
    <a:lvl9pPr marL="3801344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917" y="58"/>
      </p:cViewPr>
      <p:guideLst>
        <p:guide orient="horz" pos="2268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CLE4099 Capstone Project - Review I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CE199-CF63-4126-8EAC-DF9585B05CFF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8A492C-0CFA-4D0D-9B0F-E9580A0C5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3072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CLE4099 Capstone Project - Review I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B241D8-138F-4AF4-8791-3BF99F2798DE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5800"/>
            <a:ext cx="6000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5F6096-DC6B-4A7C-A8A3-80B9480DA8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4470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1pPr>
    <a:lvl2pPr marL="475168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2pPr>
    <a:lvl3pPr marL="950336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3pPr>
    <a:lvl4pPr marL="1425504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4pPr>
    <a:lvl5pPr marL="1900672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5pPr>
    <a:lvl6pPr marL="2375840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6pPr>
    <a:lvl7pPr marL="2851008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7pPr>
    <a:lvl8pPr marL="3326176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8pPr>
    <a:lvl9pPr marL="3801344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999" y="2236455"/>
            <a:ext cx="10709990" cy="154318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98" y="4079611"/>
            <a:ext cx="8819992" cy="183982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34EC7-7601-4F68-A8EC-54ED437252CB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A4666-2651-43F6-89CB-4C4836357CA6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5312" y="4626227"/>
            <a:ext cx="10709990" cy="142986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312" y="3051377"/>
            <a:ext cx="10709990" cy="15748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AF943-CC0B-4D10-B7F2-A2346C953E75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9999" y="1679841"/>
            <a:ext cx="5564995" cy="475121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4994" y="1679841"/>
            <a:ext cx="5564995" cy="475121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DAC3-4491-456F-9669-15697E9FCBF4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000" y="1611513"/>
            <a:ext cx="5567183" cy="67160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000" y="2283115"/>
            <a:ext cx="5567183" cy="41479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621" y="1611513"/>
            <a:ext cx="5569369" cy="67160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00621" y="2283115"/>
            <a:ext cx="5569369" cy="41479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68DED-F98C-4547-BE53-A568C2D0BD45}" type="datetime1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42BD8-32B1-42B2-B194-6B1CEB7AB54F}" type="datetime1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69E95-6775-4490-A6A8-263D7920387C}" type="datetime1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001" y="286639"/>
            <a:ext cx="4145309" cy="121988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6245" y="286641"/>
            <a:ext cx="7043744" cy="614441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001" y="1506524"/>
            <a:ext cx="4145309" cy="492453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7D541-A15D-4CBC-BE1F-09CD6E2EDD8A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9685" y="5039519"/>
            <a:ext cx="7559993" cy="59494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69685" y="643272"/>
            <a:ext cx="7559993" cy="43195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69685" y="5634463"/>
            <a:ext cx="7559993" cy="8449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EC6A-F2F1-4D97-82B7-24A028157753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196C5-D592-47B8-AD47-A446A445F717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34991" y="288308"/>
            <a:ext cx="2834997" cy="6142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9999" y="288308"/>
            <a:ext cx="8294992" cy="61427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24E35-73DB-4B1B-9E61-203822815698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0000" y="288306"/>
            <a:ext cx="11339989" cy="11998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000" y="1679841"/>
            <a:ext cx="11339989" cy="47512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0000" y="6672698"/>
            <a:ext cx="2939997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9222F-15A4-4443-95DB-C6CCCF4CA2D1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4996" y="6672698"/>
            <a:ext cx="3989996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BCSE497J Project I - Review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29992" y="6672698"/>
            <a:ext cx="2939997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0DF16-3DF1-7D2D-DFBF-29E500D65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C331186-E9EF-4BBD-E81B-7995A22DA428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57F051-838B-3CD9-5BF1-B6C6CB0E4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 fontScale="90000"/>
          </a:bodyPr>
          <a:lstStyle/>
          <a:p>
            <a:pPr marL="715963" algn="l"/>
            <a:b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End to End Pipeline Overview</a:t>
            </a:r>
            <a:b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6E9C6-5C65-DEDF-60D3-3E48AC22A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IN" sz="1600" b="1" dirty="0"/>
              <a:t>Step 1: Data Ingestion, Filtering, &amp; Splitting</a:t>
            </a:r>
          </a:p>
          <a:p>
            <a:pPr marL="0" indent="0" algn="just">
              <a:buNone/>
            </a:pPr>
            <a:endParaRPr lang="en-IN" sz="1600" b="1" dirty="0"/>
          </a:p>
          <a:p>
            <a:pPr marL="0" indent="0" algn="just">
              <a:buNone/>
            </a:pPr>
            <a:r>
              <a:rPr lang="en-IN" sz="1600" b="1" dirty="0"/>
              <a:t>Step 2: Adversarial Poisoning Simulation</a:t>
            </a:r>
          </a:p>
          <a:p>
            <a:pPr marL="0" indent="0" algn="just">
              <a:buNone/>
            </a:pPr>
            <a:endParaRPr lang="en-IN" sz="1600" b="1" dirty="0"/>
          </a:p>
          <a:p>
            <a:pPr marL="0" indent="0" algn="just">
              <a:buNone/>
            </a:pPr>
            <a:r>
              <a:rPr lang="en-IN" sz="1600" b="1" dirty="0"/>
              <a:t>Step 3: Warm-Start Backbone Representation Learning</a:t>
            </a:r>
          </a:p>
          <a:p>
            <a:pPr marL="0" indent="0" algn="just">
              <a:buNone/>
            </a:pPr>
            <a:endParaRPr lang="en-IN" sz="1600" b="1" dirty="0"/>
          </a:p>
          <a:p>
            <a:pPr marL="0" indent="0" algn="just">
              <a:buNone/>
            </a:pPr>
            <a:r>
              <a:rPr lang="en-IN" sz="1600" b="1" dirty="0"/>
              <a:t>Step 4: RRFN Anchor Selection &amp; Noise Transition Matrix Estimation</a:t>
            </a:r>
          </a:p>
          <a:p>
            <a:pPr marL="0" indent="0" algn="just">
              <a:buNone/>
            </a:pPr>
            <a:endParaRPr lang="en-IN" sz="1600" b="1" dirty="0"/>
          </a:p>
          <a:p>
            <a:pPr marL="0" indent="0" algn="just">
              <a:buNone/>
            </a:pPr>
            <a:r>
              <a:rPr lang="en-IN" sz="1600" b="1" dirty="0"/>
              <a:t>Step 5: Multi-View Reliability Signal Extraction</a:t>
            </a:r>
          </a:p>
          <a:p>
            <a:pPr marL="0" indent="0" algn="just">
              <a:buNone/>
            </a:pPr>
            <a:endParaRPr lang="en-IN" sz="1600" b="1" dirty="0"/>
          </a:p>
          <a:p>
            <a:pPr marL="0" indent="0" algn="just">
              <a:buNone/>
            </a:pPr>
            <a:r>
              <a:rPr lang="en-IN" sz="1600" b="1" dirty="0"/>
              <a:t>Step 6: Multi-View Reliability Fusion &amp; Sample Reweighting</a:t>
            </a:r>
          </a:p>
          <a:p>
            <a:pPr marL="0" indent="0" algn="just">
              <a:buNone/>
            </a:pPr>
            <a:endParaRPr lang="en-IN" sz="1600" b="1" dirty="0"/>
          </a:p>
          <a:p>
            <a:pPr marL="0" indent="0" algn="just">
              <a:buNone/>
            </a:pPr>
            <a:r>
              <a:rPr lang="en-IN" sz="1600" b="1" dirty="0"/>
              <a:t>Step 7: Reliability-Weighted Pareto </a:t>
            </a:r>
            <a:r>
              <a:rPr lang="en-IN" sz="1600" b="1" dirty="0" err="1"/>
              <a:t>Catalog</a:t>
            </a:r>
            <a:r>
              <a:rPr lang="en-IN" sz="1600" b="1" dirty="0"/>
              <a:t> Partitioning</a:t>
            </a:r>
          </a:p>
          <a:p>
            <a:pPr marL="0" indent="0" algn="just">
              <a:buNone/>
            </a:pPr>
            <a:endParaRPr lang="en-IN" sz="1600" b="1" dirty="0"/>
          </a:p>
          <a:p>
            <a:pPr marL="0" indent="0" algn="just">
              <a:buNone/>
            </a:pPr>
            <a:r>
              <a:rPr lang="en-IN" sz="1600" b="1" dirty="0"/>
              <a:t>Step 8: Decoupled Dual Training with Risk-Consistent Loss</a:t>
            </a:r>
          </a:p>
          <a:p>
            <a:pPr marL="0" indent="0" algn="just">
              <a:buNone/>
            </a:pPr>
            <a:endParaRPr lang="en-IN" sz="1600" b="1" dirty="0"/>
          </a:p>
          <a:p>
            <a:pPr marL="0" indent="0" algn="just">
              <a:buNone/>
            </a:pPr>
            <a:r>
              <a:rPr lang="en-IN" sz="1600" b="1" dirty="0"/>
              <a:t>Step 9: Robust Popularity Inclination &amp; Blueprint Denoising</a:t>
            </a:r>
          </a:p>
          <a:p>
            <a:pPr marL="0" indent="0" algn="just">
              <a:buNone/>
            </a:pPr>
            <a:endParaRPr lang="en-IN" sz="1600" b="1" dirty="0"/>
          </a:p>
          <a:p>
            <a:pPr marL="0" indent="0" algn="just">
              <a:buNone/>
            </a:pPr>
            <a:r>
              <a:rPr lang="en-IN" sz="1600" b="1" dirty="0"/>
              <a:t>Step 10: Calibrated Top-N Merging &amp; Evaluation</a:t>
            </a:r>
            <a:endParaRPr sz="1600" b="1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930076-A6B5-D99E-F0FC-A16E0C77CA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3DFDF3A3-3552-4785-BF17-13676EEC7A2E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9/15/2026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E6F4E1-FD6F-E78D-98A4-0BC8A3086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II</a:t>
            </a:r>
            <a:endParaRPr lang="en-US" sz="2000" b="1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D36137-D004-EC50-E057-4E90A4BFF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1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5075FB-B3F1-136F-D1FE-D4432EF2CE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7697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B6500-C7FA-1F8F-527C-D9C22A602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B80BB5-F8FE-F4C5-7102-5D1D148C7220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69EFF-7833-4507-2CF0-A3CBAFA5B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708000" cy="1260000"/>
          </a:xfrm>
          <a:solidFill>
            <a:srgbClr val="000066"/>
          </a:solidFill>
        </p:spPr>
        <p:txBody>
          <a:bodyPr>
            <a:normAutofit fontScale="90000"/>
          </a:bodyPr>
          <a:lstStyle/>
          <a:p>
            <a:pPr marL="717550" algn="l"/>
            <a:b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Data Ingestion, Filtering &amp; Splitting</a:t>
            </a:r>
            <a:br>
              <a:rPr lang="en-IN" b="1" dirty="0"/>
            </a:br>
            <a:endParaRPr lang="en-IN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5FE0D-2C3E-7F1A-6BC4-4420EA41F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029200"/>
          </a:xfrm>
          <a:ln w="28575">
            <a:solidFill>
              <a:srgbClr val="000066"/>
            </a:solidFill>
          </a:ln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lvl="0"/>
            <a:r>
              <a:rPr lang="en-IN" b="1" dirty="0"/>
              <a:t>Core Goal</a:t>
            </a:r>
            <a:r>
              <a:rPr lang="en-IN" dirty="0"/>
              <a:t>: Ingest MovieLens-1M data, prevent cold-start sparsity, remap ID spaces, and ensure zero look ahead data leakage.</a:t>
            </a:r>
          </a:p>
          <a:p>
            <a:pPr lvl="0"/>
            <a:r>
              <a:rPr lang="en-IN" b="1" dirty="0"/>
              <a:t>Key Pillars</a:t>
            </a:r>
            <a:r>
              <a:rPr lang="en-IN" dirty="0"/>
              <a:t>:</a:t>
            </a:r>
          </a:p>
          <a:p>
            <a:pPr lvl="1"/>
            <a:r>
              <a:rPr lang="en-IN" sz="3200" dirty="0"/>
              <a:t>Iterative k-Core Filtering:</a:t>
            </a:r>
          </a:p>
          <a:p>
            <a:pPr lvl="2"/>
            <a:r>
              <a:rPr lang="en-IN" sz="3200" dirty="0"/>
              <a:t>Prunes users and items with &lt; 5 interactions until convergence (</a:t>
            </a:r>
            <a:r>
              <a:rPr lang="en-IN" sz="3200" dirty="0" err="1"/>
              <a:t>k_u</a:t>
            </a:r>
            <a:r>
              <a:rPr lang="en-IN" sz="3200" dirty="0"/>
              <a:t> &gt;= 5, </a:t>
            </a:r>
            <a:r>
              <a:rPr lang="en-IN" sz="3200" dirty="0" err="1"/>
              <a:t>k_i</a:t>
            </a:r>
            <a:r>
              <a:rPr lang="en-IN" sz="3200" dirty="0"/>
              <a:t> &gt;= 5).</a:t>
            </a:r>
          </a:p>
          <a:p>
            <a:pPr lvl="1"/>
            <a:r>
              <a:rPr lang="en-IN" sz="3200" dirty="0"/>
              <a:t>Contiguous 0-Indexed Remapping:</a:t>
            </a:r>
          </a:p>
          <a:p>
            <a:pPr lvl="2"/>
            <a:r>
              <a:rPr lang="en-IN" sz="3200" dirty="0"/>
              <a:t>Maps arbitrary </a:t>
            </a:r>
            <a:r>
              <a:rPr lang="en-IN" sz="3200" dirty="0" err="1"/>
              <a:t>MovieLens</a:t>
            </a:r>
            <a:r>
              <a:rPr lang="en-IN" sz="3200" dirty="0"/>
              <a:t> IDs into dense tensors.</a:t>
            </a:r>
          </a:p>
          <a:p>
            <a:pPr lvl="1"/>
            <a:r>
              <a:rPr lang="en-IN" sz="3200" dirty="0"/>
              <a:t>Temporal Leave-One-Out (LOO) Partitioning:</a:t>
            </a:r>
          </a:p>
          <a:p>
            <a:pPr lvl="2"/>
            <a:r>
              <a:rPr lang="en-IN" sz="3200" dirty="0"/>
              <a:t>Test Set: Chronological last interaction per user (N).</a:t>
            </a:r>
          </a:p>
          <a:p>
            <a:pPr lvl="2"/>
            <a:r>
              <a:rPr lang="en-IN" sz="3200" dirty="0"/>
              <a:t>Validation Set: Second-to-last interaction (N-1).</a:t>
            </a:r>
          </a:p>
          <a:p>
            <a:pPr lvl="2"/>
            <a:r>
              <a:rPr lang="en-IN" sz="3200" dirty="0"/>
              <a:t>Training Set: All preceding interactions (1…N-2).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68D226-036B-5877-8EDD-E4DF504D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2F57490A-7740-4DD6-97A7-D477C43A0885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9/15/2026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9A9CDD-6636-E1FB-E45B-05ED52DAC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II</a:t>
            </a:r>
            <a:endParaRPr lang="en-US" sz="2000" b="1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37FE6-212B-EBE6-4EDF-CB7EE43A3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2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4D8E68-B990-9DD1-69D4-B40928B7DF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1659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07B7A-03AC-E0B5-EAD1-8075BA343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685DE8-387E-693A-53DA-FF4A8B34C100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0FF32F-5B13-9EFA-EC23-36CBD113F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 fontScale="90000"/>
          </a:bodyPr>
          <a:lstStyle/>
          <a:p>
            <a:pPr marL="717550" indent="-1588" algn="l"/>
            <a:b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Adversarial Attack &amp;</a:t>
            </a:r>
            <a:b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Poisoning Simulation</a:t>
            </a:r>
            <a:b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2AC7-6722-4A3B-78A8-3BC4E369B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 fontScale="92500" lnSpcReduction="20000"/>
          </a:bodyPr>
          <a:lstStyle/>
          <a:p>
            <a:pPr lvl="0"/>
            <a:r>
              <a:rPr lang="en-IN" b="1" dirty="0"/>
              <a:t>Core Goal</a:t>
            </a:r>
            <a:r>
              <a:rPr lang="en-IN" dirty="0"/>
              <a:t>: Stress-test the recommender by injecting realistic adversarial corruption into the training partition (budget in [5%, 20%]).</a:t>
            </a:r>
          </a:p>
          <a:p>
            <a:pPr lvl="0"/>
            <a:r>
              <a:rPr lang="en-IN" b="1" dirty="0"/>
              <a:t>The 4 Attack Vectors Simulated</a:t>
            </a:r>
            <a:r>
              <a:rPr lang="en-IN" dirty="0"/>
              <a:t>:</a:t>
            </a:r>
          </a:p>
          <a:p>
            <a:pPr lvl="1"/>
            <a:r>
              <a:rPr lang="en-IN" b="1" dirty="0"/>
              <a:t>Random Flip Noise</a:t>
            </a:r>
            <a:r>
              <a:rPr lang="en-IN" dirty="0"/>
              <a:t>: Simulates accidental user error or transmission noise by randomly altering rating values.</a:t>
            </a:r>
          </a:p>
          <a:p>
            <a:pPr lvl="1"/>
            <a:r>
              <a:rPr lang="en-IN" b="1" dirty="0"/>
              <a:t>Bandwagon Shilling</a:t>
            </a:r>
            <a:r>
              <a:rPr lang="en-IN" dirty="0"/>
              <a:t>: Fake bots rate popular blockbusters high (to build false credibility) while pushing an unknown tail movie with 5 ★.</a:t>
            </a:r>
          </a:p>
          <a:p>
            <a:pPr lvl="1"/>
            <a:r>
              <a:rPr lang="en-IN" b="1" dirty="0"/>
              <a:t>Nuke / Review-Bombing</a:t>
            </a:r>
            <a:r>
              <a:rPr lang="en-IN" dirty="0"/>
              <a:t>: Coordinated bot surge dropping 1★ ratings on popular head items within a 24-hour temporal window.</a:t>
            </a:r>
          </a:p>
          <a:p>
            <a:pPr lvl="1"/>
            <a:r>
              <a:rPr lang="en-IN" b="1" dirty="0"/>
              <a:t>AGAS (Agentic Group Shilling)</a:t>
            </a:r>
            <a:r>
              <a:rPr lang="en-IN" dirty="0"/>
              <a:t>: Multi-team bot coordination (mainstream team + niche team) with staggered multi-round activation.</a:t>
            </a:r>
          </a:p>
          <a:p>
            <a:pPr lvl="0"/>
            <a:r>
              <a:rPr lang="en-IN" dirty="0"/>
              <a:t>Only the Training Set is poisoned. The Validation and Test Sets remain 100% clean ground truth.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8C4DF5-8F1D-9C06-B1CB-FF03B46A0F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27B04BC2-CFCF-4941-8C8E-92CB6E747779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9/15/2026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4AA943-6304-ECD4-00BA-A42F01CB2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II</a:t>
            </a:r>
            <a:endParaRPr lang="en-US" sz="2000" b="1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3EE615-3BC3-BC5E-FF65-98E57123F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0E9344-36AF-B2F5-1B2C-7EDCA2FCA2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182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A8E65-9EB3-48F1-31EC-362CA4701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92DB9C-F5F1-8946-3AE2-D5DDF2E21928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EF0AE-4C93-E775-1BB9-F6F67EEE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 fontScale="90000"/>
          </a:bodyPr>
          <a:lstStyle/>
          <a:p>
            <a:pPr marL="717550" algn="l"/>
            <a:b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Warm-Start</a:t>
            </a:r>
            <a:b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Representation Learning</a:t>
            </a:r>
            <a:b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B5353-9DF6-75D6-CB50-8DF4959DA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 lnSpcReduction="10000"/>
          </a:bodyPr>
          <a:lstStyle/>
          <a:p>
            <a:pPr lvl="0"/>
            <a:r>
              <a:rPr lang="en-IN" b="1" dirty="0"/>
              <a:t>Core Goal</a:t>
            </a:r>
            <a:r>
              <a:rPr lang="en-IN" dirty="0"/>
              <a:t>: Give the neural recommender an initial representation baseline so it can output 5-class rating probability distributions.</a:t>
            </a:r>
          </a:p>
          <a:p>
            <a:pPr lvl="0"/>
            <a:r>
              <a:rPr lang="en-IN" b="1" dirty="0"/>
              <a:t>Key Concepts</a:t>
            </a:r>
            <a:r>
              <a:rPr lang="en-IN" dirty="0"/>
              <a:t>:</a:t>
            </a:r>
          </a:p>
          <a:p>
            <a:pPr lvl="1"/>
            <a:r>
              <a:rPr lang="en-IN" b="1" dirty="0"/>
              <a:t>Backbone Architecture</a:t>
            </a:r>
            <a:r>
              <a:rPr lang="en-IN" dirty="0"/>
              <a:t>: Uses </a:t>
            </a:r>
            <a:r>
              <a:rPr lang="en-IN" dirty="0" err="1"/>
              <a:t>NeuMF</a:t>
            </a:r>
            <a:r>
              <a:rPr lang="en-IN" dirty="0"/>
              <a:t> (Neural Matrix Factorization):</a:t>
            </a:r>
          </a:p>
          <a:p>
            <a:pPr lvl="2"/>
            <a:r>
              <a:rPr lang="en-IN" dirty="0"/>
              <a:t>GMF Branch: Captures linear user-item dot-product interactions.</a:t>
            </a:r>
          </a:p>
          <a:p>
            <a:pPr lvl="2"/>
            <a:r>
              <a:rPr lang="en-IN" dirty="0"/>
              <a:t>MLP Branch: Captures non-linear relationships across hidden layers (128 to 64 to 32).</a:t>
            </a:r>
          </a:p>
          <a:p>
            <a:pPr lvl="1"/>
            <a:r>
              <a:rPr lang="en-IN" b="1" dirty="0"/>
              <a:t>5-Class </a:t>
            </a:r>
            <a:r>
              <a:rPr lang="en-IN" b="1" dirty="0" err="1"/>
              <a:t>Softmax</a:t>
            </a:r>
            <a:r>
              <a:rPr lang="en-IN" b="1" dirty="0"/>
              <a:t> Output</a:t>
            </a:r>
            <a:r>
              <a:rPr lang="en-IN" dirty="0"/>
              <a:t>:</a:t>
            </a:r>
          </a:p>
          <a:p>
            <a:pPr lvl="2"/>
            <a:r>
              <a:rPr lang="en-IN" dirty="0"/>
              <a:t>Instead of a single regression number, the network outputs: </a:t>
            </a:r>
            <a:r>
              <a:rPr lang="en-IN" dirty="0" err="1"/>
              <a:t>Softmax</a:t>
            </a:r>
            <a:r>
              <a:rPr lang="en-IN" dirty="0"/>
              <a:t> in [0, 1],  {1, 2, 3, 4, 5} ★</a:t>
            </a:r>
          </a:p>
          <a:p>
            <a:pPr lvl="1"/>
            <a:r>
              <a:rPr lang="en-IN" b="1" dirty="0"/>
              <a:t>Warm Training</a:t>
            </a:r>
            <a:r>
              <a:rPr lang="en-IN" dirty="0"/>
              <a:t>: Fast 2–5 epochs of standard unweighted cross-entropy to initialize latent embedding spaces.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5275D9-4BB1-3A67-6EB8-E349C5EF21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5A2D3ED4-F728-45D5-BCA4-FA2DD0E6351B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9/15/2026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52FE82-C1C8-97A8-583B-C0E5784EF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II</a:t>
            </a:r>
            <a:endParaRPr lang="en-US" sz="2000" b="1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AB508C-8B8F-C1DF-2866-5ACCB3EF0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28BF39-B621-98B6-A6AF-4D38159CAC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1907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0490-6D01-55F2-76AF-8DDC063FF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378F2D-095F-8ADF-9516-00239CD7E8E7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09D229-925D-895E-49B6-278456FDB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 fontScale="90000"/>
          </a:bodyPr>
          <a:lstStyle/>
          <a:p>
            <a:pPr marL="715963" algn="l"/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RRFN Anchor Selection</a:t>
            </a:r>
            <a:b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&amp; Noise Transition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65BC0-9FE8-88B6-163A-92B585954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 fontScale="92500" lnSpcReduction="20000"/>
          </a:bodyPr>
          <a:lstStyle/>
          <a:p>
            <a:pPr lvl="0"/>
            <a:r>
              <a:rPr lang="en-IN" b="1" dirty="0"/>
              <a:t>Core Goal</a:t>
            </a:r>
            <a:r>
              <a:rPr lang="en-IN" dirty="0"/>
              <a:t>: Discover high-confidence interaction anchors and estimate the </a:t>
            </a:r>
            <a:r>
              <a:rPr lang="en-IN" b="1" dirty="0"/>
              <a:t>5 by 5 noise transition matrix</a:t>
            </a:r>
            <a:r>
              <a:rPr lang="en-IN" dirty="0"/>
              <a:t> that maps true ratings to corrupted ratings.</a:t>
            </a:r>
          </a:p>
          <a:p>
            <a:pPr lvl="0"/>
            <a:r>
              <a:rPr lang="en-IN" b="1" dirty="0"/>
              <a:t>Two-Step Mechanism</a:t>
            </a:r>
            <a:r>
              <a:rPr lang="en-IN" dirty="0"/>
              <a:t>:</a:t>
            </a:r>
          </a:p>
          <a:p>
            <a:pPr lvl="1"/>
            <a:r>
              <a:rPr lang="en-IN" b="1" dirty="0"/>
              <a:t>Anchor Point Selection</a:t>
            </a:r>
            <a:r>
              <a:rPr lang="en-IN" dirty="0"/>
              <a:t>:</a:t>
            </a:r>
          </a:p>
          <a:p>
            <a:pPr lvl="2"/>
            <a:r>
              <a:rPr lang="en-IN" dirty="0"/>
              <a:t>Identifies instances where the model's posterior confidence is &gt;= 90% for true class k.</a:t>
            </a:r>
          </a:p>
          <a:p>
            <a:pPr lvl="1"/>
            <a:r>
              <a:rPr lang="en-IN" b="1" dirty="0"/>
              <a:t>Transition Matrix Estimation (T)</a:t>
            </a:r>
            <a:r>
              <a:rPr lang="en-IN" dirty="0"/>
              <a:t>:</a:t>
            </a:r>
          </a:p>
          <a:p>
            <a:pPr lvl="2"/>
            <a:r>
              <a:rPr lang="en-IN" dirty="0"/>
              <a:t>Computes the empirical conditional probability of corruption: </a:t>
            </a:r>
          </a:p>
          <a:p>
            <a:pPr marL="914400" lvl="2" indent="0">
              <a:buNone/>
            </a:pPr>
            <a:endParaRPr lang="en-IN" dirty="0"/>
          </a:p>
          <a:p>
            <a:pPr marL="914400" lvl="2" indent="0">
              <a:buNone/>
            </a:pPr>
            <a:endParaRPr lang="en-IN" dirty="0"/>
          </a:p>
          <a:p>
            <a:pPr marL="914400" lvl="2" indent="0">
              <a:buNone/>
            </a:pPr>
            <a:endParaRPr lang="en-IN" dirty="0"/>
          </a:p>
          <a:p>
            <a:pPr lvl="1"/>
            <a:r>
              <a:rPr lang="en-IN" b="1" dirty="0"/>
              <a:t>Learnable Regularized Slack (Delta T)</a:t>
            </a:r>
            <a:r>
              <a:rPr lang="en-IN" dirty="0"/>
              <a:t>:</a:t>
            </a:r>
          </a:p>
          <a:p>
            <a:pPr lvl="2"/>
            <a:r>
              <a:rPr lang="en-IN" dirty="0"/>
              <a:t>Dynamically tuned during risk-consistent training.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B32233-3B70-48E4-2B4E-9BFCA18252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AF9147FE-6ED7-4F0C-8E2D-72F2AD5337DA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9/15/2026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77F704-2200-8BC0-3E4B-4403BC90A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F53A96-AA65-A6FF-95A7-4B6537FF9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6DB7B8-CC6E-97E5-8AE7-E158FC0F32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DF1FB2-C185-C017-A5B7-13BF0950B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401" y="4514512"/>
            <a:ext cx="3977985" cy="8763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1103CB-D771-2B33-9AED-D1ABAE3F7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7183" y="5590399"/>
            <a:ext cx="3254022" cy="77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27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C1439-1DCD-DCAE-3D85-C1E0F96F8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9231FF-D4FA-7E93-D757-00CC294C9617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6F9090-A830-BB58-76E9-5CD5900E6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 fontScale="90000"/>
          </a:bodyPr>
          <a:lstStyle/>
          <a:p>
            <a:pPr marL="717550" algn="l"/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Multi-View Reliability</a:t>
            </a:r>
            <a:b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Signal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C4ED7-8E2B-C6ED-44CC-8676C771F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 fontScale="92500" lnSpcReduction="10000"/>
          </a:bodyPr>
          <a:lstStyle/>
          <a:p>
            <a:pPr marL="228600" indent="-228600">
              <a:buFont typeface="+mj-lt"/>
              <a:buAutoNum type="arabicPeriod"/>
            </a:pPr>
            <a:r>
              <a:rPr lang="en-IN" b="1" dirty="0"/>
              <a:t>Core Goal</a:t>
            </a:r>
            <a:r>
              <a:rPr lang="en-IN" dirty="0"/>
              <a:t>: Gather three orthogonal, complementary trust signals for every interaction (u, </a:t>
            </a:r>
            <a:r>
              <a:rPr lang="en-IN" dirty="0" err="1"/>
              <a:t>i</a:t>
            </a:r>
            <a:r>
              <a:rPr lang="en-IN" dirty="0"/>
              <a:t>) before fusing them into a final sample weight.</a:t>
            </a:r>
          </a:p>
          <a:p>
            <a:pPr lvl="0"/>
            <a:r>
              <a:rPr lang="en-IN" b="1" dirty="0"/>
              <a:t>The 3 Signals Explained</a:t>
            </a:r>
            <a:r>
              <a:rPr lang="en-IN" dirty="0"/>
              <a:t>:</a:t>
            </a:r>
          </a:p>
          <a:p>
            <a:pPr lvl="1"/>
            <a:r>
              <a:rPr lang="en-IN" b="1" dirty="0"/>
              <a:t>RRFN (Statistical)</a:t>
            </a:r>
            <a:r>
              <a:rPr lang="en-IN" dirty="0"/>
              <a:t>: Ratio of observed rating probability vs. maximum predicted class probability.</a:t>
            </a:r>
          </a:p>
          <a:p>
            <a:pPr lvl="1"/>
            <a:r>
              <a:rPr lang="en-IN" b="1" dirty="0"/>
              <a:t>LLM (Semantic Profile Auditor)</a:t>
            </a:r>
            <a:r>
              <a:rPr lang="en-IN" dirty="0"/>
              <a:t>:</a:t>
            </a:r>
          </a:p>
          <a:p>
            <a:pPr lvl="2"/>
            <a:r>
              <a:rPr lang="en-IN" dirty="0"/>
              <a:t>Pre-filter sends only suspicious ratings (RRFN &lt; 0.60$) to Gemini 2.5 Flash / LLM auditor to conserve compute.</a:t>
            </a:r>
          </a:p>
          <a:p>
            <a:pPr lvl="2"/>
            <a:r>
              <a:rPr lang="en-IN" dirty="0"/>
              <a:t>Evaluates user genre history vs. evaluated title to cached in SQLite (</a:t>
            </a:r>
            <a:r>
              <a:rPr lang="en-IN" dirty="0" err="1"/>
              <a:t>llm_cache.db</a:t>
            </a:r>
            <a:r>
              <a:rPr lang="en-IN" dirty="0"/>
              <a:t>).</a:t>
            </a:r>
          </a:p>
          <a:p>
            <a:pPr lvl="1"/>
            <a:r>
              <a:rPr lang="en-IN" b="1" dirty="0"/>
              <a:t>Bomb (Review-Bombing)</a:t>
            </a:r>
            <a:r>
              <a:rPr lang="en-IN" dirty="0"/>
              <a:t>:</a:t>
            </a:r>
          </a:p>
          <a:p>
            <a:pPr lvl="2"/>
            <a:r>
              <a:rPr lang="en-IN" dirty="0"/>
              <a:t>Detects temporal burst acceleration A(</a:t>
            </a:r>
            <a:r>
              <a:rPr lang="en-IN" dirty="0" err="1"/>
              <a:t>i</a:t>
            </a:r>
            <a:r>
              <a:rPr lang="en-IN" dirty="0"/>
              <a:t>, t) and rating polarity skew S(</a:t>
            </a:r>
            <a:r>
              <a:rPr lang="en-IN" dirty="0" err="1"/>
              <a:t>i</a:t>
            </a:r>
            <a:r>
              <a:rPr lang="en-IN" dirty="0"/>
              <a:t>, t) within sliding time windows.</a:t>
            </a:r>
          </a:p>
          <a:p>
            <a:pPr marL="228600" lvl="0" indent="-228600">
              <a:buFont typeface="+mj-lt"/>
              <a:buAutoNum type="arabicPeriod"/>
            </a:pPr>
            <a:endParaRPr lang="en-IN" sz="16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E4FC16-836B-C02E-7652-0DFD859ED0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B0D0CEE8-6DCD-4241-B5DA-807216EA45FD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9/15/2026</a:t>
            </a:fld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8F6E8A-E4C4-BBC3-295A-736F6E13D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E3249A-E045-C6C3-8196-096E20DE5A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877D2-F07B-69E0-94B1-EF027DB06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69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A0DFC-8877-ABC8-5AA2-7F0CAB5F2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CB92E6-2370-B6D6-C392-C21102625E0D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07CECD-4EA2-6727-205A-76EE6A9BA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 fontScale="90000"/>
          </a:bodyPr>
          <a:lstStyle/>
          <a:p>
            <a:pPr marL="717550" algn="l"/>
            <a:r>
              <a:rPr b="1" dirty="0">
                <a:solidFill>
                  <a:schemeClr val="bg1"/>
                </a:solidFill>
                <a:latin typeface="Times New Roman"/>
              </a:rPr>
              <a:t>Multi-View Reliability Fusion </a:t>
            </a:r>
            <a:br>
              <a:rPr lang="en-US" b="1" dirty="0">
                <a:solidFill>
                  <a:schemeClr val="bg1"/>
                </a:solidFill>
                <a:latin typeface="Times New Roman"/>
              </a:rPr>
            </a:br>
            <a:r>
              <a:rPr b="1" dirty="0">
                <a:solidFill>
                  <a:schemeClr val="bg1"/>
                </a:solidFill>
                <a:latin typeface="Times New Roman"/>
              </a:rPr>
              <a:t>&amp;</a:t>
            </a:r>
            <a:r>
              <a:rPr lang="en-US" b="1" dirty="0">
                <a:solidFill>
                  <a:schemeClr val="bg1"/>
                </a:solidFill>
                <a:latin typeface="Times New Roman"/>
              </a:rPr>
              <a:t> </a:t>
            </a:r>
            <a:r>
              <a:rPr b="1" dirty="0">
                <a:solidFill>
                  <a:schemeClr val="bg1"/>
                </a:solidFill>
                <a:latin typeface="Times New Roman"/>
              </a:rPr>
              <a:t>Sample Reweighting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E93C8-526B-5326-7D7B-358C48C1C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Core Goal</a:t>
            </a:r>
            <a:r>
              <a:rPr lang="en-IN" dirty="0"/>
              <a:t>: Synthesize the 3 orthogonal trust signals into a continuous, sample-level reliability weight w(u, </a:t>
            </a:r>
            <a:r>
              <a:rPr lang="en-IN" dirty="0" err="1"/>
              <a:t>i</a:t>
            </a:r>
            <a:r>
              <a:rPr lang="en-IN" dirty="0"/>
              <a:t>) in [0.02, 1.0] for every interaction.</a:t>
            </a:r>
          </a:p>
          <a:p>
            <a:r>
              <a:rPr lang="en-IN" b="1" dirty="0"/>
              <a:t>Key Formulation &amp; Mechanics</a:t>
            </a:r>
            <a:r>
              <a:rPr lang="en-IN" dirty="0"/>
              <a:t>:</a:t>
            </a:r>
          </a:p>
          <a:p>
            <a:pPr lvl="1"/>
            <a:r>
              <a:rPr lang="en-IN" b="1" dirty="0"/>
              <a:t>Convex Linear Combination Formulation</a:t>
            </a:r>
            <a:r>
              <a:rPr lang="en-IN" dirty="0"/>
              <a:t>:</a:t>
            </a:r>
          </a:p>
          <a:p>
            <a:pPr lvl="2"/>
            <a:r>
              <a:rPr lang="en-IN" b="1" dirty="0"/>
              <a:t>w(u, </a:t>
            </a:r>
            <a:r>
              <a:rPr lang="en-IN" b="1" dirty="0" err="1"/>
              <a:t>i</a:t>
            </a:r>
            <a:r>
              <a:rPr lang="en-IN" b="1" dirty="0"/>
              <a:t>) = </a:t>
            </a:r>
            <a:r>
              <a:rPr lang="el-GR" b="1" dirty="0"/>
              <a:t>α · </a:t>
            </a:r>
            <a:r>
              <a:rPr lang="en-IN" b="1" dirty="0"/>
              <a:t>R_RRFN(u, </a:t>
            </a:r>
            <a:r>
              <a:rPr lang="en-IN" b="1" dirty="0" err="1"/>
              <a:t>i</a:t>
            </a:r>
            <a:r>
              <a:rPr lang="en-IN" b="1" dirty="0"/>
              <a:t>) + </a:t>
            </a:r>
            <a:r>
              <a:rPr lang="el-GR" b="1" dirty="0"/>
              <a:t>β · </a:t>
            </a:r>
            <a:r>
              <a:rPr lang="en-IN" b="1" dirty="0"/>
              <a:t>R_LLM(u, </a:t>
            </a:r>
            <a:r>
              <a:rPr lang="en-IN" b="1" dirty="0" err="1"/>
              <a:t>i</a:t>
            </a:r>
            <a:r>
              <a:rPr lang="en-IN" b="1" dirty="0"/>
              <a:t>) + </a:t>
            </a:r>
            <a:r>
              <a:rPr lang="el-GR" b="1" dirty="0"/>
              <a:t>γ · </a:t>
            </a:r>
            <a:r>
              <a:rPr lang="en-IN" b="1" dirty="0" err="1"/>
              <a:t>R_bomb</a:t>
            </a:r>
            <a:r>
              <a:rPr lang="en-IN" b="1" dirty="0"/>
              <a:t>(</a:t>
            </a:r>
            <a:r>
              <a:rPr lang="en-IN" b="1" dirty="0" err="1"/>
              <a:t>i</a:t>
            </a:r>
            <a:r>
              <a:rPr lang="en-IN" b="1" dirty="0"/>
              <a:t>, t)</a:t>
            </a:r>
          </a:p>
          <a:p>
            <a:pPr lvl="2"/>
            <a:r>
              <a:rPr lang="en-IN" b="1" dirty="0"/>
              <a:t>Normalized constraints: </a:t>
            </a:r>
            <a:r>
              <a:rPr lang="el-GR" b="1" dirty="0"/>
              <a:t>α + β + γ = 1.0 (</a:t>
            </a:r>
            <a:r>
              <a:rPr lang="en-IN" b="1" dirty="0"/>
              <a:t>Default config: </a:t>
            </a:r>
            <a:r>
              <a:rPr lang="el-GR" b="1" dirty="0"/>
              <a:t>α = 0.50, β = 0.30, γ = 0.20).</a:t>
            </a:r>
          </a:p>
          <a:p>
            <a:pPr lvl="1"/>
            <a:r>
              <a:rPr lang="en-IN" b="1" dirty="0"/>
              <a:t>Non-Zero Reliability Floor (</a:t>
            </a:r>
            <a:r>
              <a:rPr lang="el-GR" b="1" dirty="0"/>
              <a:t>ε_</a:t>
            </a:r>
            <a:r>
              <a:rPr lang="en-IN" b="1" dirty="0"/>
              <a:t>min = 0.02)</a:t>
            </a:r>
            <a:r>
              <a:rPr lang="en-IN" dirty="0"/>
              <a:t>:</a:t>
            </a:r>
          </a:p>
          <a:p>
            <a:pPr lvl="2"/>
            <a:r>
              <a:rPr lang="en-IN" b="1" dirty="0"/>
              <a:t>Suspicious interactions are softly </a:t>
            </a:r>
            <a:r>
              <a:rPr lang="en-IN" b="1" dirty="0" err="1"/>
              <a:t>downweighted</a:t>
            </a:r>
            <a:r>
              <a:rPr lang="en-IN" b="1" dirty="0"/>
              <a:t> rather than hard-dropped to preserve gradient stability and graph connectivity.</a:t>
            </a:r>
          </a:p>
          <a:p>
            <a:pPr lvl="1"/>
            <a:r>
              <a:rPr lang="en-IN" b="1" dirty="0"/>
              <a:t>Downstream Integration</a:t>
            </a:r>
            <a:r>
              <a:rPr lang="en-IN" dirty="0"/>
              <a:t>:</a:t>
            </a:r>
          </a:p>
          <a:p>
            <a:pPr lvl="2"/>
            <a:r>
              <a:rPr lang="en-IN" b="1" dirty="0"/>
              <a:t>w(u, </a:t>
            </a:r>
            <a:r>
              <a:rPr lang="en-IN" b="1" dirty="0" err="1"/>
              <a:t>i</a:t>
            </a:r>
            <a:r>
              <a:rPr lang="en-IN" b="1" dirty="0"/>
              <a:t>) serves as the unified confidence weight across Pareto partitioning, neural loss functions, and blueprint merging.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E71E33-0623-22B6-F0D9-8D49BF20D8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B0D0CEE8-6DCD-4241-B5DA-807216EA45FD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9/15/2026</a:t>
            </a:fld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7F2A2B-DD93-5045-021A-1C8110ECC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2D6FD4-74E1-D664-4FA8-A8AECAF215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000EE8-32E2-3019-2A99-5C1F9AC04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833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69F0E-C54F-C228-E2D0-151F1C4C0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8E2F09D-39D8-CBDF-DD92-D39BD909B993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F16FEF-C93A-FD99-8400-48F1A01D5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 fontScale="90000"/>
          </a:bodyPr>
          <a:lstStyle/>
          <a:p>
            <a:pPr marL="717550" algn="l"/>
            <a:r>
              <a:rPr sz="4000" b="1" dirty="0">
                <a:solidFill>
                  <a:schemeClr val="bg1"/>
                </a:solidFill>
                <a:latin typeface="Times New Roman"/>
              </a:rPr>
              <a:t>Reliability-Weighted Pareto </a:t>
            </a:r>
            <a:br>
              <a:rPr lang="en-US" sz="4000" b="1" dirty="0">
                <a:solidFill>
                  <a:schemeClr val="bg1"/>
                </a:solidFill>
                <a:latin typeface="Times New Roman"/>
              </a:rPr>
            </a:br>
            <a:r>
              <a:rPr sz="4000" b="1" dirty="0">
                <a:solidFill>
                  <a:schemeClr val="bg1"/>
                </a:solidFill>
                <a:latin typeface="Times New Roman"/>
              </a:rPr>
              <a:t>Catalog Partitioning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E5EB4-F8FB-C0EE-F5E7-73EF51C9D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Core Goal</a:t>
            </a:r>
            <a:r>
              <a:rPr lang="en-US" dirty="0"/>
              <a:t>: Mitigate popularity bias by segmenting items into Head (H) and Tail (T) using attack-invariant effective interaction volume.</a:t>
            </a:r>
          </a:p>
          <a:p>
            <a:r>
              <a:rPr lang="en-US" b="1" dirty="0"/>
              <a:t>Key Principles &amp; Partitioning Logic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Reliability-Weighted Effective Volume (</a:t>
            </a:r>
            <a:r>
              <a:rPr lang="en-US" b="1" dirty="0" err="1"/>
              <a:t>V_eff</a:t>
            </a:r>
            <a:r>
              <a:rPr lang="en-US" b="1" dirty="0"/>
              <a:t>)</a:t>
            </a:r>
            <a:r>
              <a:rPr lang="en-US" dirty="0"/>
              <a:t>:</a:t>
            </a:r>
          </a:p>
          <a:p>
            <a:pPr lvl="2"/>
            <a:r>
              <a:rPr lang="en-US" b="1" dirty="0" err="1"/>
              <a:t>V_eff</a:t>
            </a:r>
            <a:r>
              <a:rPr lang="en-US" b="1" dirty="0"/>
              <a:t>(</a:t>
            </a:r>
            <a:r>
              <a:rPr lang="en-US" b="1" dirty="0" err="1"/>
              <a:t>i</a:t>
            </a:r>
            <a:r>
              <a:rPr lang="en-US" b="1" dirty="0"/>
              <a:t>) = ∑_{u ∈ </a:t>
            </a:r>
            <a:r>
              <a:rPr lang="en-US" b="1" dirty="0" err="1"/>
              <a:t>U_i</a:t>
            </a:r>
            <a:r>
              <a:rPr lang="en-US" b="1" dirty="0"/>
              <a:t>} w(u, </a:t>
            </a:r>
            <a:r>
              <a:rPr lang="en-US" b="1" dirty="0" err="1"/>
              <a:t>i</a:t>
            </a:r>
            <a:r>
              <a:rPr lang="en-US" b="1" dirty="0"/>
              <a:t>) (Weighted sum instead of raw interaction counts ∑ 1).</a:t>
            </a:r>
          </a:p>
          <a:p>
            <a:pPr lvl="2"/>
            <a:r>
              <a:rPr lang="en-US" b="1" dirty="0"/>
              <a:t>Prevents sybil botnets and bandwagon shilling from falsely inflating obscure tail items into head status.</a:t>
            </a:r>
          </a:p>
          <a:p>
            <a:pPr lvl="1"/>
            <a:r>
              <a:rPr lang="en-US" b="1" dirty="0"/>
              <a:t>Pareto Volume Boundary (α = 0.20)</a:t>
            </a:r>
            <a:r>
              <a:rPr lang="en-US" dirty="0"/>
              <a:t>:</a:t>
            </a:r>
          </a:p>
          <a:p>
            <a:pPr lvl="2"/>
            <a:r>
              <a:rPr lang="en-US" b="1" dirty="0"/>
              <a:t>Items sorted in descending order of </a:t>
            </a:r>
            <a:r>
              <a:rPr lang="en-US" b="1" dirty="0" err="1"/>
              <a:t>V_eff</a:t>
            </a:r>
            <a:r>
              <a:rPr lang="en-US" b="1" dirty="0"/>
              <a:t>(</a:t>
            </a:r>
            <a:r>
              <a:rPr lang="en-US" b="1" dirty="0" err="1"/>
              <a:t>i</a:t>
            </a:r>
            <a:r>
              <a:rPr lang="en-US" b="1" dirty="0"/>
              <a:t>).</a:t>
            </a:r>
          </a:p>
          <a:p>
            <a:pPr lvl="2"/>
            <a:r>
              <a:rPr lang="en-US" b="1" dirty="0"/>
              <a:t>Head Set (H): Top items accumulating α · ∑ </a:t>
            </a:r>
            <a:r>
              <a:rPr lang="en-US" b="1" dirty="0" err="1"/>
              <a:t>V_eff</a:t>
            </a:r>
            <a:r>
              <a:rPr lang="en-US" b="1" dirty="0"/>
              <a:t> (the top ~20% of total volume).</a:t>
            </a:r>
          </a:p>
          <a:p>
            <a:pPr lvl="2"/>
            <a:r>
              <a:rPr lang="en-US" b="1" dirty="0"/>
              <a:t>Tail Set (T): Remaining long-tail items (T = I \ H).</a:t>
            </a:r>
          </a:p>
          <a:p>
            <a:pPr lvl="1"/>
            <a:r>
              <a:rPr lang="en-US" b="1" dirty="0"/>
              <a:t>Decoupled Specialization</a:t>
            </a:r>
            <a:r>
              <a:rPr lang="en-US" dirty="0"/>
              <a:t>: Segregates item spaces so head gradients do not dominate tail item representations.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58EEDC-0C9D-8540-4341-83AEECAD36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B0D0CEE8-6DCD-4241-B5DA-807216EA45FD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9/15/2026</a:t>
            </a:fld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1C896C-489E-9420-5534-0CC57D74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509470-56CC-4712-8084-446137FDE9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7EC68-A7FA-3665-58C0-893DEF0A5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121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B2233-A30A-4E33-F097-9E4FA5856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B886F5-E32D-D94C-A80E-E6C8F652F0A5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A88EB4-2CEE-6E54-BC4F-480727B45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 fontScale="90000"/>
          </a:bodyPr>
          <a:lstStyle/>
          <a:p>
            <a:pPr marL="717550" algn="l"/>
            <a:r>
              <a:rPr b="1" dirty="0">
                <a:solidFill>
                  <a:schemeClr val="bg1"/>
                </a:solidFill>
                <a:latin typeface="Times New Roman"/>
              </a:rPr>
              <a:t>Decoupled Dual Training </a:t>
            </a:r>
            <a:br>
              <a:rPr lang="en-US" b="1" dirty="0">
                <a:solidFill>
                  <a:schemeClr val="bg1"/>
                </a:solidFill>
                <a:latin typeface="Times New Roman"/>
              </a:rPr>
            </a:br>
            <a:r>
              <a:rPr b="1" dirty="0">
                <a:solidFill>
                  <a:schemeClr val="bg1"/>
                </a:solidFill>
                <a:latin typeface="Times New Roman"/>
              </a:rPr>
              <a:t>with Risk-Consistent Loss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2AC5A-986B-45D3-BA2B-57F0448EB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Core Goal</a:t>
            </a:r>
            <a:r>
              <a:rPr lang="en-IN" dirty="0"/>
              <a:t>: Train two specialized neural expert models (</a:t>
            </a:r>
            <a:r>
              <a:rPr lang="en-IN" dirty="0" err="1"/>
              <a:t>M_pop</a:t>
            </a:r>
            <a:r>
              <a:rPr lang="en-IN" dirty="0"/>
              <a:t> on Head, </a:t>
            </a:r>
            <a:r>
              <a:rPr lang="en-IN" dirty="0" err="1"/>
              <a:t>M_tail</a:t>
            </a:r>
            <a:r>
              <a:rPr lang="en-IN" dirty="0"/>
              <a:t> on Tail) with forward-corrected risk-consistent loss.</a:t>
            </a:r>
          </a:p>
          <a:p>
            <a:r>
              <a:rPr lang="en-IN" b="1" dirty="0"/>
              <a:t>Dual Architecture &amp; Risk Loss Mechanics</a:t>
            </a:r>
            <a:r>
              <a:rPr lang="en-IN" dirty="0"/>
              <a:t>:</a:t>
            </a:r>
          </a:p>
          <a:p>
            <a:pPr lvl="1"/>
            <a:r>
              <a:rPr lang="en-IN" b="1" dirty="0"/>
              <a:t>Decoupled Dual Expert Models</a:t>
            </a:r>
            <a:r>
              <a:rPr lang="en-IN" dirty="0"/>
              <a:t>:</a:t>
            </a:r>
          </a:p>
          <a:p>
            <a:pPr lvl="2"/>
            <a:r>
              <a:rPr lang="en-IN" b="1" dirty="0" err="1"/>
              <a:t>M_pop</a:t>
            </a:r>
            <a:r>
              <a:rPr lang="en-IN" b="1" dirty="0"/>
              <a:t> (Popularity Specialist): Trained exclusively on Head interactions (u, </a:t>
            </a:r>
            <a:r>
              <a:rPr lang="en-IN" b="1" dirty="0" err="1"/>
              <a:t>i</a:t>
            </a:r>
            <a:r>
              <a:rPr lang="en-IN" b="1" dirty="0"/>
              <a:t>) ∈ H.</a:t>
            </a:r>
          </a:p>
          <a:p>
            <a:pPr lvl="2"/>
            <a:r>
              <a:rPr lang="en-IN" b="1" dirty="0" err="1"/>
              <a:t>M_tail</a:t>
            </a:r>
            <a:r>
              <a:rPr lang="en-IN" b="1" dirty="0"/>
              <a:t> (Niche Specialist): Trained exclusively on Tail interactions (u, </a:t>
            </a:r>
            <a:r>
              <a:rPr lang="en-IN" b="1" dirty="0" err="1"/>
              <a:t>i</a:t>
            </a:r>
            <a:r>
              <a:rPr lang="en-IN" b="1" dirty="0"/>
              <a:t>) ∈ T.</a:t>
            </a:r>
          </a:p>
          <a:p>
            <a:pPr lvl="1"/>
            <a:r>
              <a:rPr lang="en-IN" b="1" dirty="0"/>
              <a:t>Risk-Consistent Loss with Slack Regularization</a:t>
            </a:r>
            <a:r>
              <a:rPr lang="en-IN" dirty="0"/>
              <a:t>:</a:t>
            </a:r>
          </a:p>
          <a:p>
            <a:pPr lvl="2"/>
            <a:r>
              <a:rPr lang="en-IN" b="1" dirty="0" err="1"/>
              <a:t>L_risk</a:t>
            </a:r>
            <a:r>
              <a:rPr lang="en-IN" b="1" dirty="0"/>
              <a:t> = - 1/|B| ∑_{(</a:t>
            </a:r>
            <a:r>
              <a:rPr lang="en-IN" b="1" dirty="0" err="1"/>
              <a:t>u,i</a:t>
            </a:r>
            <a:r>
              <a:rPr lang="en-IN" b="1" dirty="0"/>
              <a:t>) ∈ B} w(u, </a:t>
            </a:r>
            <a:r>
              <a:rPr lang="en-IN" b="1" dirty="0" err="1"/>
              <a:t>i</a:t>
            </a:r>
            <a:r>
              <a:rPr lang="en-IN" b="1" dirty="0"/>
              <a:t>) · log([ p(u, </a:t>
            </a:r>
            <a:r>
              <a:rPr lang="en-IN" b="1" dirty="0" err="1"/>
              <a:t>i</a:t>
            </a:r>
            <a:r>
              <a:rPr lang="en-IN" b="1" dirty="0"/>
              <a:t>) · </a:t>
            </a:r>
            <a:r>
              <a:rPr lang="en-IN" b="1" dirty="0" err="1"/>
              <a:t>T_final</a:t>
            </a:r>
            <a:r>
              <a:rPr lang="en-IN" b="1" dirty="0"/>
              <a:t> ]_{</a:t>
            </a:r>
            <a:r>
              <a:rPr lang="en-IN" b="1" dirty="0" err="1"/>
              <a:t>y_tilde</a:t>
            </a:r>
            <a:r>
              <a:rPr lang="en-IN" b="1" dirty="0"/>
              <a:t>}) + </a:t>
            </a:r>
            <a:r>
              <a:rPr lang="el-GR" b="1" dirty="0"/>
              <a:t>λ_Δ ||Δ</a:t>
            </a:r>
            <a:r>
              <a:rPr lang="en-IN" b="1" dirty="0"/>
              <a:t>T||_F^2</a:t>
            </a:r>
          </a:p>
          <a:p>
            <a:pPr lvl="2"/>
            <a:r>
              <a:rPr lang="en-IN" b="1" dirty="0"/>
              <a:t>Forward correction with </a:t>
            </a:r>
            <a:r>
              <a:rPr lang="en-IN" b="1" dirty="0" err="1"/>
              <a:t>T_final</a:t>
            </a:r>
            <a:r>
              <a:rPr lang="en-IN" b="1" dirty="0"/>
              <a:t> = </a:t>
            </a:r>
            <a:r>
              <a:rPr lang="en-IN" b="1" dirty="0" err="1"/>
              <a:t>Softmax</a:t>
            </a:r>
            <a:r>
              <a:rPr lang="en-IN" b="1" dirty="0"/>
              <a:t>(T_hat + </a:t>
            </a:r>
            <a:r>
              <a:rPr lang="el-GR" b="1" dirty="0"/>
              <a:t>Δ</a:t>
            </a:r>
            <a:r>
              <a:rPr lang="en-IN" b="1" dirty="0"/>
              <a:t>T) mathematically un-distorts noisy labels.</a:t>
            </a:r>
          </a:p>
          <a:p>
            <a:pPr lvl="1"/>
            <a:r>
              <a:rPr lang="en-IN" b="1" dirty="0"/>
              <a:t>Optimization &amp; Stability</a:t>
            </a:r>
            <a:r>
              <a:rPr lang="en-IN" dirty="0"/>
              <a:t>: Cosine annealing scheduler with early stopping based on clean validation accuracy (patience = 3).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353A8C-C778-4D83-A9A5-DF77A8E89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B0D0CEE8-6DCD-4241-B5DA-807216EA45FD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9/15/2026</a:t>
            </a:fld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F7EC27-E808-C2D4-34DF-EF3A36A4E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2A2672-BC14-0762-0285-6DA7D5E830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C08A8-B669-2D5B-0192-CA4A0F89F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232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1075F-30D1-B8D2-9572-4103E53A2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D6B377-3FCA-4CD3-1D7C-CB8FB266337E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FA123D-A330-2D6F-31D2-4BDD24CDB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 fontScale="90000"/>
          </a:bodyPr>
          <a:lstStyle/>
          <a:p>
            <a:pPr marL="717550" algn="l"/>
            <a:r>
              <a:rPr b="1" dirty="0">
                <a:solidFill>
                  <a:schemeClr val="bg1"/>
                </a:solidFill>
                <a:latin typeface="Times New Roman"/>
              </a:rPr>
              <a:t>Robust Popularity Inclination </a:t>
            </a:r>
            <a:br>
              <a:rPr lang="en-US" b="1" dirty="0">
                <a:solidFill>
                  <a:schemeClr val="bg1"/>
                </a:solidFill>
                <a:latin typeface="Times New Roman"/>
              </a:rPr>
            </a:br>
            <a:r>
              <a:rPr b="1" dirty="0">
                <a:solidFill>
                  <a:schemeClr val="bg1"/>
                </a:solidFill>
                <a:latin typeface="Times New Roman"/>
              </a:rPr>
              <a:t>&amp; Blueprint Denoising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6C450-1CC4-A3BB-91B3-97A879BD0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Core Goal</a:t>
            </a:r>
            <a:r>
              <a:rPr lang="en-IN" dirty="0"/>
              <a:t>: Personalize each user's popularity inclination C̃(u) and construct a clean integer consumption blueprint b(u) that resists adversarial distortion.</a:t>
            </a:r>
          </a:p>
          <a:p>
            <a:r>
              <a:rPr lang="en-IN" b="1" dirty="0"/>
              <a:t>Formulation &amp; Bayesian Smoothing</a:t>
            </a:r>
            <a:r>
              <a:rPr lang="en-IN" dirty="0"/>
              <a:t>:</a:t>
            </a:r>
          </a:p>
          <a:p>
            <a:pPr lvl="1"/>
            <a:r>
              <a:rPr lang="en-IN" b="1" dirty="0"/>
              <a:t>Reliability-Weighted Popularity Ratio</a:t>
            </a:r>
            <a:r>
              <a:rPr lang="en-IN" dirty="0"/>
              <a:t>:</a:t>
            </a:r>
          </a:p>
          <a:p>
            <a:pPr lvl="2"/>
            <a:r>
              <a:rPr lang="en-IN" b="1" dirty="0"/>
              <a:t>Raw head affinity: </a:t>
            </a:r>
            <a:r>
              <a:rPr lang="en-IN" b="1" dirty="0" err="1"/>
              <a:t>C_raw</a:t>
            </a:r>
            <a:r>
              <a:rPr lang="en-IN" b="1" dirty="0"/>
              <a:t>(u) = (∑_{</a:t>
            </a:r>
            <a:r>
              <a:rPr lang="en-IN" b="1" dirty="0" err="1"/>
              <a:t>i</a:t>
            </a:r>
            <a:r>
              <a:rPr lang="en-IN" b="1" dirty="0"/>
              <a:t> ∈ H ∩ </a:t>
            </a:r>
            <a:r>
              <a:rPr lang="en-IN" b="1" dirty="0" err="1"/>
              <a:t>I_u</a:t>
            </a:r>
            <a:r>
              <a:rPr lang="en-IN" b="1" dirty="0"/>
              <a:t>} w(u, </a:t>
            </a:r>
            <a:r>
              <a:rPr lang="en-IN" b="1" dirty="0" err="1"/>
              <a:t>i</a:t>
            </a:r>
            <a:r>
              <a:rPr lang="en-IN" b="1" dirty="0"/>
              <a:t>)) / (∑_{</a:t>
            </a:r>
            <a:r>
              <a:rPr lang="en-IN" b="1" dirty="0" err="1"/>
              <a:t>i</a:t>
            </a:r>
            <a:r>
              <a:rPr lang="en-IN" b="1" dirty="0"/>
              <a:t> ∈ </a:t>
            </a:r>
            <a:r>
              <a:rPr lang="en-IN" b="1" dirty="0" err="1"/>
              <a:t>I_u</a:t>
            </a:r>
            <a:r>
              <a:rPr lang="en-IN" b="1" dirty="0"/>
              <a:t>} w(u, </a:t>
            </a:r>
            <a:r>
              <a:rPr lang="en-IN" b="1" dirty="0" err="1"/>
              <a:t>i</a:t>
            </a:r>
            <a:r>
              <a:rPr lang="en-IN" b="1" dirty="0"/>
              <a:t>)).</a:t>
            </a:r>
          </a:p>
          <a:p>
            <a:pPr lvl="1"/>
            <a:r>
              <a:rPr lang="en-IN" b="1" dirty="0"/>
              <a:t>Empirical Bayes Shrinkage Smoothing (</a:t>
            </a:r>
            <a:r>
              <a:rPr lang="el-GR" b="1" dirty="0"/>
              <a:t>τ = 5.0)</a:t>
            </a:r>
            <a:r>
              <a:rPr lang="el-GR" dirty="0"/>
              <a:t>:</a:t>
            </a:r>
          </a:p>
          <a:p>
            <a:pPr lvl="2"/>
            <a:r>
              <a:rPr lang="en-IN" b="1" dirty="0"/>
              <a:t>C̃(u) = ( ∑ w(u, </a:t>
            </a:r>
            <a:r>
              <a:rPr lang="en-IN" b="1" dirty="0" err="1"/>
              <a:t>i</a:t>
            </a:r>
            <a:r>
              <a:rPr lang="en-IN" b="1" dirty="0"/>
              <a:t>) · </a:t>
            </a:r>
            <a:r>
              <a:rPr lang="en-IN" b="1" dirty="0" err="1"/>
              <a:t>C_raw</a:t>
            </a:r>
            <a:r>
              <a:rPr lang="en-IN" b="1" dirty="0"/>
              <a:t>(u) + </a:t>
            </a:r>
            <a:r>
              <a:rPr lang="el-GR" b="1" dirty="0"/>
              <a:t>τ · μ_</a:t>
            </a:r>
            <a:r>
              <a:rPr lang="en-IN" b="1" dirty="0"/>
              <a:t>pop ) / ( ∑ w(u, </a:t>
            </a:r>
            <a:r>
              <a:rPr lang="en-IN" b="1" dirty="0" err="1"/>
              <a:t>i</a:t>
            </a:r>
            <a:r>
              <a:rPr lang="en-IN" b="1" dirty="0"/>
              <a:t>) + </a:t>
            </a:r>
            <a:r>
              <a:rPr lang="el-GR" b="1" dirty="0"/>
              <a:t>τ ).</a:t>
            </a:r>
          </a:p>
          <a:p>
            <a:pPr lvl="2"/>
            <a:r>
              <a:rPr lang="en-IN" b="1" dirty="0"/>
              <a:t>Smooths sparse users toward the global prior </a:t>
            </a:r>
            <a:r>
              <a:rPr lang="el-GR" b="1" dirty="0"/>
              <a:t>μ_</a:t>
            </a:r>
            <a:r>
              <a:rPr lang="en-IN" b="1" dirty="0"/>
              <a:t>pop while allowing dense profiles to express genuine niche taste.</a:t>
            </a:r>
          </a:p>
          <a:p>
            <a:pPr lvl="1"/>
            <a:r>
              <a:rPr lang="en-IN" b="1" dirty="0"/>
              <a:t>Denoised Integer Blueprint (b(u) ∈ {0, 1}^K)</a:t>
            </a:r>
            <a:r>
              <a:rPr lang="en-IN" dirty="0"/>
              <a:t>:</a:t>
            </a:r>
          </a:p>
          <a:p>
            <a:pPr lvl="2"/>
            <a:r>
              <a:rPr lang="en-IN" b="1" dirty="0"/>
              <a:t>Dynamic slot allocation (</a:t>
            </a:r>
            <a:r>
              <a:rPr lang="en-IN" b="1" dirty="0" err="1"/>
              <a:t>k_head</a:t>
            </a:r>
            <a:r>
              <a:rPr lang="en-IN" b="1" dirty="0"/>
              <a:t> = round(K · C̃(u))), filtering noisy items (w(u, </a:t>
            </a:r>
            <a:r>
              <a:rPr lang="en-IN" b="1" dirty="0" err="1"/>
              <a:t>i</a:t>
            </a:r>
            <a:r>
              <a:rPr lang="en-IN" b="1" dirty="0"/>
              <a:t>) &lt; 0.30) from candidate generation.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83321-28F5-2436-41A1-5E3C8B51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B0D0CEE8-6DCD-4241-B5DA-807216EA45FD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9/15/2026</a:t>
            </a:fld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9C9B9E-21A0-1DCE-07A1-50B389087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C47DAF-282B-8C23-3C0E-CD49A0A9A6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7A7C8-C087-8B2F-5CCE-975BDBB87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383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037E0-D292-78BF-56A6-6CAAF077E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4631C2-E855-70E0-B0E2-E0D781E603B0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70AE26-93CD-15D4-68A8-65923F160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 fontScale="90000"/>
          </a:bodyPr>
          <a:lstStyle/>
          <a:p>
            <a:pPr marL="717550" algn="l"/>
            <a:r>
              <a:rPr sz="4000" b="1" dirty="0">
                <a:solidFill>
                  <a:schemeClr val="bg1"/>
                </a:solidFill>
                <a:latin typeface="Times New Roman"/>
              </a:rPr>
              <a:t>Calibrated Top-N Merging</a:t>
            </a:r>
            <a:br>
              <a:rPr lang="en-US" sz="4000" b="1" dirty="0">
                <a:solidFill>
                  <a:schemeClr val="bg1"/>
                </a:solidFill>
                <a:latin typeface="Times New Roman"/>
              </a:rPr>
            </a:br>
            <a:r>
              <a:rPr sz="4000" b="1" dirty="0">
                <a:solidFill>
                  <a:schemeClr val="bg1"/>
                </a:solidFill>
                <a:latin typeface="Times New Roman"/>
              </a:rPr>
              <a:t>&amp; Evaluation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863D2-0D91-E53A-6B8F-77A071CFD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Core Goal</a:t>
            </a:r>
            <a:r>
              <a:rPr lang="en-IN" dirty="0"/>
              <a:t>: Interleave predictions from </a:t>
            </a:r>
            <a:r>
              <a:rPr lang="en-IN" dirty="0" err="1"/>
              <a:t>M_pop</a:t>
            </a:r>
            <a:r>
              <a:rPr lang="en-IN" dirty="0"/>
              <a:t> and </a:t>
            </a:r>
            <a:r>
              <a:rPr lang="en-IN" dirty="0" err="1"/>
              <a:t>M_tail</a:t>
            </a:r>
            <a:r>
              <a:rPr lang="en-IN" dirty="0"/>
              <a:t> via soft blueprint merging and evaluate across the full IEEE Access base paper metric suite.</a:t>
            </a:r>
          </a:p>
          <a:p>
            <a:r>
              <a:rPr lang="en-IN" b="1" dirty="0"/>
              <a:t>Merging Strategy &amp; Metric Suite</a:t>
            </a:r>
            <a:r>
              <a:rPr lang="en-IN" dirty="0"/>
              <a:t>:</a:t>
            </a:r>
          </a:p>
          <a:p>
            <a:pPr lvl="1"/>
            <a:r>
              <a:rPr lang="en-IN" b="1" dirty="0"/>
              <a:t>Soft Blueprint Pareto Top-N Merging</a:t>
            </a:r>
            <a:r>
              <a:rPr lang="en-IN" dirty="0"/>
              <a:t>:</a:t>
            </a:r>
          </a:p>
          <a:p>
            <a:pPr lvl="2"/>
            <a:r>
              <a:rPr lang="en-IN" b="1" dirty="0"/>
              <a:t>Dynamically merges ranked candidate pools from </a:t>
            </a:r>
            <a:r>
              <a:rPr lang="en-IN" b="1" dirty="0" err="1"/>
              <a:t>M_pop</a:t>
            </a:r>
            <a:r>
              <a:rPr lang="en-IN" b="1" dirty="0"/>
              <a:t> and </a:t>
            </a:r>
            <a:r>
              <a:rPr lang="en-IN" b="1" dirty="0" err="1"/>
              <a:t>M_tail</a:t>
            </a:r>
            <a:r>
              <a:rPr lang="en-IN" b="1" dirty="0"/>
              <a:t> following blueprint sequence b(u) to achieve multi-objective Pareto efficiency.</a:t>
            </a:r>
          </a:p>
          <a:p>
            <a:pPr lvl="1"/>
            <a:r>
              <a:rPr lang="en-IN" b="1" dirty="0"/>
              <a:t>13-Metric Holistic Evaluation Suite</a:t>
            </a:r>
            <a:r>
              <a:rPr lang="en-IN" dirty="0"/>
              <a:t>:</a:t>
            </a:r>
          </a:p>
          <a:p>
            <a:pPr lvl="2"/>
            <a:r>
              <a:rPr lang="en-IN" b="1" dirty="0"/>
              <a:t>Ranking Accuracy: Recall@10, nDCG@10.</a:t>
            </a:r>
          </a:p>
          <a:p>
            <a:pPr lvl="2"/>
            <a:r>
              <a:rPr lang="en-IN" b="1" dirty="0"/>
              <a:t>Calibration &amp; Fairness: RMSE-PC (Popularity Error), MRMC (Rank Miscalibration), APLT@10, LTC@10 (Long-Tail Coverage), Entropy, Novelty.</a:t>
            </a:r>
          </a:p>
          <a:p>
            <a:pPr lvl="2"/>
            <a:r>
              <a:rPr lang="en-IN" b="1" dirty="0"/>
              <a:t>Holistic Performance: GKPI (Global Key Performance Indicator).</a:t>
            </a:r>
          </a:p>
          <a:p>
            <a:pPr lvl="1"/>
            <a:r>
              <a:rPr lang="en-IN" b="1" dirty="0"/>
              <a:t>Adversarial Robustness Suite</a:t>
            </a:r>
            <a:r>
              <a:rPr lang="en-IN" dirty="0"/>
              <a:t>: Degradation </a:t>
            </a:r>
            <a:r>
              <a:rPr lang="el-GR" dirty="0"/>
              <a:t>Δ</a:t>
            </a:r>
            <a:r>
              <a:rPr lang="en-IN" dirty="0"/>
              <a:t>GKPI, Calibration Stability Score (CSS), Denoising F1 &amp; ROC-AUC.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801DDC-083A-4E3A-0441-13CCCAD9F8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B0D0CEE8-6DCD-4241-B5DA-807216EA45FD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9/15/2026</a:t>
            </a:fld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390331-C915-EA8B-A705-1E84B69FB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3D3A2F-F00B-6AEB-7009-30EF4C148F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73491-8254-52C3-8810-2EEC10880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84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1624</Words>
  <Application>Microsoft Office PowerPoint</Application>
  <PresentationFormat>Custom</PresentationFormat>
  <Paragraphs>154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 End to End Pipeline Overview </vt:lpstr>
      <vt:lpstr> Data Ingestion, Filtering &amp; Splitting </vt:lpstr>
      <vt:lpstr> Adversarial Attack &amp; Poisoning Simulation </vt:lpstr>
      <vt:lpstr> Warm-Start Representation Learning </vt:lpstr>
      <vt:lpstr>RRFN Anchor Selection &amp; Noise Transition Matrix</vt:lpstr>
      <vt:lpstr>Multi-View Reliability Signal Extraction</vt:lpstr>
      <vt:lpstr>Multi-View Reliability Fusion  &amp; Sample Reweighting </vt:lpstr>
      <vt:lpstr>Reliability-Weighted Pareto  Catalog Partitioning </vt:lpstr>
      <vt:lpstr>Decoupled Dual Training  with Risk-Consistent Loss </vt:lpstr>
      <vt:lpstr>Robust Popularity Inclination  &amp; Blueprint Denoising </vt:lpstr>
      <vt:lpstr>Calibrated Top-N Merging &amp; Evaluation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Advait Ravindrakumar Varhade</cp:lastModifiedBy>
  <cp:revision>102</cp:revision>
  <dcterms:created xsi:type="dcterms:W3CDTF">2006-08-16T00:00:00Z</dcterms:created>
  <dcterms:modified xsi:type="dcterms:W3CDTF">2026-09-15T04:06:12Z</dcterms:modified>
</cp:coreProperties>
</file>